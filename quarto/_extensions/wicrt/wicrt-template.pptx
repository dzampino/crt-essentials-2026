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notesMaster" Target="notesMasters/notesMaster1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 from a Quarto notes div land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Logo" Type="http://schemas.openxmlformats.org/officeDocument/2006/relationships/image" Target="../media/image1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GitHubFooter" Type="http://schemas.openxmlformats.org/officeDocument/2006/relationships/hyperlink" Target="https://github.com/dzampino/crt-essentials-2026" TargetMode="Externa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Logo" Type="http://schemas.openxmlformats.org/officeDocument/2006/relationships/image" Target="../media/image1.png"/><Relationship Id="rIdMotif" Type="http://schemas.openxmlformats.org/officeDocument/2006/relationships/image" Target="../media/image2.png"/><Relationship Id="rIdGitHubFooter" Type="http://schemas.openxmlformats.org/officeDocument/2006/relationships/hyperlink" Target="https://github.com/dzampino/crt-essentials-2026" TargetMode="Externa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GitHubFooter" Type="http://schemas.openxmlformats.org/officeDocument/2006/relationships/hyperlink" Target="https://github.com/dzampino/crt-essentials-2026" TargetMode="Externa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GitHubFooter" Type="http://schemas.openxmlformats.org/officeDocument/2006/relationships/hyperlink" Target="https://github.com/dzampino/crt-essentials-2026" TargetMode="Externa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GitHubFooter" Type="http://schemas.openxmlformats.org/officeDocument/2006/relationships/hyperlink" Target="https://github.com/dzampino/crt-essentials-2026" TargetMode="Externa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GitHubFooter" Type="http://schemas.openxmlformats.org/officeDocument/2006/relationships/hyperlink" Target="https://github.com/dzampino/crt-essentials-2026" TargetMode="Externa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GitHubFooter" Type="http://schemas.openxmlformats.org/officeDocument/2006/relationships/hyperlink" Target="https://github.com/dzampino/crt-essentials-2026" TargetMode="Externa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GitHubFooter" Type="http://schemas.openxmlformats.org/officeDocument/2006/relationships/hyperlink" Target="https://github.com/dzampino/crt-essentials-2026" TargetMode="Externa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GitHubFooter" Type="http://schemas.openxmlformats.org/officeDocument/2006/relationships/hyperlink" Target="https://github.com/dzampino/crt-essentials-2026" TargetMode="Externa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GitHubFooter" Type="http://schemas.openxmlformats.org/officeDocument/2006/relationships/hyperlink" Target="https://github.com/dzampino/crt-essentials-2026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rgbClr val="0C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051560"/>
            <a:ext cx="6903720" cy="260604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>
              <a:lnSpc>
                <a:spcPct val="90000"/>
              </a:lnSpc>
              <a:defRPr sz="4000" spc="-20">
                <a:solidFill>
                  <a:srgbClr val="FFFFFF"/>
                </a:solidFill>
              </a:defRPr>
            </a:lvl1pPr>
          </a:lstStyle>
          <a:p>
            <a:pPr/>
            <a:r>
              <a:rPr lang="en-US"/>
              <a:t>Training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913632"/>
            <a:ext cx="6903720" cy="16002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rgbClr val="CFDEE8"/>
                </a:solidFill>
              </a:defRPr>
            </a:lvl1pPr>
          </a:lstStyle>
          <a:p>
            <a:pPr/>
            <a:r>
              <a:rPr lang="en-US"/>
              <a:t>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640" y="6345936"/>
            <a:ext cx="3657600" cy="27432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buNone/>
              <a:defRPr sz="1000" spc="10">
                <a:solidFill>
                  <a:srgbClr val="8DA2BE"/>
                </a:solidFill>
                <a:latin typeface="+mn-lt"/>
              </a:defRPr>
            </a:lvl1pPr>
          </a:lstStyle>
          <a:p>
            <a:fld id="{6E3B7C51-0A2D-4F8E-B1C4-5D9A0E2F7B13}" type="datetime1">
              <a:rPr lang="en-US"/>
              <a:t>10/16/2026</a:t>
            </a:fld>
            <a:endParaRPr lang="en-US"/>
          </a:p>
        </p:txBody>
      </p:sp>
      <p:pic>
        <p:nvPicPr>
          <p:cNvPr id="5" name="WICRT Badge" descr="Wisconsin Cyber Response Team badge"/>
          <p:cNvPicPr>
            <a:picLocks noChangeAspect="1"/>
          </p:cNvPicPr>
          <p:nvPr userDrawn="1"/>
        </p:nvPicPr>
        <p:blipFill>
          <a:blip r:embed="rIdLogo"/>
          <a:stretch>
            <a:fillRect/>
          </a:stretch>
        </p:blipFill>
        <p:spPr>
          <a:xfrm>
            <a:off x="7757160" y="1444752"/>
            <a:ext cx="3749040" cy="3749040"/>
          </a:xfrm>
          <a:prstGeom prst="rect">
            <a:avLst/>
          </a:prstGeom>
        </p:spPr>
      </p:pic>
    </p:spTree>
  </p:cSld>
  <p:clrMapOvr>
    <a:masterClrMapping/>
  </p:clrMapOvr>
  <p:hf hdr="0" ftr="0" sldNum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720" cy="841248"/>
          </a:xfrm>
          <a:prstGeom prst="rect">
            <a:avLst/>
          </a:prstGeom>
        </p:spPr>
        <p:txBody>
          <a:bodyPr vert="horz" wrap="square" lIns="0" tIns="0" rIns="0" bIns="18288" rtlCol="0" anchor="b">
            <a:normAutofit/>
          </a:bodyPr>
          <a:lstStyle/>
          <a:p>
            <a:pPr/>
            <a:r>
              <a:rPr lang="en-US"/>
              <a:t>Slide title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48640" y="1444752"/>
            <a:ext cx="11094720" cy="4608576"/>
          </a:xfrm>
          <a:prstGeom prst="rect">
            <a:avLst/>
          </a:prstGeom>
        </p:spPr>
        <p:txBody>
          <a:bodyPr vert="horz" wrap="square" lIns="0" tIns="36576" rIns="0" bIns="36576" rtlCol="0" anchor="t">
            <a:normAutofit/>
          </a:bodyPr>
          <a:lstStyle/>
          <a:p>
            <a:pPr/>
            <a:r>
              <a:rPr lang="en-US"/>
              <a:t>Content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1005840" y="6345936"/>
            <a:ext cx="6949440" cy="27432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buNone/>
              <a:defRPr sz="1000" spc="10">
                <a:solidFill>
                  <a:srgbClr val="5A6472"/>
                </a:solidFill>
                <a:latin typeface="+mn-lt"/>
              </a:defRPr>
            </a:lvl1pPr>
          </a:lstStyle>
          <a:p>
            <a:r>
              <a:rPr lang="en-US"/>
              <a:t>CRT Annual Training Conference 2026</a:t>
            </a:r>
            <a:r>
              <a:rPr lang="en-US"/>
              <a:t>  ·  </a:t>
            </a:r>
            <a:r>
              <a:rPr lang="en-US">
                <a:hlinkClick r:id="rIdGitHubFoo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github.com/dzampino/crt-essentials-2026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186160" y="6345936"/>
            <a:ext cx="457200" cy="27432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buNone/>
              <a:defRPr sz="1000" spc="10">
                <a:solidFill>
                  <a:srgbClr val="5A6472"/>
                </a:solidFill>
                <a:latin typeface="+mn-lt"/>
              </a:defRPr>
            </a:lvl1pPr>
          </a:lstStyle>
          <a:p>
            <a:fld id="{8A1C2F2E-3D4B-4C6E-9F10-2B7A5C9E1D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rgbClr val="0C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ircuit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Motif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28800"/>
            <a:ext cx="6766560" cy="237744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>
              <a:lnSpc>
                <a:spcPct val="90000"/>
              </a:lnSpc>
              <a:defRPr sz="3600" spc="-15">
                <a:solidFill>
                  <a:srgbClr val="FFFFFF"/>
                </a:solidFill>
              </a:defRPr>
            </a:lvl1pPr>
          </a:lstStyle>
          <a:p>
            <a:pPr/>
            <a:r>
              <a:rPr lang="en-US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4434840"/>
            <a:ext cx="6766560" cy="109728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>
              <a:buNone/>
              <a:defRPr sz="1800">
                <a:solidFill>
                  <a:srgbClr val="CFDEE8"/>
                </a:solidFill>
              </a:defRPr>
            </a:lvl1pPr>
          </a:lstStyle>
          <a:p>
            <a:pPr/>
            <a:r>
              <a:rPr lang="en-US"/>
              <a:t>Optional summary line</a:t>
            </a:r>
          </a:p>
        </p:txBody>
      </p:sp>
      <p:pic>
        <p:nvPicPr>
          <p:cNvPr id="4" name="WICRT Badge" descr="Wisconsin Cyber Response Team badge"/>
          <p:cNvPicPr>
            <a:picLocks noChangeAspect="1"/>
          </p:cNvPicPr>
          <p:nvPr userDrawn="1"/>
        </p:nvPicPr>
        <p:blipFill>
          <a:blip r:embed="rIdLogo"/>
          <a:stretch>
            <a:fillRect/>
          </a:stretch>
        </p:blipFill>
        <p:spPr>
          <a:xfrm>
            <a:off x="548640" y="6327648"/>
            <a:ext cx="310896" cy="310896"/>
          </a:xfrm>
          <a:prstGeom prst="rect">
            <a:avLst/>
          </a:prstGeom>
        </p:spPr>
      </p:pic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1005840" y="6345936"/>
            <a:ext cx="6949440" cy="27432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buNone/>
              <a:defRPr sz="1000" spc="10">
                <a:solidFill>
                  <a:srgbClr val="8DA2BE"/>
                </a:solidFill>
                <a:latin typeface="+mn-lt"/>
              </a:defRPr>
            </a:lvl1pPr>
          </a:lstStyle>
          <a:p>
            <a:r>
              <a:rPr lang="en-US"/>
              <a:t>CRT Annual Training Conference 2026</a:t>
            </a:r>
            <a:r>
              <a:rPr lang="en-US"/>
              <a:t>  ·  </a:t>
            </a:r>
            <a:r>
              <a:rPr lang="en-US">
                <a:hlinkClick r:id="rIdGitHubFoo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github.com/dzampino/crt-essentials-2026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186160" y="6345936"/>
            <a:ext cx="457200" cy="27432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buNone/>
              <a:defRPr sz="1000" spc="10">
                <a:solidFill>
                  <a:srgbClr val="8DA2BE"/>
                </a:solidFill>
                <a:latin typeface="+mn-lt"/>
              </a:defRPr>
            </a:lvl1pPr>
          </a:lstStyle>
          <a:p>
            <a:fld id="{8A1C2F2E-3D4B-4C6E-9F10-2B7A5C9E1D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720" cy="841248"/>
          </a:xfrm>
          <a:prstGeom prst="rect">
            <a:avLst/>
          </a:prstGeom>
        </p:spPr>
        <p:txBody>
          <a:bodyPr vert="horz" wrap="square" lIns="0" tIns="0" rIns="0" bIns="18288" rtlCol="0" anchor="b">
            <a:normAutofit/>
          </a:bodyPr>
          <a:lstStyle/>
          <a:p>
            <a:pPr/>
            <a:r>
              <a:rPr lang="en-US"/>
              <a:t>Slide title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0" y="1444752"/>
            <a:ext cx="5364480" cy="4608576"/>
          </a:xfrm>
          <a:prstGeom prst="rect">
            <a:avLst/>
          </a:prstGeom>
        </p:spPr>
        <p:txBody>
          <a:bodyPr vert="horz" wrap="square" lIns="0" tIns="36576" rIns="0" bIns="36576" rtlCol="0" anchor="t">
            <a:normAutofit/>
          </a:bodyPr>
          <a:lstStyle/>
          <a:p>
            <a:pPr/>
            <a:r>
              <a:rPr lang="en-US"/>
              <a:t>Left column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>
          <a:xfrm>
            <a:off x="6278880" y="1444752"/>
            <a:ext cx="5364480" cy="4608576"/>
          </a:xfrm>
          <a:prstGeom prst="rect">
            <a:avLst/>
          </a:prstGeom>
        </p:spPr>
        <p:txBody>
          <a:bodyPr vert="horz" wrap="square" lIns="0" tIns="36576" rIns="0" bIns="36576" rtlCol="0" anchor="t">
            <a:normAutofit/>
          </a:bodyPr>
          <a:lstStyle/>
          <a:p>
            <a:pPr/>
            <a:r>
              <a:rPr lang="en-US"/>
              <a:t>Right column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1005840" y="6345936"/>
            <a:ext cx="6949440" cy="27432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buNone/>
              <a:defRPr sz="1000" spc="10">
                <a:solidFill>
                  <a:srgbClr val="5A6472"/>
                </a:solidFill>
                <a:latin typeface="+mn-lt"/>
              </a:defRPr>
            </a:lvl1pPr>
          </a:lstStyle>
          <a:p>
            <a:r>
              <a:rPr lang="en-US"/>
              <a:t>CRT Annual Training Conference 2026</a:t>
            </a:r>
            <a:r>
              <a:rPr lang="en-US"/>
              <a:t>  ·  </a:t>
            </a:r>
            <a:r>
              <a:rPr lang="en-US">
                <a:hlinkClick r:id="rIdGitHubFoo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github.com/dzampino/crt-essentials-2026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186160" y="6345936"/>
            <a:ext cx="457200" cy="27432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buNone/>
              <a:defRPr sz="1000" spc="10">
                <a:solidFill>
                  <a:srgbClr val="5A6472"/>
                </a:solidFill>
                <a:latin typeface="+mn-lt"/>
              </a:defRPr>
            </a:lvl1pPr>
          </a:lstStyle>
          <a:p>
            <a:fld id="{8A1C2F2E-3D4B-4C6E-9F10-2B7A5C9E1D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720" cy="841248"/>
          </a:xfrm>
          <a:prstGeom prst="rect">
            <a:avLst/>
          </a:prstGeom>
        </p:spPr>
        <p:txBody>
          <a:bodyPr vert="horz" wrap="square" lIns="0" tIns="0" rIns="0" bIns="18288" rtlCol="0" anchor="b">
            <a:normAutofit/>
          </a:bodyPr>
          <a:lstStyle/>
          <a:p>
            <a:pPr/>
            <a:r>
              <a:rPr lang="en-US"/>
              <a:t>Slide title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type="body" idx="1"/>
          </p:nvPr>
        </p:nvSpPr>
        <p:spPr>
          <a:xfrm>
            <a:off x="548640" y="1444752"/>
            <a:ext cx="5364480" cy="457200"/>
          </a:xfrm>
          <a:prstGeom prst="rect">
            <a:avLst/>
          </a:prstGeom>
        </p:spPr>
        <p:txBody>
          <a:bodyPr vert="horz" wrap="square" lIns="0" tIns="36576" rIns="0" bIns="36576"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+mj-lt"/>
              </a:defRPr>
            </a:lvl1pPr>
          </a:lstStyle>
          <a:p>
            <a:pPr/>
            <a:r>
              <a:rPr lang="en-US"/>
              <a:t>Left heading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>
          <a:xfrm>
            <a:off x="548640" y="2039112"/>
            <a:ext cx="5364480" cy="4014216"/>
          </a:xfrm>
          <a:prstGeom prst="rect">
            <a:avLst/>
          </a:prstGeom>
        </p:spPr>
        <p:txBody>
          <a:bodyPr vert="horz" wrap="square" lIns="0" tIns="36576" rIns="0" bIns="36576" rtlCol="0" anchor="t">
            <a:normAutofit/>
          </a:bodyPr>
          <a:lstStyle/>
          <a:p>
            <a:pPr/>
            <a:r>
              <a:rPr lang="en-US"/>
              <a:t>Left content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6278880" y="1444752"/>
            <a:ext cx="5364480" cy="457200"/>
          </a:xfrm>
          <a:prstGeom prst="rect">
            <a:avLst/>
          </a:prstGeom>
        </p:spPr>
        <p:txBody>
          <a:bodyPr vert="horz" wrap="square" lIns="0" tIns="36576" rIns="0" bIns="36576"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+mj-lt"/>
              </a:defRPr>
            </a:lvl1pPr>
          </a:lstStyle>
          <a:p>
            <a:pPr/>
            <a:r>
              <a:rPr lang="en-US"/>
              <a:t>Right 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quarter" idx="4"/>
          </p:nvPr>
        </p:nvSpPr>
        <p:spPr>
          <a:xfrm>
            <a:off x="6278880" y="2039112"/>
            <a:ext cx="5364480" cy="4014216"/>
          </a:xfrm>
          <a:prstGeom prst="rect">
            <a:avLst/>
          </a:prstGeom>
        </p:spPr>
        <p:txBody>
          <a:bodyPr vert="horz" wrap="square" lIns="0" tIns="36576" rIns="0" bIns="36576" rtlCol="0" anchor="t">
            <a:normAutofit/>
          </a:bodyPr>
          <a:lstStyle/>
          <a:p>
            <a:pPr/>
            <a:r>
              <a:rPr lang="en-US"/>
              <a:t>Right content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1005840" y="6345936"/>
            <a:ext cx="6949440" cy="27432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buNone/>
              <a:defRPr sz="1000" spc="10">
                <a:solidFill>
                  <a:srgbClr val="5A6472"/>
                </a:solidFill>
                <a:latin typeface="+mn-lt"/>
              </a:defRPr>
            </a:lvl1pPr>
          </a:lstStyle>
          <a:p>
            <a:r>
              <a:rPr lang="en-US"/>
              <a:t>CRT Annual Training Conference 2026</a:t>
            </a:r>
            <a:r>
              <a:rPr lang="en-US"/>
              <a:t>  ·  </a:t>
            </a:r>
            <a:r>
              <a:rPr lang="en-US">
                <a:hlinkClick r:id="rIdGitHubFoo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github.com/dzampino/crt-essentials-2026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186160" y="6345936"/>
            <a:ext cx="457200" cy="27432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buNone/>
              <a:defRPr sz="1000" spc="10">
                <a:solidFill>
                  <a:srgbClr val="5A6472"/>
                </a:solidFill>
                <a:latin typeface="+mn-lt"/>
              </a:defRPr>
            </a:lvl1pPr>
          </a:lstStyle>
          <a:p>
            <a:fld id="{8A1C2F2E-3D4B-4C6E-9F10-2B7A5C9E1D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720" cy="841248"/>
          </a:xfrm>
          <a:prstGeom prst="rect">
            <a:avLst/>
          </a:prstGeom>
        </p:spPr>
        <p:txBody>
          <a:bodyPr vert="horz" wrap="square" lIns="0" tIns="0" rIns="0" bIns="18288" rtlCol="0" anchor="b">
            <a:normAutofit/>
          </a:bodyPr>
          <a:lstStyle/>
          <a:p>
            <a:pPr/>
            <a:r>
              <a:rPr lang="en-US"/>
              <a:t>Slide title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1005840" y="6345936"/>
            <a:ext cx="6949440" cy="27432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buNone/>
              <a:defRPr sz="1000" spc="10">
                <a:solidFill>
                  <a:srgbClr val="5A6472"/>
                </a:solidFill>
                <a:latin typeface="+mn-lt"/>
              </a:defRPr>
            </a:lvl1pPr>
          </a:lstStyle>
          <a:p>
            <a:r>
              <a:rPr lang="en-US"/>
              <a:t>CRT Annual Training Conference 2026</a:t>
            </a:r>
            <a:r>
              <a:rPr lang="en-US"/>
              <a:t>  ·  </a:t>
            </a:r>
            <a:r>
              <a:rPr lang="en-US">
                <a:hlinkClick r:id="rIdGitHubFoo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github.com/dzampino/crt-essentials-2026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186160" y="6345936"/>
            <a:ext cx="457200" cy="27432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buNone/>
              <a:defRPr sz="1000" spc="10">
                <a:solidFill>
                  <a:srgbClr val="5A6472"/>
                </a:solidFill>
                <a:latin typeface="+mn-lt"/>
              </a:defRPr>
            </a:lvl1pPr>
          </a:lstStyle>
          <a:p>
            <a:fld id="{8A1C2F2E-3D4B-4C6E-9F10-2B7A5C9E1D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1005840" y="6345936"/>
            <a:ext cx="6949440" cy="27432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buNone/>
              <a:defRPr sz="1000" spc="10">
                <a:solidFill>
                  <a:srgbClr val="5A6472"/>
                </a:solidFill>
                <a:latin typeface="+mn-lt"/>
              </a:defRPr>
            </a:lvl1pPr>
          </a:lstStyle>
          <a:p>
            <a:r>
              <a:rPr lang="en-US"/>
              <a:t>CRT Annual Training Conference 2026</a:t>
            </a:r>
            <a:r>
              <a:rPr lang="en-US"/>
              <a:t>  ·  </a:t>
            </a:r>
            <a:r>
              <a:rPr lang="en-US">
                <a:hlinkClick r:id="rIdGitHubFoo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github.com/dzampino/crt-essentials-2026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186160" y="6345936"/>
            <a:ext cx="457200" cy="27432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buNone/>
              <a:defRPr sz="1000" spc="10">
                <a:solidFill>
                  <a:srgbClr val="5A6472"/>
                </a:solidFill>
                <a:latin typeface="+mn-lt"/>
              </a:defRPr>
            </a:lvl1pPr>
          </a:lstStyle>
          <a:p>
            <a:fld id="{8A1C2F2E-3D4B-4C6E-9F10-2B7A5C9E1D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720" cy="841248"/>
          </a:xfrm>
          <a:prstGeom prst="rect">
            <a:avLst/>
          </a:prstGeom>
        </p:spPr>
        <p:txBody>
          <a:bodyPr vert="horz" wrap="square" lIns="0" tIns="0" rIns="0" bIns="18288" rtlCol="0" anchor="b">
            <a:normAutofit/>
          </a:bodyPr>
          <a:lstStyle/>
          <a:p>
            <a:pPr/>
            <a:r>
              <a:rPr lang="en-US"/>
              <a:t>Slide title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4480560" y="1444752"/>
            <a:ext cx="7162800" cy="4608576"/>
          </a:xfrm>
          <a:prstGeom prst="rect">
            <a:avLst/>
          </a:prstGeom>
        </p:spPr>
        <p:txBody>
          <a:bodyPr vert="horz" wrap="square" lIns="0" tIns="36576" rIns="0" bIns="36576" rtlCol="0" anchor="t">
            <a:normAutofit/>
          </a:bodyPr>
          <a:lstStyle/>
          <a:p>
            <a:pPr/>
            <a:r>
              <a:rPr lang="en-US"/>
              <a:t>Image, table or chart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half" idx="2"/>
          </p:nvPr>
        </p:nvSpPr>
        <p:spPr>
          <a:xfrm>
            <a:off x="548640" y="1444752"/>
            <a:ext cx="3566160" cy="4608576"/>
          </a:xfrm>
          <a:prstGeom prst="rect">
            <a:avLst/>
          </a:prstGeom>
        </p:spPr>
        <p:txBody>
          <a:bodyPr vert="horz" wrap="square" lIns="0" tIns="36576" rIns="0" bIns="36576" rtlCol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900"/>
              </a:spcBef>
              <a:buNone/>
              <a:defRPr sz="1600">
                <a:solidFill>
                  <a:srgbClr val="5A6472"/>
                </a:solidFill>
              </a:defRPr>
            </a:lvl1pPr>
          </a:lstStyle>
          <a:p>
            <a:pPr/>
            <a:r>
              <a:rPr lang="en-US"/>
              <a:t>Caption or explanation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1005840" y="6345936"/>
            <a:ext cx="6949440" cy="27432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buNone/>
              <a:defRPr sz="1000" spc="10">
                <a:solidFill>
                  <a:srgbClr val="5A6472"/>
                </a:solidFill>
                <a:latin typeface="+mn-lt"/>
              </a:defRPr>
            </a:lvl1pPr>
          </a:lstStyle>
          <a:p>
            <a:r>
              <a:rPr lang="en-US"/>
              <a:t>CRT Annual Training Conference 2026</a:t>
            </a:r>
            <a:r>
              <a:rPr lang="en-US"/>
              <a:t>  ·  </a:t>
            </a:r>
            <a:r>
              <a:rPr lang="en-US">
                <a:hlinkClick r:id="rIdGitHubFoo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github.com/dzampino/crt-essentials-2026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186160" y="6345936"/>
            <a:ext cx="457200" cy="27432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buNone/>
              <a:defRPr sz="1000" spc="10">
                <a:solidFill>
                  <a:srgbClr val="5A6472"/>
                </a:solidFill>
                <a:latin typeface="+mn-lt"/>
              </a:defRPr>
            </a:lvl1pPr>
          </a:lstStyle>
          <a:p>
            <a:fld id="{8A1C2F2E-3D4B-4C6E-9F10-2B7A5C9E1D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720" cy="841248"/>
          </a:xfrm>
          <a:prstGeom prst="rect">
            <a:avLst/>
          </a:prstGeom>
        </p:spPr>
        <p:txBody>
          <a:bodyPr vert="horz" wrap="square" lIns="0" tIns="0" rIns="0" bIns="18288" rtlCol="0" anchor="b">
            <a:normAutofit/>
          </a:bodyPr>
          <a:lstStyle/>
          <a:p>
            <a:pPr/>
            <a:r>
              <a:rPr lang="en-US"/>
              <a:t>Slide title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80560" y="1444752"/>
            <a:ext cx="7162800" cy="4608576"/>
          </a:xfrm>
          <a:prstGeom prst="rect">
            <a:avLst/>
          </a:prstGeom>
        </p:spPr>
        <p:txBody>
          <a:bodyPr vert="horz" wrap="square" lIns="0" tIns="36576" rIns="0" bIns="36576" rtlCol="0" anchor="t">
            <a:normAutofit/>
          </a:bodyPr>
          <a:lstStyle>
            <a:lvl1pPr marL="0" indent="0">
              <a:buNone/>
              <a:defRPr sz="1600"/>
            </a:lvl1pPr>
          </a:lstStyle>
          <a:p>
            <a:pPr/>
            <a:r>
              <a:rPr lang="en-US"/>
              <a:t>Picture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half" idx="2"/>
          </p:nvPr>
        </p:nvSpPr>
        <p:spPr>
          <a:xfrm>
            <a:off x="548640" y="1444752"/>
            <a:ext cx="3566160" cy="4608576"/>
          </a:xfrm>
          <a:prstGeom prst="rect">
            <a:avLst/>
          </a:prstGeom>
        </p:spPr>
        <p:txBody>
          <a:bodyPr vert="horz" wrap="square" lIns="0" tIns="36576" rIns="0" bIns="36576" rtlCol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900"/>
              </a:spcBef>
              <a:buNone/>
              <a:defRPr sz="1600">
                <a:solidFill>
                  <a:srgbClr val="5A6472"/>
                </a:solidFill>
              </a:defRPr>
            </a:lvl1pPr>
          </a:lstStyle>
          <a:p>
            <a:pPr/>
            <a:r>
              <a:rPr lang="en-US"/>
              <a:t>Caption or explanation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1005840" y="6345936"/>
            <a:ext cx="6949440" cy="27432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buNone/>
              <a:defRPr sz="1000" spc="10">
                <a:solidFill>
                  <a:srgbClr val="5A6472"/>
                </a:solidFill>
                <a:latin typeface="+mn-lt"/>
              </a:defRPr>
            </a:lvl1pPr>
          </a:lstStyle>
          <a:p>
            <a:r>
              <a:rPr lang="en-US"/>
              <a:t>CRT Annual Training Conference 2026</a:t>
            </a:r>
            <a:r>
              <a:rPr lang="en-US"/>
              <a:t>  ·  </a:t>
            </a:r>
            <a:r>
              <a:rPr lang="en-US">
                <a:hlinkClick r:id="rIdGitHubFoo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github.com/dzampino/crt-essentials-2026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186160" y="6345936"/>
            <a:ext cx="457200" cy="27432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buNone/>
              <a:defRPr sz="1000" spc="10">
                <a:solidFill>
                  <a:srgbClr val="5A6472"/>
                </a:solidFill>
                <a:latin typeface="+mn-lt"/>
              </a:defRPr>
            </a:lvl1pPr>
          </a:lstStyle>
          <a:p>
            <a:fld id="{8A1C2F2E-3D4B-4C6E-9F10-2B7A5C9E1D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720" cy="841248"/>
          </a:xfrm>
          <a:prstGeom prst="rect">
            <a:avLst/>
          </a:prstGeom>
        </p:spPr>
        <p:txBody>
          <a:bodyPr vert="horz" wrap="square" lIns="0" tIns="0" rIns="0" bIns="18288" rtlCol="0" anchor="b">
            <a:normAutofit/>
          </a:bodyPr>
          <a:lstStyle/>
          <a:p>
            <a:pPr/>
            <a:r>
              <a:rPr lang="en-US"/>
              <a:t>Slide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8640" y="1444752"/>
            <a:ext cx="11094720" cy="4608576"/>
          </a:xfrm>
          <a:prstGeom prst="rect">
            <a:avLst/>
          </a:prstGeom>
        </p:spPr>
        <p:txBody>
          <a:bodyPr vert="eaVert" lIns="0" tIns="0" rIns="0" bIns="0">
            <a:normAutofit/>
          </a:bodyPr>
          <a:lstStyle/>
          <a:p>
            <a:pPr/>
            <a:r>
              <a:rPr lang="en-US"/>
              <a:t>Vertical text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1005840" y="6345936"/>
            <a:ext cx="6949440" cy="27432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buNone/>
              <a:defRPr sz="1000" spc="10">
                <a:solidFill>
                  <a:srgbClr val="5A6472"/>
                </a:solidFill>
                <a:latin typeface="+mn-lt"/>
              </a:defRPr>
            </a:lvl1pPr>
          </a:lstStyle>
          <a:p>
            <a:r>
              <a:rPr lang="en-US"/>
              <a:t>CRT Annual Training Conference 2026</a:t>
            </a:r>
            <a:r>
              <a:rPr lang="en-US"/>
              <a:t>  ·  </a:t>
            </a:r>
            <a:r>
              <a:rPr lang="en-US">
                <a:hlinkClick r:id="rIdGitHubFoo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github.com/dzampino/crt-essentials-2026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186160" y="6345936"/>
            <a:ext cx="457200" cy="27432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buNone/>
              <a:defRPr sz="1000" spc="10">
                <a:solidFill>
                  <a:srgbClr val="5A6472"/>
                </a:solidFill>
                <a:latin typeface="+mn-lt"/>
              </a:defRPr>
            </a:lvl1pPr>
          </a:lstStyle>
          <a:p>
            <a:fld id="{8A1C2F2E-3D4B-4C6E-9F10-2B7A5C9E1D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80320" y="347472"/>
            <a:ext cx="1463040" cy="5705856"/>
          </a:xfrm>
          <a:prstGeom prst="rect">
            <a:avLst/>
          </a:prstGeom>
        </p:spPr>
        <p:txBody>
          <a:bodyPr vert="eaVert" lIns="0" tIns="0" rIns="0" bIns="0">
            <a:normAutofit/>
          </a:bodyPr>
          <a:lstStyle/>
          <a:p>
            <a:pPr/>
            <a:r>
              <a:rPr lang="en-US"/>
              <a:t>Slide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8640" y="347472"/>
            <a:ext cx="9265920" cy="5705856"/>
          </a:xfrm>
          <a:prstGeom prst="rect">
            <a:avLst/>
          </a:prstGeom>
        </p:spPr>
        <p:txBody>
          <a:bodyPr vert="eaVert" lIns="0" tIns="0" rIns="0" bIns="0">
            <a:normAutofit/>
          </a:bodyPr>
          <a:lstStyle/>
          <a:p>
            <a:pPr/>
            <a:r>
              <a:rPr lang="en-US"/>
              <a:t>Vertical text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1005840" y="6345936"/>
            <a:ext cx="6949440" cy="27432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buNone/>
              <a:defRPr sz="1000" spc="10">
                <a:solidFill>
                  <a:srgbClr val="5A6472"/>
                </a:solidFill>
                <a:latin typeface="+mn-lt"/>
              </a:defRPr>
            </a:lvl1pPr>
          </a:lstStyle>
          <a:p>
            <a:r>
              <a:rPr lang="en-US"/>
              <a:t>CRT Annual Training Conference 2026</a:t>
            </a:r>
            <a:r>
              <a:rPr lang="en-US"/>
              <a:t>  ·  </a:t>
            </a:r>
            <a:r>
              <a:rPr lang="en-US">
                <a:hlinkClick r:id="rIdGitHubFoo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github.com/dzampino/crt-essentials-2026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1186160" y="6345936"/>
            <a:ext cx="457200" cy="27432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buNone/>
              <a:defRPr sz="1000" spc="10">
                <a:solidFill>
                  <a:srgbClr val="5A6472"/>
                </a:solidFill>
                <a:latin typeface="+mn-lt"/>
              </a:defRPr>
            </a:lvl1pPr>
          </a:lstStyle>
          <a:p>
            <a:fld id="{8A1C2F2E-3D4B-4C6E-9F10-2B7A5C9E1D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Relationship Id="rIdLogo" Target="../media/image1.png" Type="http://schemas.openxmlformats.org/officeDocument/2006/relationships/image" /><Relationship Id="rIdGitHubFooter" Type="http://schemas.openxmlformats.org/officeDocument/2006/relationships/hyperlink" Target="https://github.com/dzampino/crt-essentials-2026" TargetMode="Externa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720" cy="841248"/>
          </a:xfrm>
          <a:prstGeom prst="rect">
            <a:avLst/>
          </a:prstGeom>
        </p:spPr>
        <p:txBody>
          <a:bodyPr anchor="b" bIns="18288" lIns="0" rIns="0" rtlCol="0" tIns="0" vert="horz" wrap="square">
            <a:normAutofit/>
          </a:bodyPr>
          <a:lstStyle/>
          <a:p>
            <a:pPr/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548640" y="1444752"/>
            <a:ext cx="11094720" cy="4608576"/>
          </a:xfrm>
          <a:prstGeom prst="rect">
            <a:avLst/>
          </a:prstGeom>
        </p:spPr>
        <p:txBody>
          <a:bodyPr anchor="t" bIns="36576" lIns="0" rIns="0" rtlCol="0" tIns="36576" vert="horz" wrap="square">
            <a:normAutofit/>
          </a:bodyPr>
          <a:lstStyle/>
          <a:p>
            <a:pPr/>
            <a:r>
              <a:rPr lang="en-US"/>
              <a:t>First-level point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548640" y="6345936"/>
            <a:ext cx="1828800" cy="274320"/>
          </a:xfrm>
          <a:prstGeom prst="rect">
            <a:avLst/>
          </a:prstGeom>
        </p:spPr>
        <p:txBody>
          <a:bodyPr anchor="ctr" bIns="0" lIns="0" rIns="0" rtlCol="0" tIns="0" vert="horz" wrap="square">
            <a:noAutofit/>
          </a:bodyPr>
          <a:lstStyle>
            <a:lvl1pPr algn="l" indent="0" marL="0">
              <a:buNone/>
              <a:defRPr spc="10" sz="1000">
                <a:solidFill>
                  <a:srgbClr val="5A6472"/>
                </a:solidFill>
                <a:latin typeface="+mn-lt"/>
              </a:defRPr>
            </a:lvl1pPr>
          </a:lstStyle>
          <a:p>
            <a:fld id="{6E3B7C51-0A2D-4F8E-B1C4-5D9A0E2F7B13}" type="datetime1">
              <a:rPr lang="en-US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1005840" y="6345936"/>
            <a:ext cx="6949440" cy="274320"/>
          </a:xfrm>
          <a:prstGeom prst="rect">
            <a:avLst/>
          </a:prstGeom>
        </p:spPr>
        <p:txBody>
          <a:bodyPr anchor="ctr" bIns="0" lIns="0" rIns="0" rtlCol="0" tIns="0" vert="horz" wrap="square">
            <a:noAutofit/>
          </a:bodyPr>
          <a:lstStyle>
            <a:lvl1pPr algn="l" indent="0" marL="0">
              <a:buNone/>
              <a:defRPr spc="10" sz="1000">
                <a:solidFill>
                  <a:srgbClr val="5A6472"/>
                </a:solidFill>
                <a:latin typeface="+mn-lt"/>
              </a:defRPr>
            </a:lvl1pPr>
          </a:lstStyle>
          <a:p>
            <a:r>
              <a:rPr lang="en-US"/>
              <a:t>CRT Annual Training Conference 2026</a:t>
            </a:r>
            <a:r>
              <a:rPr lang="en-US"/>
              <a:t>  ·  </a:t>
            </a:r>
            <a:r>
              <a:rPr lang="en-US">
                <a:hlinkClick r:id="rIdGitHubFoo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github.com/dzampino/crt-essentials-2026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11186160" y="6345936"/>
            <a:ext cx="457200" cy="274320"/>
          </a:xfrm>
          <a:prstGeom prst="rect">
            <a:avLst/>
          </a:prstGeom>
        </p:spPr>
        <p:txBody>
          <a:bodyPr anchor="ctr" bIns="0" lIns="0" rIns="0" rtlCol="0" tIns="0" vert="horz" wrap="square">
            <a:noAutofit/>
          </a:bodyPr>
          <a:lstStyle>
            <a:lvl1pPr algn="r" indent="0" marL="0">
              <a:buNone/>
              <a:defRPr spc="10" sz="1000">
                <a:solidFill>
                  <a:srgbClr val="5A6472"/>
                </a:solidFill>
                <a:latin typeface="+mn-lt"/>
              </a:defRPr>
            </a:lvl1pPr>
          </a:lstStyle>
          <a:p>
            <a:fld id="{8A1C2F2E-3D4B-4C6E-9F10-2B7A5C9E1D01}" type="slidenum">
              <a:rPr lang="en-US"/>
              <a:t>‹#›</a:t>
            </a:fld>
            <a:endParaRPr lang="en-US"/>
          </a:p>
        </p:txBody>
      </p:sp>
      <p:pic>
        <p:nvPicPr>
          <p:cNvPr descr="Wisconsin Cyber Response Team badge" id="7" name="WICRT Badge"/>
          <p:cNvPicPr>
            <a:picLocks noChangeAspect="1"/>
          </p:cNvPicPr>
          <p:nvPr userDrawn="1"/>
        </p:nvPicPr>
        <p:blipFill>
          <a:blip r:embed="rIdLogo"/>
          <a:stretch>
            <a:fillRect/>
          </a:stretch>
        </p:blipFill>
        <p:spPr>
          <a:xfrm>
            <a:off x="548640" y="6327648"/>
            <a:ext cx="310896" cy="310896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hdr="0"/>
  <p:txStyles>
    <p:titleStyle>
      <a:lvl1pPr algn="l" defTabSz="914400" eaLnBrk="1" hangingPunct="1" latinLnBrk="0" rtl="0">
        <a:lnSpc>
          <a:spcPct val="92000"/>
        </a:lnSpc>
        <a:spcBef>
          <a:spcPct val="0"/>
        </a:spcBef>
        <a:buNone/>
        <a:defRPr kern="1200" spc="-10" sz="28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274320" latinLnBrk="0" marL="274320" rtl="0">
        <a:lnSpc>
          <a:spcPct val="105000"/>
        </a:lnSpc>
        <a:spcBef>
          <a:spcPts val="1000"/>
        </a:spcBef>
        <a:buClr>
          <a:srgbClr val="E03E3B"/>
        </a:buClr>
        <a:buSzPct val="100000"/>
        <a:buFont panose="020B0604020202020204" typeface="Arial"/>
        <a:buChar char="▪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37744" latinLnBrk="0" marL="603504" rtl="0">
        <a:lnSpc>
          <a:spcPct val="105000"/>
        </a:lnSpc>
        <a:spcBef>
          <a:spcPts val="400"/>
        </a:spcBef>
        <a:buClr>
          <a:srgbClr val="5A6472"/>
        </a:buClr>
        <a:buSzPct val="100000"/>
        <a:buFont panose="020B0604020202020204" typeface="Arial"/>
        <a:buChar char="–"/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01168" latinLnBrk="0" marL="868680" rtl="0">
        <a:lnSpc>
          <a:spcPct val="105000"/>
        </a:lnSpc>
        <a:spcBef>
          <a:spcPts val="300"/>
        </a:spcBef>
        <a:buClr>
          <a:srgbClr val="5A6472"/>
        </a:buClr>
        <a:buSzPct val="90000"/>
        <a:buFont panose="020B060402020202020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182880" latinLnBrk="0" marL="1143000" rtl="0">
        <a:lnSpc>
          <a:spcPct val="105000"/>
        </a:lnSpc>
        <a:spcBef>
          <a:spcPts val="200"/>
        </a:spcBef>
        <a:buClr>
          <a:srgbClr val="5A6472"/>
        </a:buClr>
        <a:buSzPct val="100000"/>
        <a:buFont panose="020B0604020202020204" typeface="Arial"/>
        <a:buChar char="–"/>
        <a:defRPr kern="1200" sz="14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182880" latinLnBrk="0" marL="1417320" rtl="0">
        <a:lnSpc>
          <a:spcPct val="105000"/>
        </a:lnSpc>
        <a:spcBef>
          <a:spcPts val="200"/>
        </a:spcBef>
        <a:buClr>
          <a:srgbClr val="5A6472"/>
        </a:buClr>
        <a:buSzPct val="90000"/>
        <a:buFont panose="020B0604020202020204" typeface="Arial"/>
        <a:buChar char="•"/>
        <a:defRPr kern="1200" sz="14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182880" latinLnBrk="0" marL="1691640" rtl="0">
        <a:lnSpc>
          <a:spcPct val="105000"/>
        </a:lnSpc>
        <a:spcBef>
          <a:spcPts val="200"/>
        </a:spcBef>
        <a:buClr>
          <a:srgbClr val="5A6472"/>
        </a:buClr>
        <a:buSzPct val="90000"/>
        <a:buFont panose="020B0604020202020204" typeface="Arial"/>
        <a:buChar char="•"/>
        <a:defRPr kern="1200" sz="14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182880" latinLnBrk="0" marL="1965960" rtl="0">
        <a:lnSpc>
          <a:spcPct val="105000"/>
        </a:lnSpc>
        <a:spcBef>
          <a:spcPts val="200"/>
        </a:spcBef>
        <a:buClr>
          <a:srgbClr val="5A6472"/>
        </a:buClr>
        <a:buSzPct val="90000"/>
        <a:buFont panose="020B0604020202020204" typeface="Arial"/>
        <a:buChar char="•"/>
        <a:defRPr kern="1200" sz="14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182880" latinLnBrk="0" marL="2240280" rtl="0">
        <a:lnSpc>
          <a:spcPct val="105000"/>
        </a:lnSpc>
        <a:spcBef>
          <a:spcPts val="200"/>
        </a:spcBef>
        <a:buClr>
          <a:srgbClr val="5A6472"/>
        </a:buClr>
        <a:buSzPct val="90000"/>
        <a:buFont panose="020B0604020202020204" typeface="Arial"/>
        <a:buChar char="•"/>
        <a:defRPr kern="1200" sz="14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182880" latinLnBrk="0" marL="2514600" rtl="0">
        <a:lnSpc>
          <a:spcPct val="105000"/>
        </a:lnSpc>
        <a:spcBef>
          <a:spcPts val="200"/>
        </a:spcBef>
        <a:buClr>
          <a:srgbClr val="5A6472"/>
        </a:buClr>
        <a:buSzPct val="90000"/>
        <a:buFont panose="020B0604020202020204" typeface="Arial"/>
        <a:buChar char="•"/>
        <a:defRPr kern="1200" sz="1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GitHubFooter" Type="http://schemas.openxmlformats.org/officeDocument/2006/relationships/hyperlink" Target="https://github.com/dzampino/crt-essentials-2026" TargetMode="Externa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Relationship Id="rIdGitHubFooter" Type="http://schemas.openxmlformats.org/officeDocument/2006/relationships/hyperlink" Target="https://github.com/dzampino/crt-essentials-2026" TargetMode="Externa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GitHubFooter" Type="http://schemas.openxmlformats.org/officeDocument/2006/relationships/hyperlink" Target="https://github.com/dzampino/crt-essentials-2026" TargetMode="Externa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GitHubFooter" Type="http://schemas.openxmlformats.org/officeDocument/2006/relationships/hyperlink" Target="https://github.com/dzampino/crt-essentials-2026" TargetMode="Externa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GitHubFooter" Type="http://schemas.openxmlformats.org/officeDocument/2006/relationships/hyperlink" Target="https://github.com/dzampino/crt-essentials-2026" TargetMode="Externa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GitHubFooter" Type="http://schemas.openxmlformats.org/officeDocument/2006/relationships/hyperlink" Target="https://github.com/dzampino/crt-essentials-202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051560"/>
            <a:ext cx="6903720" cy="2606040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WICRT Training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548640" y="3913632"/>
            <a:ext cx="6903720" cy="1600200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Reference document for Quarto PowerPoint output</a:t>
            </a:r>
            <a:br/>
            <a:br/>
            <a:r>
              <a:rPr/>
              <a:t>Wisconsin Cyber Response Team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>
          <a:xfrm>
            <a:off x="548640" y="6345936"/>
            <a:ext cx="3657600" cy="274320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October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28800"/>
            <a:ext cx="6766560" cy="2377440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Section Header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idx="11" sz="quarter" type="ftr"/>
          </p:nvPr>
        </p:nvSpPr>
        <p:spPr>
          <a:xfrm>
            <a:off x="1005840" y="6345936"/>
            <a:ext cx="6949440" cy="274320"/>
          </a:xfrm>
          <a:prstGeom prst="rect">
            <a:avLst/>
          </a:prstGeom>
        </p:spPr>
        <p:txBody>
          <a:bodyPr anchor="ctr" bIns="0" lIns="0" rIns="0" rtlCol="0" tIns="0" vert="horz" wrap="square">
            <a:noAutofit/>
          </a:bodyPr>
          <a:lstStyle>
            <a:lvl1pPr algn="l" indent="0" marL="0">
              <a:buNone/>
              <a:defRPr spc="10" sz="1000">
                <a:solidFill>
                  <a:srgbClr val="8DA2BE"/>
                </a:solidFill>
                <a:latin typeface="+mn-lt"/>
              </a:defRPr>
            </a:lvl1pPr>
          </a:lstStyle>
          <a:p>
            <a:r>
              <a:rPr lang="en-US"/>
              <a:t>CRT Annual Training Conference 2026</a:t>
            </a:r>
            <a:r>
              <a:rPr lang="en-US"/>
              <a:t>  ·  </a:t>
            </a:r>
            <a:r>
              <a:rPr lang="en-US">
                <a:hlinkClick r:id="rIdGitHubFoo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github.com/dzampino/crt-essentials-2026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idx="12" sz="quarter" type="sldNum"/>
          </p:nvPr>
        </p:nvSpPr>
        <p:spPr>
          <a:xfrm>
            <a:off x="11186160" y="6345936"/>
            <a:ext cx="457200" cy="274320"/>
          </a:xfrm>
          <a:prstGeom prst="rect">
            <a:avLst/>
          </a:prstGeom>
        </p:spPr>
        <p:txBody>
          <a:bodyPr anchor="ctr" bIns="0" lIns="0" rIns="0" rtlCol="0" tIns="0" vert="horz" wrap="square">
            <a:noAutofit/>
          </a:bodyPr>
          <a:lstStyle>
            <a:lvl1pPr algn="r" indent="0" marL="0">
              <a:buNone/>
              <a:defRPr spc="10" sz="1000">
                <a:solidFill>
                  <a:srgbClr val="8DA2BE"/>
                </a:solidFill>
                <a:latin typeface="+mn-lt"/>
              </a:defRPr>
            </a:lvl1pPr>
          </a:lstStyle>
          <a:p>
            <a:fld id="{8A1C2F2E-3D4B-4C6E-9F10-2B7A5C9E1D01}" type="slidenum">
              <a:rPr lang="en-US"/>
              <a:t>‹#›</a:t>
            </a:fld>
            <a:endParaRPr 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720" cy="841248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Title and Content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First-level point, 20 pt with a red square marker</a:t>
            </a:r>
          </a:p>
          <a:p>
            <a:pPr lvl="1"/>
            <a:r>
              <a:rPr/>
              <a:t>Second level, 18 pt with a steel dash</a:t>
            </a:r>
          </a:p>
          <a:p>
            <a:pPr lvl="2"/>
            <a:r>
              <a:rPr/>
              <a:t>Third level, 16 pt</a:t>
            </a:r>
          </a:p>
          <a:p>
            <a:pPr lvl="0"/>
            <a:r>
              <a:rPr/>
              <a:t>Plain text, </a:t>
            </a:r>
            <a:r>
              <a:rPr b="1"/>
              <a:t>bold</a:t>
            </a:r>
            <a:r>
              <a:rPr/>
              <a:t>, </a:t>
            </a:r>
            <a:r>
              <a:rPr i="1"/>
              <a:t>italic</a:t>
            </a:r>
            <a:r>
              <a:rPr/>
              <a:t>, and </a:t>
            </a:r>
            <a:r>
              <a:rPr>
                <a:latin typeface="Consolas"/>
              </a:rPr>
              <a:t>inline code</a:t>
            </a:r>
          </a:p>
          <a:p>
            <a:pPr lvl="0" indent="0" marL="0">
              <a:buNone/>
            </a:pPr>
            <a:r>
              <a:rPr/>
              <a:t>Paragraphs without a marker sit flush with the title.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idx="11" sz="quarter" type="ftr"/>
          </p:nvPr>
        </p:nvSpPr>
        <p:spPr>
          <a:xfrm>
            <a:off x="1005840" y="6345936"/>
            <a:ext cx="6949440" cy="274320"/>
          </a:xfrm>
          <a:prstGeom prst="rect">
            <a:avLst/>
          </a:prstGeom>
        </p:spPr>
        <p:txBody>
          <a:bodyPr anchor="ctr" bIns="0" lIns="0" rIns="0" rtlCol="0" tIns="0" vert="horz" wrap="square">
            <a:noAutofit/>
          </a:bodyPr>
          <a:lstStyle>
            <a:lvl1pPr algn="l" indent="0" marL="0">
              <a:buNone/>
              <a:defRPr spc="10" sz="1000">
                <a:solidFill>
                  <a:srgbClr val="5A6472"/>
                </a:solidFill>
                <a:latin typeface="+mn-lt"/>
              </a:defRPr>
            </a:lvl1pPr>
          </a:lstStyle>
          <a:p>
            <a:r>
              <a:rPr lang="en-US"/>
              <a:t>CRT Annual Training Conference 2026</a:t>
            </a:r>
            <a:r>
              <a:rPr lang="en-US"/>
              <a:t>  ·  </a:t>
            </a:r>
            <a:r>
              <a:rPr lang="en-US">
                <a:hlinkClick r:id="rIdGitHubFoo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github.com/dzampino/crt-essentials-2026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idx="12" sz="quarter" type="sldNum"/>
          </p:nvPr>
        </p:nvSpPr>
        <p:spPr>
          <a:xfrm>
            <a:off x="11186160" y="6345936"/>
            <a:ext cx="457200" cy="274320"/>
          </a:xfrm>
          <a:prstGeom prst="rect">
            <a:avLst/>
          </a:prstGeom>
        </p:spPr>
        <p:txBody>
          <a:bodyPr anchor="ctr" bIns="0" lIns="0" rIns="0" rtlCol="0" tIns="0" vert="horz" wrap="square">
            <a:noAutofit/>
          </a:bodyPr>
          <a:lstStyle>
            <a:lvl1pPr algn="r" indent="0" marL="0">
              <a:buNone/>
              <a:defRPr spc="10" sz="1000">
                <a:solidFill>
                  <a:srgbClr val="5A6472"/>
                </a:solidFill>
                <a:latin typeface="+mn-lt"/>
              </a:defRPr>
            </a:lvl1pPr>
          </a:lstStyle>
          <a:p>
            <a:fld id="{8A1C2F2E-3D4B-4C6E-9F10-2B7A5C9E1D01}" type="slidenum">
              <a:rPr lang="en-US"/>
              <a:t>‹#›</a:t>
            </a:fld>
            <a:endParaRPr lang="en-US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720" cy="841248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A longer title wraps to a second line and grows upward, so the body never moves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Slide titles are bottom-anchored in a fixed box</a:t>
            </a:r>
          </a:p>
          <a:p>
            <a:pPr lvl="0"/>
            <a:r>
              <a:rPr/>
              <a:t>Every content layout shares the same title and body edges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idx="11" sz="quarter" type="ftr"/>
          </p:nvPr>
        </p:nvSpPr>
        <p:spPr>
          <a:xfrm>
            <a:off x="1005840" y="6345936"/>
            <a:ext cx="6949440" cy="274320"/>
          </a:xfrm>
          <a:prstGeom prst="rect">
            <a:avLst/>
          </a:prstGeom>
        </p:spPr>
        <p:txBody>
          <a:bodyPr anchor="ctr" bIns="0" lIns="0" rIns="0" rtlCol="0" tIns="0" vert="horz" wrap="square">
            <a:noAutofit/>
          </a:bodyPr>
          <a:lstStyle>
            <a:lvl1pPr algn="l" indent="0" marL="0">
              <a:buNone/>
              <a:defRPr spc="10" sz="1000">
                <a:solidFill>
                  <a:srgbClr val="5A6472"/>
                </a:solidFill>
                <a:latin typeface="+mn-lt"/>
              </a:defRPr>
            </a:lvl1pPr>
          </a:lstStyle>
          <a:p>
            <a:r>
              <a:rPr lang="en-US"/>
              <a:t>CRT Annual Training Conference 2026</a:t>
            </a:r>
            <a:r>
              <a:rPr lang="en-US"/>
              <a:t>  ·  </a:t>
            </a:r>
            <a:r>
              <a:rPr lang="en-US">
                <a:hlinkClick r:id="rIdGitHubFoo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github.com/dzampino/crt-essentials-2026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idx="12" sz="quarter" type="sldNum"/>
          </p:nvPr>
        </p:nvSpPr>
        <p:spPr>
          <a:xfrm>
            <a:off x="11186160" y="6345936"/>
            <a:ext cx="457200" cy="274320"/>
          </a:xfrm>
          <a:prstGeom prst="rect">
            <a:avLst/>
          </a:prstGeom>
        </p:spPr>
        <p:txBody>
          <a:bodyPr anchor="ctr" bIns="0" lIns="0" rIns="0" rtlCol="0" tIns="0" vert="horz" wrap="square">
            <a:noAutofit/>
          </a:bodyPr>
          <a:lstStyle>
            <a:lvl1pPr algn="r" indent="0" marL="0">
              <a:buNone/>
              <a:defRPr spc="10" sz="1000">
                <a:solidFill>
                  <a:srgbClr val="5A6472"/>
                </a:solidFill>
                <a:latin typeface="+mn-lt"/>
              </a:defRPr>
            </a:lvl1pPr>
          </a:lstStyle>
          <a:p>
            <a:fld id="{8A1C2F2E-3D4B-4C6E-9F10-2B7A5C9E1D01}" type="slidenum">
              <a:rPr lang="en-US"/>
              <a:t>‹#›</a:t>
            </a:fld>
            <a:endParaRPr lang="en-US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720" cy="841248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Two Content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Left column</a:t>
            </a:r>
          </a:p>
          <a:p>
            <a:pPr lvl="0"/>
            <a:r>
              <a:rPr/>
              <a:t>Created by a Quarto </a:t>
            </a:r>
            <a:r>
              <a:rPr>
                <a:latin typeface="Consolas"/>
              </a:rPr>
              <a:t>columns</a:t>
            </a:r>
            <a:r>
              <a:rPr/>
              <a:t> div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Right column</a:t>
            </a:r>
          </a:p>
          <a:p>
            <a:pPr lvl="0"/>
            <a:r>
              <a:rPr/>
              <a:t>Same width, 0.4 in gutter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idx="11" sz="quarter" type="ftr"/>
          </p:nvPr>
        </p:nvSpPr>
        <p:spPr>
          <a:xfrm>
            <a:off x="1005840" y="6345936"/>
            <a:ext cx="6949440" cy="274320"/>
          </a:xfrm>
          <a:prstGeom prst="rect">
            <a:avLst/>
          </a:prstGeom>
        </p:spPr>
        <p:txBody>
          <a:bodyPr anchor="ctr" bIns="0" lIns="0" rIns="0" rtlCol="0" tIns="0" vert="horz" wrap="square">
            <a:noAutofit/>
          </a:bodyPr>
          <a:lstStyle>
            <a:lvl1pPr algn="l" indent="0" marL="0">
              <a:buNone/>
              <a:defRPr spc="10" sz="1000">
                <a:solidFill>
                  <a:srgbClr val="5A6472"/>
                </a:solidFill>
                <a:latin typeface="+mn-lt"/>
              </a:defRPr>
            </a:lvl1pPr>
          </a:lstStyle>
          <a:p>
            <a:r>
              <a:rPr lang="en-US"/>
              <a:t>CRT Annual Training Conference 2026</a:t>
            </a:r>
            <a:r>
              <a:rPr lang="en-US"/>
              <a:t>  ·  </a:t>
            </a:r>
            <a:r>
              <a:rPr lang="en-US">
                <a:hlinkClick r:id="rIdGitHubFoo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github.com/dzampino/crt-essentials-2026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idx="12" sz="quarter" type="sldNum"/>
          </p:nvPr>
        </p:nvSpPr>
        <p:spPr>
          <a:xfrm>
            <a:off x="11186160" y="6345936"/>
            <a:ext cx="457200" cy="274320"/>
          </a:xfrm>
          <a:prstGeom prst="rect">
            <a:avLst/>
          </a:prstGeom>
        </p:spPr>
        <p:txBody>
          <a:bodyPr anchor="ctr" bIns="0" lIns="0" rIns="0" rtlCol="0" tIns="0" vert="horz" wrap="square">
            <a:noAutofit/>
          </a:bodyPr>
          <a:lstStyle>
            <a:lvl1pPr algn="r" indent="0" marL="0">
              <a:buNone/>
              <a:defRPr spc="10" sz="1000">
                <a:solidFill>
                  <a:srgbClr val="5A6472"/>
                </a:solidFill>
                <a:latin typeface="+mn-lt"/>
              </a:defRPr>
            </a:lvl1pPr>
          </a:lstStyle>
          <a:p>
            <a:fld id="{8A1C2F2E-3D4B-4C6E-9F10-2B7A5C9E1D01}" type="slidenum">
              <a:rPr lang="en-US"/>
              <a:t>‹#›</a:t>
            </a:fld>
            <a:endParaRPr lang="en-US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720" cy="841248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Comparison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Left heading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46100" y="2032000"/>
          <a:ext cx="5359400" cy="401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500"/>
                <a:gridCol w="3517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Alpha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5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Right heading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73800" y="2032000"/>
          <a:ext cx="5359400" cy="401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500"/>
                <a:gridCol w="3517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Two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7" name="Footer Placeholder"/>
          <p:cNvSpPr>
            <a:spLocks noGrp="1"/>
          </p:cNvSpPr>
          <p:nvPr>
            <p:ph idx="11" sz="quarter" type="ftr"/>
          </p:nvPr>
        </p:nvSpPr>
        <p:spPr>
          <a:xfrm>
            <a:off x="1005840" y="6345936"/>
            <a:ext cx="6949440" cy="274320"/>
          </a:xfrm>
          <a:prstGeom prst="rect">
            <a:avLst/>
          </a:prstGeom>
        </p:spPr>
        <p:txBody>
          <a:bodyPr anchor="ctr" bIns="0" lIns="0" rIns="0" rtlCol="0" tIns="0" vert="horz" wrap="square">
            <a:noAutofit/>
          </a:bodyPr>
          <a:lstStyle>
            <a:lvl1pPr algn="l" indent="0" marL="0">
              <a:buNone/>
              <a:defRPr spc="10" sz="1000">
                <a:solidFill>
                  <a:srgbClr val="5A6472"/>
                </a:solidFill>
                <a:latin typeface="+mn-lt"/>
              </a:defRPr>
            </a:lvl1pPr>
          </a:lstStyle>
          <a:p>
            <a:r>
              <a:rPr lang="en-US"/>
              <a:t>CRT Annual Training Conference 2026</a:t>
            </a:r>
            <a:r>
              <a:rPr lang="en-US"/>
              <a:t>  ·  </a:t>
            </a:r>
            <a:r>
              <a:rPr lang="en-US">
                <a:hlinkClick r:id="rIdGitHubFoo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github.com/dzampino/crt-essentials-2026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idx="12" sz="quarter" type="sldNum"/>
          </p:nvPr>
        </p:nvSpPr>
        <p:spPr>
          <a:xfrm>
            <a:off x="11186160" y="6345936"/>
            <a:ext cx="457200" cy="274320"/>
          </a:xfrm>
          <a:prstGeom prst="rect">
            <a:avLst/>
          </a:prstGeom>
        </p:spPr>
        <p:txBody>
          <a:bodyPr anchor="ctr" bIns="0" lIns="0" rIns="0" rtlCol="0" tIns="0" vert="horz" wrap="square">
            <a:noAutofit/>
          </a:bodyPr>
          <a:lstStyle>
            <a:lvl1pPr algn="r" indent="0" marL="0">
              <a:buNone/>
              <a:defRPr spc="10" sz="1000">
                <a:solidFill>
                  <a:srgbClr val="5A6472"/>
                </a:solidFill>
                <a:latin typeface="+mn-lt"/>
              </a:defRPr>
            </a:lvl1pPr>
          </a:lstStyle>
          <a:p>
            <a:fld id="{8A1C2F2E-3D4B-4C6E-9F10-2B7A5C9E1D01}" type="slidenum">
              <a:rPr lang="en-US"/>
              <a:t>‹#›</a:t>
            </a:fld>
            <a:endParaRPr 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11094720" cy="841248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Content with Caption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Text followed by a table or image on the same slide uses this layout. The text becomes the caption column on the left.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470400" y="1435100"/>
          <a:ext cx="7162800" cy="459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1100"/>
                <a:gridCol w="4711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Cell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Footer Placeholder"/>
          <p:cNvSpPr>
            <a:spLocks noGrp="1"/>
          </p:cNvSpPr>
          <p:nvPr>
            <p:ph idx="11" sz="quarter" type="ftr"/>
          </p:nvPr>
        </p:nvSpPr>
        <p:spPr>
          <a:xfrm>
            <a:off x="1005840" y="6345936"/>
            <a:ext cx="6949440" cy="274320"/>
          </a:xfrm>
          <a:prstGeom prst="rect">
            <a:avLst/>
          </a:prstGeom>
        </p:spPr>
        <p:txBody>
          <a:bodyPr anchor="ctr" bIns="0" lIns="0" rIns="0" rtlCol="0" tIns="0" vert="horz" wrap="square">
            <a:noAutofit/>
          </a:bodyPr>
          <a:lstStyle>
            <a:lvl1pPr algn="l" indent="0" marL="0">
              <a:buNone/>
              <a:defRPr spc="10" sz="1000">
                <a:solidFill>
                  <a:srgbClr val="5A6472"/>
                </a:solidFill>
                <a:latin typeface="+mn-lt"/>
              </a:defRPr>
            </a:lvl1pPr>
          </a:lstStyle>
          <a:p>
            <a:r>
              <a:rPr lang="en-US"/>
              <a:t>CRT Annual Training Conference 2026</a:t>
            </a:r>
            <a:r>
              <a:rPr lang="en-US"/>
              <a:t>  ·  </a:t>
            </a:r>
            <a:r>
              <a:rPr lang="en-US">
                <a:hlinkClick r:id="rIdGitHubFoo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github.com/dzampino/crt-essentials-2026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idx="12" sz="quarter" type="sldNum"/>
          </p:nvPr>
        </p:nvSpPr>
        <p:spPr>
          <a:xfrm>
            <a:off x="11186160" y="6345936"/>
            <a:ext cx="457200" cy="274320"/>
          </a:xfrm>
          <a:prstGeom prst="rect">
            <a:avLst/>
          </a:prstGeom>
        </p:spPr>
        <p:txBody>
          <a:bodyPr anchor="ctr" bIns="0" lIns="0" rIns="0" rtlCol="0" tIns="0" vert="horz" wrap="square">
            <a:noAutofit/>
          </a:bodyPr>
          <a:lstStyle>
            <a:lvl1pPr algn="r" indent="0" marL="0">
              <a:buNone/>
              <a:defRPr spc="10" sz="1000">
                <a:solidFill>
                  <a:srgbClr val="5A6472"/>
                </a:solidFill>
                <a:latin typeface="+mn-lt"/>
              </a:defRPr>
            </a:lvl1pPr>
          </a:lstStyle>
          <a:p>
            <a:fld id="{8A1C2F2E-3D4B-4C6E-9F10-2B7A5C9E1D01}" type="slidenum">
              <a:rPr lang="en-US"/>
              <a:t>‹#›</a:t>
            </a:fld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WICRT Training">
  <a:themeElements>
    <a:clrScheme name="WICRT">
      <a:dk1>
        <a:srgbClr val="1A1D23"/>
      </a:dk1>
      <a:lt1>
        <a:srgbClr val="FFFFFF"/>
      </a:lt1>
      <a:dk2>
        <a:srgbClr val="0C2454"/>
      </a:dk2>
      <a:lt2>
        <a:srgbClr val="E8EDF3"/>
      </a:lt2>
      <a:accent1>
        <a:srgbClr val="0C2454"/>
      </a:accent1>
      <a:accent2>
        <a:srgbClr val="034BAB"/>
      </a:accent2>
      <a:accent3>
        <a:srgbClr val="E03E3B"/>
      </a:accent3>
      <a:accent4>
        <a:srgbClr val="5A6472"/>
      </a:accent4>
      <a:accent5>
        <a:srgbClr val="8DA2BE"/>
      </a:accent5>
      <a:accent6>
        <a:srgbClr val="C9861A"/>
      </a:accent6>
      <a:hlink>
        <a:srgbClr val="034BAB"/>
      </a:hlink>
      <a:folHlink>
        <a:srgbClr val="5B4A8B"/>
      </a:folHlink>
    </a:clrScheme>
    <a:fontScheme name="WICRT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WICRT Training Notes">
  <a:themeElements>
    <a:clrScheme name="WICRT">
      <a:dk1>
        <a:srgbClr val="1A1D23"/>
      </a:dk1>
      <a:lt1>
        <a:srgbClr val="FFFFFF"/>
      </a:lt1>
      <a:dk2>
        <a:srgbClr val="0C2454"/>
      </a:dk2>
      <a:lt2>
        <a:srgbClr val="E8EDF3"/>
      </a:lt2>
      <a:accent1>
        <a:srgbClr val="0C2454"/>
      </a:accent1>
      <a:accent2>
        <a:srgbClr val="034BAB"/>
      </a:accent2>
      <a:accent3>
        <a:srgbClr val="E03E3B"/>
      </a:accent3>
      <a:accent4>
        <a:srgbClr val="5A6472"/>
      </a:accent4>
      <a:accent5>
        <a:srgbClr val="8DA2BE"/>
      </a:accent5>
      <a:accent6>
        <a:srgbClr val="C9861A"/>
      </a:accent6>
      <a:hlink>
        <a:srgbClr val="034BAB"/>
      </a:hlink>
      <a:folHlink>
        <a:srgbClr val="5B4A8B"/>
      </a:folHlink>
    </a:clrScheme>
    <a:fontScheme name="WICRT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WICRT Training Template</dc:title>
  <dc:creator>Wisconsin Cyber Response Team</dc:creator>
  <cp:keywords/>
  <dcterms:created xsi:type="dcterms:W3CDTF">2026-10-16T18:39:19Z</dcterms:created>
  <dcterms:modified xsi:type="dcterms:W3CDTF">2026-10-16T18:39:19Z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October 2026</vt:lpwstr>
  </property>
  <property fmtid="{D5CDD505-2E9C-101B-9397-08002B2CF9AE}" pid="3" name="subtitle">
    <vt:lpwstr>Reference document for Quarto PowerPoint output</vt:lpwstr>
  </property>
</Properties>
</file>
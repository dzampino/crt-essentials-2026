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notesMaster" Target="notesMasters/notesMaster1.xml" /><Relationship Id="rId70" Type="http://schemas.openxmlformats.org/officeDocument/2006/relationships/viewProps" Target="viewProps.xml" /><Relationship Id="rId69" Type="http://schemas.openxmlformats.org/officeDocument/2006/relationships/presProps" Target="presProps.xml" /><Relationship Id="rId1" Type="http://schemas.openxmlformats.org/officeDocument/2006/relationships/slideMaster" Target="slideMasters/slideMaster1.xml" /><Relationship Id="rId72" Type="http://schemas.openxmlformats.org/officeDocument/2006/relationships/tableStyles" Target="tableStyles.xml" /><Relationship Id="rId7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introduction 5 minutes, passwords 20, PKI 25, email security 30, PowerShell 20, DFIR box 15, questions and wrap-up 5.</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https://dzampino.github.io/crt-essentials-2026/</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covers passwords alongside the other authenticator types: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alphabet/length formula assumes each character, or word, is chosen uniformly at random from the alphabet. Human-chosen passwords do not meet that assumption.</a:t>
            </a:r>
          </a:p>
          <a:p>
            <a:pPr lvl="0" indent="0" marL="0">
              <a:buNone/>
            </a:pPr>
          </a:p>
          <a:p>
            <a:pPr lvl="0" indent="0" marL="0">
              <a:buNone/>
            </a:pPr>
            <a:r>
              <a:rPr/>
              <a:t>Bits = log</a:t>
            </a:r>
            <a:r>
              <a:rPr baseline="-25000"/>
              <a:t>2</a:t>
            </a:r>
            <a:r>
              <a:rPr/>
              <a:t>(alphabet</a:t>
            </a:r>
            <a:r>
              <a:rPr baseline="30000"/>
              <a:t>length</a:t>
            </a:r>
            <a:r>
              <a:rPr/>
              <a:t>) = length × log</a:t>
            </a:r>
            <a:r>
              <a:rPr baseline="-25000"/>
              <a:t>2</a:t>
            </a:r>
            <a:r>
              <a:rPr/>
              <a:t>(alphabet). xkcd 936 uses 11 bits per word (2,048 words). The EFF large wordlist has 7,776 words (five dice): https://www.eff.org/dice</a:t>
            </a:r>
          </a:p>
          <a:p>
            <a:pPr lvl="0" indent="0" marL="0">
              <a:buNone/>
            </a:pPr>
          </a:p>
          <a:p>
            <a:pPr lvl="0" indent="0" marL="0">
              <a:buNone/>
            </a:pPr>
            <a:r>
              <a:rPr/>
              <a:t>Get-PasswordEntropy and Get-PasswordLengthForEntropy on the companion site calculate these.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Switch to the companion site for the entropy calculation: dzampino.github.io/crt-essentials-2026/passwords.html</a:t>
            </a:r>
          </a:p>
          <a:p>
            <a:pPr lvl="0" indent="0" marL="0">
              <a:buNone/>
            </a:pPr>
          </a:p>
          <a:p>
            <a:pPr lvl="0" indent="0" marL="0">
              <a:buNone/>
            </a:pPr>
            <a:r>
              <a:rPr/>
              <a:t>Adding a character multiplies the search space by the alphabet size (adds log</a:t>
            </a:r>
            <a:r>
              <a:rPr baseline="-25000"/>
              <a:t>2</a:t>
            </a:r>
            <a:r>
              <a:rPr/>
              <a:t>(alphabet)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Rates: hashcat v6.2.6 benchmark, RTX 5090 Founders Edition, Chick3nman, February 2025: https://gist.github.com/Chick3nman/09bac0775e6393468c2925c1e1363d5c Average time = (95</a:t>
            </a:r>
            <a:r>
              <a:rPr baseline="30000"/>
              <a:t>8</a:t>
            </a:r>
            <a:r>
              <a:rPr/>
              <a:t> / 2) / rate, a full brute force with no wordlist. Real attacks start with wordlists and rules, so human-chosen passwords fall much faster.</a:t>
            </a:r>
          </a:p>
          <a:p>
            <a:pPr lvl="0" indent="0" marL="0">
              <a:buNone/>
            </a:pPr>
          </a:p>
          <a:p>
            <a:pPr lvl="0" indent="0" marL="0">
              <a:buNone/>
            </a:pPr>
            <a:r>
              <a:rPr/>
              <a:t>Each RTX 5090 draws up to 575 W, all of which becomes heat: about 1,960 BTU/h, or 0.16 tons of cooling per card. The companion site works out power and cooling for each threat level.</a:t>
            </a:r>
          </a:p>
          <a:p>
            <a:pPr lvl="0" indent="0" marL="0">
              <a:buNone/>
            </a:pPr>
          </a:p>
          <a:p>
            <a:pPr lvl="0" indent="0" marL="0">
              <a:buNone/>
            </a:pPr>
            <a:r>
              <a:rPr/>
              <a:t>A stored Windows NT hash and an NTLM protocol exchange (NetNTLMv2, 16.0 G/s on the same card) are different things.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Inspect it with openssl x509, certutil -dump or XCA.</a:t>
            </a:r>
          </a:p>
          <a:p>
            <a:pPr lvl="0" indent="0" marL="0">
              <a:buNone/>
            </a:pPr>
          </a:p>
          <a:p>
            <a:pPr lvl="0" indent="0" marL="0">
              <a:buNone/>
            </a:pPr>
            <a:r>
              <a:rPr/>
              <a:t>Output trimmed and condensed from: openssl x509 -in training-leaf.pem -noout -text (OpenSSL 3.5). The full subject also has ST=Wisconsin, C=US.</a:t>
            </a:r>
          </a:p>
          <a:p>
            <a:pPr lvl="0" indent="0" marL="0">
              <a:buNone/>
            </a:pPr>
          </a:p>
          <a:p>
            <a:pPr lvl="0" indent="0" marL="0">
              <a:buNone/>
            </a:pPr>
            <a:r>
              <a:rPr/>
              <a:t>Training certificates for the Squeaky Curds Co-op; .example is reserved (RFC 2606), so the names do not exist. No private keys are included. Do not install the training root.</a:t>
            </a:r>
          </a:p>
          <a:p>
            <a:pPr lvl="0" indent="0" marL="0">
              <a:buNone/>
            </a:pPr>
          </a:p>
          <a:p>
            <a:pPr lvl="0" indent="0" marL="0">
              <a:buNone/>
            </a:pPr>
            <a:r>
              <a:rPr/>
              <a:t>XCA, a graphical certificate and key manager: https://hohnstaedt.de/xca/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56:6D:45:25:…:AE:67. certutil -dump reads both.</a:t>
            </a:r>
          </a:p>
          <a:p>
            <a:pPr lvl="0" indent="0" marL="0">
              <a:buNone/>
            </a:pPr>
          </a:p>
          <a:p>
            <a:pPr lvl="0" indent="0" marL="0">
              <a:buNone/>
            </a:pPr>
            <a:r>
              <a:rPr/>
              <a:t>OpenSSL on Windows: it comes with Git for Windows, or winget install ShiningLight.OpenSSL.Light (other builds: https://github.com/openssl/openssl/wiki/Binaries).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 the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a:p>
            <a:pPr lvl="0" indent="0" marL="0">
              <a:buNone/>
            </a:pPr>
          </a:p>
          <a:p>
            <a:pPr lvl="0" indent="0" marL="0">
              <a:buNone/>
            </a:pPr>
            <a:r>
              <a:rPr/>
              <a:t>RFC 6409 section 4.3: the MSA must reject unauthenticated mail by default “unless it has already independently established authentication or authorization (such as being within a protected subnetwork)”. Section 3.1: “A site MAY choose to use port 25 for message submission.” Printers, scanners and applications relaying through an IP-restricted connector are the everyday example. https://www.rfc-editor.org/rfc/rfc6409.html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8601, Authentication-Results: https://datatracker.ietf.org/doc/html/rfc8601</a:t>
            </a:r>
          </a:p>
          <a:p>
            <a:pPr lvl="0" indent="0" marL="0">
              <a:buNone/>
            </a:pPr>
          </a:p>
          <a:p>
            <a:pPr lvl="0" indent="0" marL="0">
              <a:buNone/>
            </a:pPr>
            <a:r>
              <a:rPr/>
              <a:t>Message Header Analyzer: paste headers at https://mha.azurewebsites.net/pages/mha.html, or install the Outlook add-in. Source: https://github.com/microsoft/MHA</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 Section 4.1: the IP is “the IP address of the SMTP client that is emitting the mail”. Section 2.3 also recommends checking the HELO identity on its own; section 2.4 covers the empty MAIL FROM of bounces, where the check uses postmaster@ the HELO name.</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sections 4.6.2 (qualifiers), 5 (mechanisms) and 6 (modifiers): https://www.rfc-editor.org/rfc/rfc7208.html Section 4.6.4: include, a, mx, ptr, exists and redirect cause DNS lookups; more than 10 in one evaluation is a permerror. ptr SHOULD NOT be published (section 5.5). exists and exp= are the other terms.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section 3.5 (signature tags) and 3.6.1 (key record): https://www.rfc-editor.org/rfc/rfc6376.html Key record: v=DKIM1; k=rsa (the default); p= is the public key, and an empty p= means the key has been revoked. t= and x= are the signing time and expiry; i= is the identity on whose behalf it was signed. RFC 8301: signers must not use rsa-sha1. RFC 8463 adds ed25519-sha256.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section 4.7 defines every tag; fo= (failure report options) and psd= (public suffix domain flag) are the others. Unknown tags must be ignored. https://www.rfc-editor.org/rfc/rfc9989.html#section-4.7</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Lines starting &gt; are the client; lines starting . are the server.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domains share the organizational domain primary.com, which is why relaxed alignment would have passed.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Get-Member shows the properties and methods of whatever a command returns.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Approved verbs: https://learn.microsoft.com/en-us/powershell/scripting/developer/cmdlet/approved-verbs-for-windows-powershell-commands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about_Objects: https://learn.microsoft.com/en-us/powershell/module/microsoft.powershell.core/about/about_objects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Differences between Windows PowerShell 5.1 and PowerShell 7.x: https://learn.microsoft.com/en-us/powershell/scripting/whats-new/differences-from-windows-powershell The ones that bite: default file encoding, Export-Csv’s type line in 5.1, and modules folders in different places. The companion site has a table.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about_Scripts: “As a security feature, PowerShell does not run scripts when you double-click the script icon in File Explorer or when you type the script name without a full path, even when the script is in the current directory.” Right-click, Run with PowerShell, does run it. about_Execution_Policies: if every scope is Undefined, the effective policy is Restricted for Windows clients and RemoteSigned for Windows Server. “The execution policy isn’t a security boundary, it’s defense in depth.” On Linux and macOS it is Unrestricted and cannot be changed. PowerShell 7 sets RemoteSigned in $PSHOME.config.json. https://learn.microsoft.com/en-us/powershell/module/microsoft.powershell.core/about/about_execution_policies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Get-FileInventory, on the companion site, combines these into one function.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Get-EvtxSummary and Get-LogonEvent on the companion site extend this.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New-CaseFolder -Path E:\2026-0142 -Verbose [CmdletBinding()] is what makes -Verbose work. The version on the companion site also supports -WhatIf. about_Functions_CmdletBindingAttribute: https://learn.microsoft.com/en-us/powershell/module/microsoft.powershell.core/about/about_functions_cmdletbindingattribute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about_Modules: https://learn.microsoft.com/en-us/powershell/module/microsoft.powershell.core/about/about_modules Every function on the companion site is in its own copyable block, ready to paste into MyTools.psm1. The companion site walks through creating the folder and file.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Memory acquisition is handled separately (Magnet in our workflow).</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Independent non-persistent disks discard changes at power-off: https://docs.vmware.com/en/VMware-Workstation-Pro/17/com.vmware.ws.using.doc/GUID-A6792F54-2734-4AF4-9473-C8B9AD8321AF.html Workstation Pro is free for commercial, educational and personal use since November 2024: https://knowledge.broadcom.com/external/article/368667/download-and-license-vmware-desktop-hypervisor.html In the guest, shared folders are at \vmware-hostFolders.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Windows Server hardware requirements list a TPM as required only for certain features: https://learn.microsoft.com/en-us/windows-server/get-started/hardware-requirements Defender on Windows Server is the Windows-Defender feature: https://learn.microsoft.com/en-us/defender-endpoint/microsoft-defender-antivirus-windows-server-configure The 180-day evaluation must be activated online within its first 10 days. The unattend generator is written for Windows 10 and 11. For Server 2025, enter the product key (generic or real) and select the image by name or index. Setup finds Autounattend.xml at the root of removable media: a second small ISO, or the Windows ISO rebuilt with oscdimg. Steps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UAC off: EnableLUA = 0. Defender: Uninstall-WindowsFeature -Name Windows-Defender. Long paths: LongPathsEnabled = 1. All of these are options in the unattend generator. Commands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line on the companion site also installs 7-Zip, Sysinternals and PowerShell 7. KAPE, FTK Imager, Chainsaw and Hayabusa are direct downloads; Chocolatey’s “chainsaw” package is a different program. Plaso runs in WSL (Ubuntu, GIFT PPA). KAPE and the community KapeFiles repository: https://github.com/EricZimmerman/KapeFiles KAPE is free for CRT members; commercial use needs a Kroll enterprise license: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common Windows tools from DFIR distributions such as FLARE-VM and the SIFT Workstation. Install commands are on the companion site. WSL 2 needs nested virtualization, which VMware Workstation cannot provide while the host runs Hyper-V or virtualization-based security (Broadcom KB 389469). WSL 1 does not use virtualization: wsl.exe –install –enable-wsl1 –no-distribution, then wsl.exe –set-default-version 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from the read-only Evidence share, write to Cases. Before power-off, confirm the output is on the Cases share; after power-on, confirm the system disk is clean.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 Id="rIdGitHubFooter" Type="http://schemas.openxmlformats.org/officeDocument/2006/relationships/hyperlink" Target="https://github.com/dzampino/crt-essentials-2026"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 Id="rIdGitHubFooter" Target="https://github.com/dzampino/crt-essentials-2026" TargetMode="External" Type="http://schemas.openxmlformats.org/officeDocument/2006/relationships/hyperlink"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GitHubFooter" Type="http://schemas.openxmlformats.org/officeDocument/2006/relationships/hyperlink" Target="https://github.com/dzampino/crt-essentials-2026" TargetMode="Externa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3.png" /><Relationship Id="rIdGitHubFooter" Type="http://schemas.openxmlformats.org/officeDocument/2006/relationships/hyperlink" Target="https://github.com/dzampino/crt-essentials-2026" TargetMode="External"/></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GitHubFooter" Type="http://schemas.openxmlformats.org/officeDocument/2006/relationships/hyperlink" Target="https://github.com/dzampino/crt-essentials-2026" TargetMode="External"/></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xkcd.com/936/" TargetMode="External" /><Relationship Id="rId4" Type="http://schemas.openxmlformats.org/officeDocument/2006/relationships/image" Target="../media/image4.png" /><Relationship Id="rIdGitHubFooter" Type="http://schemas.openxmlformats.org/officeDocument/2006/relationships/hyperlink" Target="https://github.com/dzampino/crt-essentials-2026" TargetMode="Externa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GitHubFooter" Type="http://schemas.openxmlformats.org/officeDocument/2006/relationships/hyperlink" Target="https://github.com/dzampino/crt-essentials-2026" TargetMode="External"/></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GitHubFooter" Type="http://schemas.openxmlformats.org/officeDocument/2006/relationships/hyperlink" Target="https://github.com/dzampino/crt-essentials-2026" TargetMode="Externa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GitHubFooter" Type="http://schemas.openxmlformats.org/officeDocument/2006/relationships/hyperlink" Target="https://github.com/dzampino/crt-essentials-2026" TargetMode="External"/></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GitHubFooter" Type="http://schemas.openxmlformats.org/officeDocument/2006/relationships/hyperlink" Target="https://github.com/dzampino/crt-essentials-2026" TargetMode="Externa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GitHubFooter" Type="http://schemas.openxmlformats.org/officeDocument/2006/relationships/hyperlink" Target="https://github.com/dzampino/crt-essentials-2026" TargetMode="Externa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GitHubFooter" Type="http://schemas.openxmlformats.org/officeDocument/2006/relationships/hyperlink" Target="https://github.com/dzampino/crt-essentials-2026" TargetMode="External"/></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GitHubFooter" Type="http://schemas.openxmlformats.org/officeDocument/2006/relationships/hyperlink" Target="https://github.com/dzampino/crt-essentials-2026" TargetMode="External"/></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GitHubFooter" Type="http://schemas.openxmlformats.org/officeDocument/2006/relationships/hyperlink" Target="https://github.com/dzampino/crt-essentials-2026" TargetMode="Externa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GitHubFooter" Type="http://schemas.openxmlformats.org/officeDocument/2006/relationships/hyperlink" Target="https://github.com/dzampino/crt-essentials-2026" TargetMode="External"/></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5.png" /><Relationship Id="rIdGitHubFooter" Type="http://schemas.openxmlformats.org/officeDocument/2006/relationships/hyperlink" Target="https://github.com/dzampino/crt-essentials-2026" TargetMode="External"/></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GitHubFooter" Type="http://schemas.openxmlformats.org/officeDocument/2006/relationships/hyperlink" Target="https://github.com/dzampino/crt-essentials-2026" TargetMode="Externa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GitHubFooter" Type="http://schemas.openxmlformats.org/officeDocument/2006/relationships/hyperlink" Target="https://github.com/dzampino/crt-essentials-2026" TargetMode="Externa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GitHubFooter" Type="http://schemas.openxmlformats.org/officeDocument/2006/relationships/hyperlink" Target="https://github.com/dzampino/crt-essentials-2026" TargetMode="External"/></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GitHubFooter" Type="http://schemas.openxmlformats.org/officeDocument/2006/relationships/hyperlink" Target="https://github.com/dzampino/crt-essentials-2026" TargetMode="External"/></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GitHubFooter" Type="http://schemas.openxmlformats.org/officeDocument/2006/relationships/hyperlink" Target="https://github.com/dzampino/crt-essentials-2026" TargetMode="External"/></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image" Target="../media/image6.png" /><Relationship Id="rIdGitHubFooter" Type="http://schemas.openxmlformats.org/officeDocument/2006/relationships/hyperlink" Target="https://github.com/dzampino/crt-essentials-2026" TargetMode="Externa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GitHubFooter" Type="http://schemas.openxmlformats.org/officeDocument/2006/relationships/hyperlink" Target="https://github.com/dzampino/crt-essentials-2026" TargetMode="Externa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GitHubFooter" Type="http://schemas.openxmlformats.org/officeDocument/2006/relationships/hyperlink" Target="https://github.com/dzampino/crt-essentials-2026" TargetMode="Externa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GitHubFooter" Type="http://schemas.openxmlformats.org/officeDocument/2006/relationships/hyperlink" Target="https://github.com/dzampino/crt-essentials-2026" TargetMode="Externa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GitHubFooter" Type="http://schemas.openxmlformats.org/officeDocument/2006/relationships/hyperlink" Target="https://github.com/dzampino/crt-essentials-2026" TargetMode="Externa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GitHubFooter" Type="http://schemas.openxmlformats.org/officeDocument/2006/relationships/hyperlink" Target="https://github.com/dzampino/crt-essentials-2026" TargetMode="Externa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GitHubFooter" Type="http://schemas.openxmlformats.org/officeDocument/2006/relationships/hyperlink" Target="https://github.com/dzampino/crt-essentials-2026" TargetMode="Externa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GitHubFooter" Type="http://schemas.openxmlformats.org/officeDocument/2006/relationships/hyperlink" Target="https://github.com/dzampino/crt-essentials-2026" TargetMode="Externa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GitHubFooter" Type="http://schemas.openxmlformats.org/officeDocument/2006/relationships/hyperlink" Target="https://github.com/dzampino/crt-essentials-2026" TargetMode="Externa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GitHubFooter" Type="http://schemas.openxmlformats.org/officeDocument/2006/relationships/hyperlink" Target="https://github.com/dzampino/crt-essentials-2026" TargetMode="Externa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GitHubFooter" Type="http://schemas.openxmlformats.org/officeDocument/2006/relationships/hyperlink" Target="https://github.com/dzampino/crt-essentials-2026" TargetMode="Externa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GitHubFooter" Type="http://schemas.openxmlformats.org/officeDocument/2006/relationships/hyperlink" Target="https://github.com/dzampino/crt-essentials-2026" TargetMode="Externa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GitHubFooter" Type="http://schemas.openxmlformats.org/officeDocument/2006/relationships/hyperlink" Target="https://github.com/dzampino/crt-essentials-2026" TargetMode="Externa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GitHubFooter" Type="http://schemas.openxmlformats.org/officeDocument/2006/relationships/hyperlink" Target="https://github.com/dzampino/crt-essentials-2026" TargetMode="Externa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GitHubFooter" Type="http://schemas.openxmlformats.org/officeDocument/2006/relationships/hyperlink" Target="https://github.com/dzampino/crt-essentials-2026" TargetMode="Externa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GitHubFooter" Type="http://schemas.openxmlformats.org/officeDocument/2006/relationships/hyperlink" Target="https://github.com/dzampino/crt-essentials-2026" TargetMode="External"/></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GitHubFooter" Type="http://schemas.openxmlformats.org/officeDocument/2006/relationships/hyperlink" Target="https://github.com/dzampino/crt-essentials-2026" TargetMode="Externa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GitHubFooter" Type="http://schemas.openxmlformats.org/officeDocument/2006/relationships/hyperlink" Target="https://github.com/dzampino/crt-essentials-2026" TargetMode="External"/></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GitHubFooter" Type="http://schemas.openxmlformats.org/officeDocument/2006/relationships/hyperlink" Target="https://github.com/dzampino/crt-essentials-2026" TargetMode="External"/></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GitHubFooter" Type="http://schemas.openxmlformats.org/officeDocument/2006/relationships/hyperlink" Target="https://github.com/dzampino/crt-essentials-2026" TargetMode="External"/></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GitHubFooter" Type="http://schemas.openxmlformats.org/officeDocument/2006/relationships/hyperlink" Target="https://github.com/dzampino/crt-essentials-2026" TargetMode="External"/></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GitHubFooter" Type="http://schemas.openxmlformats.org/officeDocument/2006/relationships/hyperlink" Target="https://github.com/dzampino/crt-essentials-2026" TargetMode="External"/></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GitHubFooter" Type="http://schemas.openxmlformats.org/officeDocument/2006/relationships/hyperlink" Target="https://github.com/dzampino/crt-essentials-2026" TargetMode="External"/></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GitHubFooter" Type="http://schemas.openxmlformats.org/officeDocument/2006/relationships/hyperlink" Target="https://github.com/dzampino/crt-essentials-2026" TargetMode="External"/></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GitHubFooter" Type="http://schemas.openxmlformats.org/officeDocument/2006/relationships/hyperlink" Target="https://github.com/dzampino/crt-essentials-2026" TargetMode="External"/></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GitHubFooter" Type="http://schemas.openxmlformats.org/officeDocument/2006/relationships/hyperlink" Target="https://github.com/dzampino/crt-essentials-2026" TargetMode="External"/></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GitHubFooter" Type="http://schemas.openxmlformats.org/officeDocument/2006/relationships/hyperlink" Target="https://github.com/dzampino/crt-essentials-2026" TargetMode="External"/></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GitHubFooter" Type="http://schemas.openxmlformats.org/officeDocument/2006/relationships/hyperlink" Target="https://github.com/dzampino/crt-essentials-2026" TargetMode="External"/></Relationships>
</file>

<file path=ppt/slides/_rels/slide56.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GitHubFooter" Type="http://schemas.openxmlformats.org/officeDocument/2006/relationships/hyperlink" Target="https://github.com/dzampino/crt-essentials-2026" TargetMode="External"/></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GitHubFooter" Type="http://schemas.openxmlformats.org/officeDocument/2006/relationships/hyperlink" Target="https://github.com/dzampino/crt-essentials-2026" TargetMode="External"/></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GitHubFooter" Type="http://schemas.openxmlformats.org/officeDocument/2006/relationships/hyperlink" Target="https://github.com/dzampino/crt-essentials-2026" TargetMode="External"/></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GitHubFooter" Type="http://schemas.openxmlformats.org/officeDocument/2006/relationships/hyperlink" Target="https://github.com/dzampino/crt-essentials-2026" TargetMode="External"/></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GitHubFooter" Type="http://schemas.openxmlformats.org/officeDocument/2006/relationships/hyperlink" Target="https://github.com/dzampino/crt-essentials-2026" TargetMode="External"/></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GitHubFooter" Type="http://schemas.openxmlformats.org/officeDocument/2006/relationships/hyperlink" Target="https://github.com/dzampino/crt-essentials-2026" TargetMode="External"/></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GitHubFooter" Type="http://schemas.openxmlformats.org/officeDocument/2006/relationships/hyperlink" Target="https://github.com/dzampino/crt-essentials-2026" TargetMode="External"/></Relationships>
</file>

<file path=ppt/slides/_rels/slide65.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sp>
        <p:nvSpPr>
          <p:cNvPr id="3" name="Content Placeholder 3"/>
          <p:cNvSpPr>
            <a:spLocks noGrp="1"/>
          </p:cNvSpPr>
          <p:nvPr>
            <p:ph idx="1"/>
          </p:nvPr>
        </p:nvSpPr>
        <p:spPr/>
        <p:txBody>
          <a:bodyPr/>
          <a:lstStyle/>
          <a:p>
            <a:pPr lvl="0">
              <a:buAutoNum type="arabicPeriod"/>
            </a:pPr>
            <a:r>
              <a:rPr/>
              <a:t>Passwords</a:t>
            </a:r>
          </a:p>
          <a:p>
            <a:pPr lvl="0">
              <a:buAutoNum type="arabicPeriod"/>
            </a:pPr>
            <a:r>
              <a:rPr/>
              <a:t>PKI</a:t>
            </a:r>
          </a:p>
          <a:p>
            <a:pPr lvl="0">
              <a:buAutoNum type="arabicPeriod"/>
            </a:pPr>
            <a:r>
              <a:rPr/>
              <a:t>Email security</a:t>
            </a:r>
          </a:p>
          <a:p>
            <a:pPr lvl="0">
              <a:buAutoNum type="arabicPeriod"/>
            </a:pPr>
            <a:r>
              <a:rPr/>
              <a:t>PowerShell</a:t>
            </a:r>
          </a:p>
          <a:p>
            <a:pPr lvl="0">
              <a:buAutoNum type="arabicPeriod"/>
            </a:pPr>
            <a:r>
              <a:rPr/>
              <a:t>Building a Windows DFIR box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dzampino.github.io/crt-essentials-2026</a:t>
            </a:r>
          </a:p>
        </p:txBody>
      </p:sp>
      <p:pic>
        <p:nvPicPr>
          <p:cNvPr descr="QR code linking to dzampino.github.io/crt-essentials-2026" id="0" name="Picture 1"/>
          <p:cNvPicPr>
            <a:picLocks noGrp="1" noChangeAspect="1"/>
          </p:cNvPicPr>
          <p:nvPr/>
        </p:nvPicPr>
        <p:blipFill>
          <a:blip r:embed="rId3"/>
          <a:stretch>
            <a:fillRect/>
          </a:stretch>
        </p:blipFill>
        <p:spPr bwMode="auto">
          <a:xfrm>
            <a:off x="3784600" y="1435100"/>
            <a:ext cx="4597400" cy="4597400"/>
          </a:xfrm>
          <a:prstGeom prst="rect">
            <a:avLst/>
          </a:prstGeom>
          <a:noFill/>
          <a:ln w="9525">
            <a:noFill/>
            <a:headEnd/>
            <a:tailEnd/>
          </a:ln>
        </p:spPr>
      </p:pic>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xkcd 936 comic: Tr0ub4dor&amp;3 is hard to remember and has about 28 bits of entropy; correct horse battery staple, four random common words, is easy to remember and has about 44 bits"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a:t>
            </a:r>
            <a:r>
              <a:rPr baseline="30000"/>
              <a:t>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 (EKU)</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55:25:8b:df:e8:83:4d:47:...:68:17
Issuer:  O=Cheese Curd Authority, CN=Squeaky Curd Root CA
Not Before: Oct  1 00:00:00 2026 GMT
Not After : Oct  1 00:00:00 2027 GMT
Subject: L=Curdsville, O=Squeaky Curds Co-op, CN=squeakycurds.example
Basic Constraints: critical, CA:FALSE
Subject Alternative Name: DNS:squeakycurds.example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Certificate chain: the self-signed root CA signs the intermediate CA, which signs the leaf. The client supplies the trust anchor from its certificate store; the server presents the leaf and intermediates and proves possession of the leaf private key"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a:p>
            <a:pPr lvl="0"/>
            <a:r>
              <a:rPr/>
              <a:t>Submission is usually authenticated on 587 or 465, but can be unauthenticated on 25</a:t>
            </a:r>
          </a:p>
        </p:txBody>
      </p:sp>
      <p:pic>
        <p:nvPicPr>
          <p:cNvPr descr="Email flow: the author client (MUA) submits to the MSA, which relays to the sending MTA. The sending MTA finds the receiving MTA through DNS MX records and sends by SMTP; the receiving MTA looks up SPF, DKIM and DMARC policy and delivers to the MDA, which the recipient client reads. Each hop adds a Received header"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1"/>
            <a:r>
              <a:rPr/>
              <a:t>Outlook: “</a:t>
            </a:r>
            <a:r>
              <a:rPr i="1"/>
              <a:t>Sender</a:t>
            </a:r>
            <a:r>
              <a:rPr/>
              <a:t> on behalf of </a:t>
            </a:r>
            <a:r>
              <a:rPr i="1"/>
              <a:t>From</a:t>
            </a:r>
            <a:r>
              <a:rPr/>
              <a: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a:p>
            <a:pPr lvl="0"/>
            <a:r>
              <a:rPr/>
              <a:t>My preferred tool: Microsoft’s Message Header Analyzer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1"/>
            <a:r>
              <a:rPr/>
              <a:t>The IP: the server connecting to the receiver, not anything in the message</a:t>
            </a:r>
          </a:p>
          <a:p>
            <a:pPr lvl="1"/>
            <a:r>
              <a:rPr/>
              <a:t>The domain: </a:t>
            </a:r>
            <a:r>
              <a:rPr>
                <a:latin typeface="Consolas"/>
              </a:rPr>
              <a:t>MAIL FROM</a:t>
            </a:r>
            <a:r>
              <a:rPr/>
              <a:t>, or the </a:t>
            </a:r>
            <a:r>
              <a:rPr>
                <a:latin typeface="Consolas"/>
              </a:rPr>
              <a:t>HELO</a:t>
            </a:r>
            <a:r>
              <a:rPr/>
              <a:t>/</a:t>
            </a:r>
            <a:r>
              <a:rPr>
                <a:latin typeface="Consolas"/>
              </a:rPr>
              <a:t>EHLO</a:t>
            </a:r>
            <a:r>
              <a:rPr/>
              <a:t> name when </a:t>
            </a:r>
            <a:r>
              <a:rPr>
                <a:latin typeface="Consolas"/>
              </a:rPr>
              <a:t>MAIL FROM</a:t>
            </a:r>
            <a:r>
              <a:rPr/>
              <a:t> is empty</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 record terms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4432300"/>
                <a:gridCol w="6654800"/>
              </a:tblGrid>
              <a:tr h="0">
                <a:tc>
                  <a:txBody>
                    <a:bodyPr/>
                    <a:lstStyle/>
                    <a:p>
                      <a:pPr lvl="0" indent="0" marL="0">
                        <a:buNone/>
                      </a:pPr>
                      <a:r>
                        <a:rPr/>
                        <a:t>Term</a:t>
                      </a:r>
                    </a:p>
                  </a:txBody>
                  <a:tcPr/>
                </a:tc>
                <a:tc>
                  <a:txBody>
                    <a:bodyPr/>
                    <a:lstStyle/>
                    <a:p>
                      <a:pPr lvl="0" indent="0" marL="0">
                        <a:buNone/>
                      </a:pPr>
                      <a:r>
                        <a:rPr/>
                        <a:t>Meaning</a:t>
                      </a:r>
                    </a:p>
                  </a:txBody>
                  <a:tcPr/>
                </a:tc>
              </a:tr>
              <a:tr h="0">
                <a:tc>
                  <a:txBody>
                    <a:bodyPr/>
                    <a:lstStyle/>
                    <a:p>
                      <a:pPr lvl="0" indent="0" marL="0">
                        <a:buNone/>
                      </a:pPr>
                      <a:r>
                        <a:rPr>
                          <a:latin typeface="Consolas"/>
                        </a:rPr>
                        <a:t>v=spf1</a:t>
                      </a:r>
                    </a:p>
                  </a:txBody>
                </a:tc>
                <a:tc>
                  <a:txBody>
                    <a:bodyPr/>
                    <a:lstStyle/>
                    <a:p>
                      <a:pPr lvl="0" indent="0" marL="0">
                        <a:buNone/>
                      </a:pPr>
                      <a:r>
                        <a:rPr/>
                        <a:t>Version; must come first</a:t>
                      </a:r>
                    </a:p>
                  </a:txBody>
                </a:tc>
              </a:tr>
              <a:tr h="0">
                <a:tc>
                  <a:txBody>
                    <a:bodyPr/>
                    <a:lstStyle/>
                    <a:p>
                      <a:pPr lvl="0" indent="0" marL="0">
                        <a:buNone/>
                      </a:pPr>
                      <a:r>
                        <a:rPr>
                          <a:latin typeface="Consolas"/>
                        </a:rPr>
                        <a:t>ip4:</a:t>
                      </a:r>
                      <a:r>
                        <a:rPr/>
                        <a:t> / </a:t>
                      </a:r>
                      <a:r>
                        <a:rPr>
                          <a:latin typeface="Consolas"/>
                        </a:rPr>
                        <a:t>ip6:</a:t>
                      </a:r>
                    </a:p>
                  </a:txBody>
                </a:tc>
                <a:tc>
                  <a:txBody>
                    <a:bodyPr/>
                    <a:lstStyle/>
                    <a:p>
                      <a:pPr lvl="0" indent="0" marL="0">
                        <a:buNone/>
                      </a:pPr>
                      <a:r>
                        <a:rPr/>
                        <a:t>This address or range may send</a:t>
                      </a:r>
                    </a:p>
                  </a:txBody>
                </a:tc>
              </a:tr>
              <a:tr h="0">
                <a:tc>
                  <a:txBody>
                    <a:bodyPr/>
                    <a:lstStyle/>
                    <a:p>
                      <a:pPr lvl="0" indent="0" marL="0">
                        <a:buNone/>
                      </a:pPr>
                      <a:r>
                        <a:rPr>
                          <a:latin typeface="Consolas"/>
                        </a:rPr>
                        <a:t>a</a:t>
                      </a:r>
                      <a:r>
                        <a:rPr/>
                        <a:t> / </a:t>
                      </a:r>
                      <a:r>
                        <a:rPr>
                          <a:latin typeface="Consolas"/>
                        </a:rPr>
                        <a:t>mx</a:t>
                      </a:r>
                    </a:p>
                  </a:txBody>
                </a:tc>
                <a:tc>
                  <a:txBody>
                    <a:bodyPr/>
                    <a:lstStyle/>
                    <a:p>
                      <a:pPr lvl="0" indent="0" marL="0">
                        <a:buNone/>
                      </a:pPr>
                      <a:r>
                        <a:rPr/>
                        <a:t>The domain’s A/AAAA or MX hosts may send</a:t>
                      </a:r>
                    </a:p>
                  </a:txBody>
                </a:tc>
              </a:tr>
              <a:tr h="0">
                <a:tc>
                  <a:txBody>
                    <a:bodyPr/>
                    <a:lstStyle/>
                    <a:p>
                      <a:pPr lvl="0" indent="0" marL="0">
                        <a:buNone/>
                      </a:pPr>
                      <a:r>
                        <a:rPr>
                          <a:latin typeface="Consolas"/>
                        </a:rPr>
                        <a:t>include:</a:t>
                      </a:r>
                    </a:p>
                  </a:txBody>
                </a:tc>
                <a:tc>
                  <a:txBody>
                    <a:bodyPr/>
                    <a:lstStyle/>
                    <a:p>
                      <a:pPr lvl="0" indent="0" marL="0">
                        <a:buNone/>
                      </a:pPr>
                      <a:r>
                        <a:rPr/>
                        <a:t>Matches if the other domain’s SPF check passes</a:t>
                      </a:r>
                    </a:p>
                  </a:txBody>
                </a:tc>
              </a:tr>
              <a:tr h="0">
                <a:tc>
                  <a:txBody>
                    <a:bodyPr/>
                    <a:lstStyle/>
                    <a:p>
                      <a:pPr lvl="0" indent="0" marL="0">
                        <a:buNone/>
                      </a:pPr>
                      <a:r>
                        <a:rPr>
                          <a:latin typeface="Consolas"/>
                        </a:rPr>
                        <a:t>redirect=</a:t>
                      </a:r>
                    </a:p>
                  </a:txBody>
                </a:tc>
                <a:tc>
                  <a:txBody>
                    <a:bodyPr/>
                    <a:lstStyle/>
                    <a:p>
                      <a:pPr lvl="0" indent="0" marL="0">
                        <a:buNone/>
                      </a:pPr>
                      <a:r>
                        <a:rPr/>
                        <a:t>Use another domain’s record instead of this one</a:t>
                      </a:r>
                    </a:p>
                  </a:txBody>
                </a:tc>
              </a:tr>
              <a:tr h="0">
                <a:tc>
                  <a:txBody>
                    <a:bodyPr/>
                    <a:lstStyle/>
                    <a:p>
                      <a:pPr lvl="0" indent="0" marL="0">
                        <a:buNone/>
                      </a:pPr>
                      <a:r>
                        <a:rPr>
                          <a:latin typeface="Consolas"/>
                        </a:rPr>
                        <a:t>all</a:t>
                      </a:r>
                    </a:p>
                  </a:txBody>
                </a:tc>
                <a:tc>
                  <a:txBody>
                    <a:bodyPr/>
                    <a:lstStyle/>
                    <a:p>
                      <a:pPr lvl="0" indent="0" marL="0">
                        <a:buNone/>
                      </a:pPr>
                      <a:r>
                        <a:rPr/>
                        <a:t>Matches everything; the last term, so the default answer</a:t>
                      </a:r>
                    </a:p>
                  </a:txBody>
                </a:tc>
              </a:tr>
              <a:tr h="0">
                <a:tc>
                  <a:txBody>
                    <a:bodyPr/>
                    <a:lstStyle/>
                    <a:p>
                      <a:pPr lvl="0" indent="0" marL="0">
                        <a:buNone/>
                      </a:pPr>
                      <a:r>
                        <a:rPr>
                          <a:latin typeface="Consolas"/>
                        </a:rPr>
                        <a:t>+</a:t>
                      </a:r>
                      <a:r>
                        <a:rPr/>
                        <a:t> </a:t>
                      </a:r>
                      <a:r>
                        <a:rPr>
                          <a:latin typeface="Consolas"/>
                        </a:rPr>
                        <a:t>-</a:t>
                      </a:r>
                      <a:r>
                        <a:rPr/>
                        <a:t> </a:t>
                      </a:r>
                      <a:r>
                        <a:rPr>
                          <a:latin typeface="Consolas"/>
                        </a:rPr>
                        <a:t>~</a:t>
                      </a:r>
                      <a:r>
                        <a:rPr/>
                        <a:t> </a:t>
                      </a:r>
                      <a:r>
                        <a:rPr>
                          <a:latin typeface="Consolas"/>
                        </a:rPr>
                        <a:t>?</a:t>
                      </a:r>
                    </a:p>
                  </a:txBody>
                </a:tc>
                <a:tc>
                  <a:txBody>
                    <a:bodyPr/>
                    <a:lstStyle/>
                    <a:p>
                      <a:pPr lvl="0" indent="0" marL="0">
                        <a:buNone/>
                      </a:pPr>
                      <a:r>
                        <a:rPr/>
                        <a:t>Qualifier in front of a term: pass (the default), fail, softfail, neutral</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 signature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962400"/>
                <a:gridCol w="7124700"/>
              </a:tblGrid>
              <a:tr h="0">
                <a:tc>
                  <a:txBody>
                    <a:bodyPr/>
                    <a:lstStyle/>
                    <a:p>
                      <a:pPr lvl="0" indent="0" marL="0">
                        <a:buNone/>
                      </a:pPr>
                      <a:r>
                        <a:rPr/>
                        <a:t>Tag</a:t>
                      </a:r>
                    </a:p>
                  </a:txBody>
                  <a:tcPr/>
                </a:tc>
                <a:tc>
                  <a:txBody>
                    <a:bodyPr/>
                    <a:lstStyle/>
                    <a:p>
                      <a:pPr lvl="0" indent="0" marL="0">
                        <a:buNone/>
                      </a:pPr>
                      <a:r>
                        <a:rPr/>
                        <a:t>Meaning</a:t>
                      </a:r>
                    </a:p>
                  </a:txBody>
                  <a:tcPr/>
                </a:tc>
              </a:tr>
              <a:tr h="0">
                <a:tc>
                  <a:txBody>
                    <a:bodyPr/>
                    <a:lstStyle/>
                    <a:p>
                      <a:pPr lvl="0" indent="0" marL="0">
                        <a:buNone/>
                      </a:pPr>
                      <a:r>
                        <a:rPr>
                          <a:latin typeface="Consolas"/>
                        </a:rPr>
                        <a:t>v=1</a:t>
                      </a:r>
                    </a:p>
                  </a:txBody>
                </a:tc>
                <a:tc>
                  <a:txBody>
                    <a:bodyPr/>
                    <a:lstStyle/>
                    <a:p>
                      <a:pPr lvl="0" indent="0" marL="0">
                        <a:buNone/>
                      </a:pPr>
                      <a:r>
                        <a:rPr/>
                        <a:t>Version</a:t>
                      </a:r>
                    </a:p>
                  </a:txBody>
                </a:tc>
              </a:tr>
              <a:tr h="0">
                <a:tc>
                  <a:txBody>
                    <a:bodyPr/>
                    <a:lstStyle/>
                    <a:p>
                      <a:pPr lvl="0" indent="0" marL="0">
                        <a:buNone/>
                      </a:pPr>
                      <a:r>
                        <a:rPr>
                          <a:latin typeface="Consolas"/>
                        </a:rPr>
                        <a:t>a=</a:t>
                      </a:r>
                    </a:p>
                  </a:txBody>
                </a:tc>
                <a:tc>
                  <a:txBody>
                    <a:bodyPr/>
                    <a:lstStyle/>
                    <a:p>
                      <a:pPr lvl="0" indent="0" marL="0">
                        <a:buNone/>
                      </a:pPr>
                      <a:r>
                        <a:rPr/>
                        <a:t>Algorithm: </a:t>
                      </a:r>
                      <a:r>
                        <a:rPr>
                          <a:latin typeface="Consolas"/>
                        </a:rPr>
                        <a:t>rsa-sha256</a:t>
                      </a:r>
                      <a:r>
                        <a:rPr/>
                        <a:t> (or </a:t>
                      </a:r>
                      <a:r>
                        <a:rPr>
                          <a:latin typeface="Consolas"/>
                        </a:rPr>
                        <a:t>ed25519-sha256</a:t>
                      </a:r>
                      <a:r>
                        <a:rPr/>
                        <a:t>)</a:t>
                      </a:r>
                    </a:p>
                  </a:txBody>
                </a:tc>
              </a:tr>
              <a:tr h="0">
                <a:tc>
                  <a:txBody>
                    <a:bodyPr/>
                    <a:lstStyle/>
                    <a:p>
                      <a:pPr lvl="0" indent="0" marL="0">
                        <a:buNone/>
                      </a:pPr>
                      <a:r>
                        <a:rPr>
                          <a:latin typeface="Consolas"/>
                        </a:rPr>
                        <a:t>d=</a:t>
                      </a:r>
                    </a:p>
                  </a:txBody>
                </a:tc>
                <a:tc>
                  <a:txBody>
                    <a:bodyPr/>
                    <a:lstStyle/>
                    <a:p>
                      <a:pPr lvl="0" indent="0" marL="0">
                        <a:buNone/>
                      </a:pPr>
                      <a:r>
                        <a:rPr/>
                        <a:t>Signing domain; DMARC aligns this with </a:t>
                      </a:r>
                      <a:r>
                        <a:rPr>
                          <a:latin typeface="Consolas"/>
                        </a:rPr>
                        <a:t>From</a:t>
                      </a:r>
                    </a:p>
                  </a:txBody>
                </a:tc>
              </a:tr>
              <a:tr h="0">
                <a:tc>
                  <a:txBody>
                    <a:bodyPr/>
                    <a:lstStyle/>
                    <a:p>
                      <a:pPr lvl="0" indent="0" marL="0">
                        <a:buNone/>
                      </a:pPr>
                      <a:r>
                        <a:rPr>
                          <a:latin typeface="Consolas"/>
                        </a:rPr>
                        <a:t>s=</a:t>
                      </a:r>
                    </a:p>
                  </a:txBody>
                </a:tc>
                <a:tc>
                  <a:txBody>
                    <a:bodyPr/>
                    <a:lstStyle/>
                    <a:p>
                      <a:pPr lvl="0" indent="0" marL="0">
                        <a:buNone/>
                      </a:pPr>
                      <a:r>
                        <a:rPr/>
                        <a:t>Selector: the public key is at </a:t>
                      </a:r>
                      <a:r>
                        <a:rPr>
                          <a:latin typeface="Consolas"/>
                        </a:rPr>
                        <a:t>s._domainkey.d</a:t>
                      </a:r>
                    </a:p>
                  </a:txBody>
                </a:tc>
              </a:tr>
              <a:tr h="0">
                <a:tc>
                  <a:txBody>
                    <a:bodyPr/>
                    <a:lstStyle/>
                    <a:p>
                      <a:pPr lvl="0" indent="0" marL="0">
                        <a:buNone/>
                      </a:pPr>
                      <a:r>
                        <a:rPr>
                          <a:latin typeface="Consolas"/>
                        </a:rPr>
                        <a:t>h=</a:t>
                      </a:r>
                    </a:p>
                  </a:txBody>
                </a:tc>
                <a:tc>
                  <a:txBody>
                    <a:bodyPr/>
                    <a:lstStyle/>
                    <a:p>
                      <a:pPr lvl="0" indent="0" marL="0">
                        <a:buNone/>
                      </a:pPr>
                      <a:r>
                        <a:rPr/>
                        <a:t>The header fields that were signed</a:t>
                      </a:r>
                    </a:p>
                  </a:txBody>
                </a:tc>
              </a:tr>
              <a:tr h="0">
                <a:tc>
                  <a:txBody>
                    <a:bodyPr/>
                    <a:lstStyle/>
                    <a:p>
                      <a:pPr lvl="0" indent="0" marL="0">
                        <a:buNone/>
                      </a:pPr>
                      <a:r>
                        <a:rPr>
                          <a:latin typeface="Consolas"/>
                        </a:rPr>
                        <a:t>bh=</a:t>
                      </a:r>
                      <a:r>
                        <a:rPr/>
                        <a:t> / </a:t>
                      </a:r>
                      <a:r>
                        <a:rPr>
                          <a:latin typeface="Consolas"/>
                        </a:rPr>
                        <a:t>b=</a:t>
                      </a:r>
                    </a:p>
                  </a:txBody>
                </a:tc>
                <a:tc>
                  <a:txBody>
                    <a:bodyPr/>
                    <a:lstStyle/>
                    <a:p>
                      <a:pPr lvl="0" indent="0" marL="0">
                        <a:buNone/>
                      </a:pPr>
                      <a:r>
                        <a:rPr/>
                        <a:t>Hash of the body / the signature itself</a:t>
                      </a:r>
                    </a:p>
                  </a:txBody>
                </a:tc>
              </a:tr>
              <a:tr h="0">
                <a:tc>
                  <a:txBody>
                    <a:bodyPr/>
                    <a:lstStyle/>
                    <a:p>
                      <a:pPr lvl="0" indent="0" marL="0">
                        <a:buNone/>
                      </a:pPr>
                      <a:r>
                        <a:rPr>
                          <a:latin typeface="Consolas"/>
                        </a:rPr>
                        <a:t>c=</a:t>
                      </a:r>
                    </a:p>
                  </a:txBody>
                </a:tc>
                <a:tc>
                  <a:txBody>
                    <a:bodyPr/>
                    <a:lstStyle/>
                    <a:p>
                      <a:pPr lvl="0" indent="0" marL="0">
                        <a:buNone/>
                      </a:pPr>
                      <a:r>
                        <a:rPr/>
                        <a:t>Canonicalization, header/body: </a:t>
                      </a:r>
                      <a:r>
                        <a:rPr>
                          <a:latin typeface="Consolas"/>
                        </a:rPr>
                        <a:t>simple</a:t>
                      </a:r>
                      <a:r>
                        <a:rPr/>
                        <a:t> or </a:t>
                      </a:r>
                      <a:r>
                        <a:rPr>
                          <a:latin typeface="Consolas"/>
                        </a:rPr>
                        <a:t>relaxed</a:t>
                      </a:r>
                      <a:r>
                        <a:rPr/>
                        <a:t>; default </a:t>
                      </a:r>
                      <a:r>
                        <a:rPr>
                          <a:latin typeface="Consolas"/>
                        </a:rPr>
                        <a:t>simple/simple</a:t>
                      </a:r>
                    </a:p>
                  </a:txBody>
                </a:tc>
              </a:tr>
              <a:tr h="0">
                <a:tc>
                  <a:txBody>
                    <a:bodyPr/>
                    <a:lstStyle/>
                    <a:p>
                      <a:pPr lvl="0" indent="0" marL="0">
                        <a:buNone/>
                      </a:pPr>
                      <a:r>
                        <a:rPr>
                          <a:latin typeface="Consolas"/>
                        </a:rPr>
                        <a:t>l=</a:t>
                      </a:r>
                    </a:p>
                  </a:txBody>
                </a:tc>
                <a:tc>
                  <a:txBody>
                    <a:bodyPr/>
                    <a:lstStyle/>
                    <a:p>
                      <a:pPr lvl="0" indent="0" marL="0">
                        <a:buNone/>
                      </a:pPr>
                      <a:r>
                        <a:rPr/>
                        <a:t>Only this many body bytes are signed; text can be added after them</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 record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2413000"/>
                <a:gridCol w="4343400"/>
                <a:gridCol w="4343400"/>
              </a:tblGrid>
              <a:tr h="0">
                <a:tc>
                  <a:txBody>
                    <a:bodyPr/>
                    <a:lstStyle/>
                    <a:p>
                      <a:pPr lvl="0" indent="0" marL="0">
                        <a:buNone/>
                      </a:pPr>
                      <a:r>
                        <a:rPr/>
                        <a:t>Tag</a:t>
                      </a:r>
                    </a:p>
                  </a:txBody>
                  <a:tcPr/>
                </a:tc>
                <a:tc>
                  <a:txBody>
                    <a:bodyPr/>
                    <a:lstStyle/>
                    <a:p>
                      <a:pPr lvl="0" indent="0" marL="0">
                        <a:buNone/>
                      </a:pPr>
                      <a:r>
                        <a:rPr/>
                        <a:t>Meaning</a:t>
                      </a:r>
                    </a:p>
                  </a:txBody>
                  <a:tcPr/>
                </a:tc>
                <a:tc>
                  <a:txBody>
                    <a:bodyPr/>
                    <a:lstStyle/>
                    <a:p>
                      <a:pPr lvl="0" indent="0" marL="0">
                        <a:buNone/>
                      </a:pPr>
                      <a:r>
                        <a:rPr/>
                        <a:t>Default</a:t>
                      </a:r>
                    </a:p>
                  </a:txBody>
                  <a:tcPr/>
                </a:tc>
              </a:tr>
              <a:tr h="0">
                <a:tc>
                  <a:txBody>
                    <a:bodyPr/>
                    <a:lstStyle/>
                    <a:p>
                      <a:pPr lvl="0" indent="0" marL="0">
                        <a:buNone/>
                      </a:pPr>
                      <a:r>
                        <a:rPr>
                          <a:latin typeface="Consolas"/>
                        </a:rPr>
                        <a:t>v=DMARC1</a:t>
                      </a:r>
                    </a:p>
                  </a:txBody>
                </a:tc>
                <a:tc>
                  <a:txBody>
                    <a:bodyPr/>
                    <a:lstStyle/>
                    <a:p>
                      <a:pPr lvl="0" indent="0" marL="0">
                        <a:buNone/>
                      </a:pPr>
                      <a:r>
                        <a:rPr/>
                        <a:t>Version; must be the first tag</a:t>
                      </a:r>
                    </a:p>
                  </a:txBody>
                </a:tc>
                <a:tc>
                  <a:txBody>
                    <a:bodyPr/>
                    <a:lstStyle/>
                    <a:p>
                      <a:pPr lvl="0" indent="0" marL="0">
                        <a:buNone/>
                      </a:pPr>
                      <a:r>
                        <a:rPr/>
                        <a:t>Required</a:t>
                      </a:r>
                    </a:p>
                  </a:txBody>
                </a:tc>
              </a:tr>
              <a:tr h="0">
                <a:tc>
                  <a:txBody>
                    <a:bodyPr/>
                    <a:lstStyle/>
                    <a:p>
                      <a:pPr lvl="0" indent="0" marL="0">
                        <a:buNone/>
                      </a:pPr>
                      <a:r>
                        <a:rPr>
                          <a:latin typeface="Consolas"/>
                        </a:rPr>
                        <a:t>p=</a:t>
                      </a:r>
                    </a:p>
                  </a:txBody>
                </a:tc>
                <a:tc>
                  <a:txBody>
                    <a:bodyPr/>
                    <a:lstStyle/>
                    <a:p>
                      <a:pPr lvl="0" indent="0" marL="0">
                        <a:buNone/>
                      </a:pPr>
                      <a:r>
                        <a:rPr/>
                        <a:t>Policy for the domain: </a:t>
                      </a:r>
                      <a:r>
                        <a:rPr>
                          <a:latin typeface="Consolas"/>
                        </a:rPr>
                        <a:t>none</a:t>
                      </a:r>
                      <a:r>
                        <a:rPr/>
                        <a:t>, </a:t>
                      </a:r>
                      <a:r>
                        <a:rPr>
                          <a:latin typeface="Consolas"/>
                        </a:rPr>
                        <a:t>quarantine</a:t>
                      </a:r>
                      <a:r>
                        <a:rPr/>
                        <a:t>, </a:t>
                      </a:r>
                      <a:r>
                        <a:rPr>
                          <a:latin typeface="Consolas"/>
                        </a:rPr>
                        <a:t>reject</a:t>
                      </a:r>
                    </a:p>
                  </a:txBody>
                </a:tc>
                <a:tc>
                  <a:txBody>
                    <a:bodyPr/>
                    <a:lstStyle/>
                    <a:p>
                      <a:pPr lvl="0" indent="0" marL="0">
                        <a:buNone/>
                      </a:pPr>
                      <a:r>
                        <a:rPr>
                          <a:latin typeface="Consolas"/>
                        </a:rPr>
                        <a:t>none</a:t>
                      </a:r>
                    </a:p>
                  </a:txBody>
                </a:tc>
              </a:tr>
              <a:tr h="0">
                <a:tc>
                  <a:txBody>
                    <a:bodyPr/>
                    <a:lstStyle/>
                    <a:p>
                      <a:pPr lvl="0" indent="0" marL="0">
                        <a:buNone/>
                      </a:pPr>
                      <a:r>
                        <a:rPr>
                          <a:latin typeface="Consolas"/>
                        </a:rPr>
                        <a:t>sp=</a:t>
                      </a:r>
                    </a:p>
                  </a:txBody>
                </a:tc>
                <a:tc>
                  <a:txBody>
                    <a:bodyPr/>
                    <a:lstStyle/>
                    <a:p>
                      <a:pPr lvl="0" indent="0" marL="0">
                        <a:buNone/>
                      </a:pPr>
                      <a:r>
                        <a:rPr/>
                        <a:t>Policy for existing subdomains</a:t>
                      </a:r>
                    </a:p>
                  </a:txBody>
                </a:tc>
                <a:tc>
                  <a:txBody>
                    <a:bodyPr/>
                    <a:lstStyle/>
                    <a:p>
                      <a:pPr lvl="0" indent="0" marL="0">
                        <a:buNone/>
                      </a:pPr>
                      <a:r>
                        <a:rPr>
                          <a:latin typeface="Consolas"/>
                        </a:rPr>
                        <a:t>p</a:t>
                      </a:r>
                    </a:p>
                  </a:txBody>
                </a:tc>
              </a:tr>
              <a:tr h="0">
                <a:tc>
                  <a:txBody>
                    <a:bodyPr/>
                    <a:lstStyle/>
                    <a:p>
                      <a:pPr lvl="0" indent="0" marL="0">
                        <a:buNone/>
                      </a:pPr>
                      <a:r>
                        <a:rPr>
                          <a:latin typeface="Consolas"/>
                        </a:rPr>
                        <a:t>np=</a:t>
                      </a:r>
                    </a:p>
                  </a:txBody>
                </a:tc>
                <a:tc>
                  <a:txBody>
                    <a:bodyPr/>
                    <a:lstStyle/>
                    <a:p>
                      <a:pPr lvl="0" indent="0" marL="0">
                        <a:buNone/>
                      </a:pPr>
                      <a:r>
                        <a:rPr/>
                        <a:t>Policy for non-existent subdomains</a:t>
                      </a:r>
                    </a:p>
                  </a:txBody>
                </a:tc>
                <a:tc>
                  <a:txBody>
                    <a:bodyPr/>
                    <a:lstStyle/>
                    <a:p>
                      <a:pPr lvl="0" indent="0" marL="0">
                        <a:buNone/>
                      </a:pPr>
                      <a:r>
                        <a:rPr>
                          <a:latin typeface="Consolas"/>
                        </a:rPr>
                        <a:t>sp</a:t>
                      </a:r>
                      <a:r>
                        <a:rPr/>
                        <a:t>, then </a:t>
                      </a:r>
                      <a:r>
                        <a:rPr>
                          <a:latin typeface="Consolas"/>
                        </a:rPr>
                        <a:t>p</a:t>
                      </a:r>
                    </a:p>
                  </a:txBody>
                </a:tc>
              </a:tr>
              <a:tr h="0">
                <a:tc>
                  <a:txBody>
                    <a:bodyPr/>
                    <a:lstStyle/>
                    <a:p>
                      <a:pPr lvl="0" indent="0" marL="0">
                        <a:buNone/>
                      </a:pPr>
                      <a:r>
                        <a:rPr>
                          <a:latin typeface="Consolas"/>
                        </a:rPr>
                        <a:t>adkim=</a:t>
                      </a:r>
                    </a:p>
                  </a:txBody>
                </a:tc>
                <a:tc>
                  <a:txBody>
                    <a:bodyPr/>
                    <a:lstStyle/>
                    <a:p>
                      <a:pPr lvl="0" indent="0" marL="0">
                        <a:buNone/>
                      </a:pPr>
                      <a:r>
                        <a:rPr/>
                        <a:t>DKIM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aspf=</a:t>
                      </a:r>
                    </a:p>
                  </a:txBody>
                </a:tc>
                <a:tc>
                  <a:txBody>
                    <a:bodyPr/>
                    <a:lstStyle/>
                    <a:p>
                      <a:pPr lvl="0" indent="0" marL="0">
                        <a:buNone/>
                      </a:pPr>
                      <a:r>
                        <a:rPr/>
                        <a:t>SPF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t=y</a:t>
                      </a:r>
                    </a:p>
                  </a:txBody>
                </a:tc>
                <a:tc>
                  <a:txBody>
                    <a:bodyPr/>
                    <a:lstStyle/>
                    <a:p>
                      <a:pPr lvl="0" indent="0" marL="0">
                        <a:buNone/>
                      </a:pPr>
                      <a:r>
                        <a:rPr/>
                        <a:t>Test mode: apply one level below </a:t>
                      </a:r>
                      <a:r>
                        <a:rPr>
                          <a:latin typeface="Consolas"/>
                        </a:rPr>
                        <a:t>p</a:t>
                      </a:r>
                      <a:r>
                        <a:rPr/>
                        <a:t> (</a:t>
                      </a:r>
                      <a:r>
                        <a:rPr>
                          <a:latin typeface="Consolas"/>
                        </a:rPr>
                        <a:t>quarantine</a:t>
                      </a:r>
                      <a:r>
                        <a:rPr/>
                        <a:t> becomes </a:t>
                      </a:r>
                      <a:r>
                        <a:rPr>
                          <a:latin typeface="Consolas"/>
                        </a:rPr>
                        <a:t>none</a:t>
                      </a:r>
                      <a:r>
                        <a:rPr/>
                        <a:t>, </a:t>
                      </a:r>
                      <a:r>
                        <a:rPr>
                          <a:latin typeface="Consolas"/>
                        </a:rPr>
                        <a:t>reject</a:t>
                      </a:r>
                      <a:r>
                        <a:rPr/>
                        <a:t> becomes </a:t>
                      </a:r>
                      <a:r>
                        <a:rPr>
                          <a:latin typeface="Consolas"/>
                        </a:rPr>
                        <a:t>quarantine</a:t>
                      </a:r>
                      <a:r>
                        <a:rPr/>
                        <a:t>)</a:t>
                      </a:r>
                    </a:p>
                  </a:txBody>
                </a:tc>
                <a:tc>
                  <a:txBody>
                    <a:bodyPr/>
                    <a:lstStyle/>
                    <a:p>
                      <a:pPr lvl="0" indent="0" marL="0">
                        <a:buNone/>
                      </a:pPr>
                      <a:r>
                        <a:rPr>
                          <a:latin typeface="Consolas"/>
                        </a:rPr>
                        <a:t>n</a:t>
                      </a:r>
                    </a:p>
                  </a:txBody>
                </a:tc>
              </a:tr>
              <a:tr h="0">
                <a:tc>
                  <a:txBody>
                    <a:bodyPr/>
                    <a:lstStyle/>
                    <a:p>
                      <a:pPr lvl="0" indent="0" marL="0">
                        <a:buNone/>
                      </a:pPr>
                      <a:r>
                        <a:rPr>
                          <a:latin typeface="Consolas"/>
                        </a:rPr>
                        <a:t>rua=</a:t>
                      </a:r>
                      <a:r>
                        <a:rPr/>
                        <a:t> / </a:t>
                      </a:r>
                      <a:r>
                        <a:rPr>
                          <a:latin typeface="Consolas"/>
                        </a:rPr>
                        <a:t>ruf=</a:t>
                      </a:r>
                    </a:p>
                  </a:txBody>
                </a:tc>
                <a:tc>
                  <a:txBody>
                    <a:bodyPr/>
                    <a:lstStyle/>
                    <a:p>
                      <a:pPr lvl="0" indent="0" marL="0">
                        <a:buNone/>
                      </a:pPr>
                      <a:r>
                        <a:rPr/>
                        <a:t>Where to send aggregate / failure reports</a:t>
                      </a:r>
                    </a:p>
                  </a:txBody>
                </a:tc>
                <a:tc>
                  <a:txBody>
                    <a:bodyPr/>
                    <a:lstStyle/>
                    <a:p>
                      <a:pPr lvl="0" indent="0" marL="0">
                        <a:buNone/>
                      </a:pPr>
                      <a:r>
                        <a:rPr/>
                        <a:t>No reports</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red.secondary.com</a:t>
            </a:r>
            <a:br/>
            <a:r>
              <a:rPr>
                <a:solidFill>
                  <a:srgbClr val="B3352F"/>
                </a:solidFill>
                <a:latin typeface="Consolas"/>
              </a:rPr>
              <a:t>. 250 smtp.learndmarc.com Hello red.secondary.com &lt;153.112.107.49&gt;</a:t>
            </a:r>
            <a:br/>
            <a:r>
              <a:rPr b="1">
                <a:solidFill>
                  <a:srgbClr val="0C2454"/>
                </a:solidFill>
                <a:latin typeface="Consolas"/>
              </a:rPr>
              <a:t>&gt; MAIL FROM: &lt;gina@red.secondary.com&gt;</a:t>
            </a:r>
            <a:br/>
            <a:r>
              <a:rPr b="1">
                <a:solidFill>
                  <a:srgbClr val="0C2454"/>
                </a:solidFill>
                <a:latin typeface="Consolas"/>
              </a:rPr>
              <a:t>&gt; From: "Gina" &lt;gina@blue.secondary.com&gt;</a:t>
            </a:r>
            <a:br/>
            <a:r>
              <a:rPr b="1">
                <a:solidFill>
                  <a:srgbClr val="0C2454"/>
                </a:solidFill>
                <a:latin typeface="Consolas"/>
              </a:rPr>
              <a:t>&gt; DKIM-Signature: v=1; a=rsa-sha256; d=primary.com;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_dmarc.blue.secondary.com: "v=DMARC1; p=quarantine; t=y;"</a:t>
            </a:r>
            <a:br/>
            <a:r>
              <a:rPr>
                <a:solidFill>
                  <a:srgbClr val="034BAB"/>
                </a:solidFill>
                <a:latin typeface="Consolas"/>
              </a:rPr>
              <a:t>red.secondary.com:  "v=spf1 ip4:182.107.92.190 -all"</a:t>
            </a:r>
            <a:br/>
            <a:r>
              <a:rPr>
                <a:solidFill>
                  <a:srgbClr val="034BAB"/>
                </a:solidFill>
                <a:latin typeface="Consolas"/>
              </a:rPr>
              <a:t>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red.primary.com</a:t>
            </a:r>
            <a:br/>
            <a:r>
              <a:rPr>
                <a:solidFill>
                  <a:srgbClr val="B3352F"/>
                </a:solidFill>
                <a:latin typeface="Consolas"/>
              </a:rPr>
              <a:t>. 250 smtp.learndmarc.com Hello red.primary.com &lt;97.196.174.88&gt;</a:t>
            </a:r>
            <a:br/>
            <a:r>
              <a:rPr b="1">
                <a:solidFill>
                  <a:srgbClr val="0C2454"/>
                </a:solidFill>
                <a:latin typeface="Consolas"/>
              </a:rPr>
              <a:t>&gt; MAIL FROM: &lt;terry@red.primary.com&gt;</a:t>
            </a:r>
            <a:br/>
            <a:r>
              <a:rPr b="1">
                <a:solidFill>
                  <a:srgbClr val="0C2454"/>
                </a:solidFill>
                <a:latin typeface="Consolas"/>
              </a:rPr>
              <a:t>&gt; From: "Terry" &lt;terry@blue.primary.com&gt;</a:t>
            </a:r>
            <a:br/>
            <a:r>
              <a:rPr b="1">
                <a:solidFill>
                  <a:srgbClr val="0C2454"/>
                </a:solidFill>
                <a:latin typeface="Consolas"/>
              </a:rPr>
              <a:t>&gt; DKIM-Signature: v=1; a=rsa-sha256; d=secondary.com; s=selector;</a:t>
            </a:r>
            <a:br/>
            <a:r>
              <a:rPr>
                <a:solidFill>
                  <a:srgbClr val="1A1D23"/>
                </a:solidFill>
                <a:latin typeface="Consolas"/>
              </a:rPr>
              <a:t>  </a:t>
            </a:r>
            <a:r>
              <a:rPr i="1">
                <a:solidFill>
                  <a:srgbClr val="6B7480"/>
                </a:solidFill>
                <a:latin typeface="Consolas"/>
              </a:rPr>
              <a:t>(DKIM Auth Result: FAIL)</a:t>
            </a:r>
            <a:br/>
            <a:br/>
            <a:r>
              <a:rPr>
                <a:solidFill>
                  <a:srgbClr val="034BAB"/>
                </a:solidFill>
                <a:latin typeface="Consolas"/>
              </a:rPr>
              <a:t>_dmarc.blue.primary.com: "v=DMARC1; p=quarantine; adkim=s; aspf=s;"</a:t>
            </a:r>
            <a:br/>
            <a:r>
              <a:rPr>
                <a:solidFill>
                  <a:srgbClr val="034BAB"/>
                </a:solidFill>
                <a:latin typeface="Consolas"/>
              </a:rPr>
              <a:t>red.primary.com:  "v=spf1 ip4:95.129.128.101 ~all"</a:t>
            </a:r>
            <a:br/>
            <a:r>
              <a:rPr>
                <a:solidFill>
                  <a:srgbClr val="034BAB"/>
                </a:solidFill>
                <a:latin typeface="Consolas"/>
              </a:rPr>
              <a:t>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blue.secondary.com</a:t>
            </a:r>
            <a:br/>
            <a:r>
              <a:rPr>
                <a:solidFill>
                  <a:srgbClr val="B3352F"/>
                </a:solidFill>
                <a:latin typeface="Consolas"/>
              </a:rPr>
              <a:t>. 250 smtp.learndmarc.com Hello blue.secondary.com &lt;156.157.23.197&gt;</a:t>
            </a:r>
            <a:br/>
            <a:r>
              <a:rPr b="1">
                <a:solidFill>
                  <a:srgbClr val="0C2454"/>
                </a:solidFill>
                <a:latin typeface="Consolas"/>
              </a:rPr>
              <a:t>&gt; MAIL FROM: &lt;ray@blue.secondary.com&gt;</a:t>
            </a:r>
            <a:br/>
            <a:r>
              <a:rPr b="1">
                <a:solidFill>
                  <a:srgbClr val="0C2454"/>
                </a:solidFill>
                <a:latin typeface="Consolas"/>
              </a:rPr>
              <a:t>&gt; From: "Ray" &lt;ray@red.primary.com&gt;</a:t>
            </a:r>
            <a:br/>
            <a:r>
              <a:rPr b="1">
                <a:solidFill>
                  <a:srgbClr val="0C2454"/>
                </a:solidFill>
                <a:latin typeface="Consolas"/>
              </a:rPr>
              <a:t>&gt; DKIM-Signature: v=1; a=rsa-sha256; d=blue.primary.com;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_dmarc.red.primary.com: "v=DMARC1; p=none; adkim=s; aspf=s;"</a:t>
            </a:r>
            <a:br/>
            <a:r>
              <a:rPr>
                <a:solidFill>
                  <a:srgbClr val="034BAB"/>
                </a:solidFill>
                <a:latin typeface="Consolas"/>
              </a:rPr>
              <a:t>blue.secondary.com: "v=spf1 ip4:62.165.120.61 ~all"</a:t>
            </a:r>
            <a:br/>
            <a:r>
              <a:rPr>
                <a:solidFill>
                  <a:srgbClr val="034BAB"/>
                </a:solidFill>
                <a:latin typeface="Consolas"/>
              </a:rPr>
              <a:t>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Verb-Noun</a:t>
            </a:r>
          </a:p>
        </p:txBody>
      </p:sp>
      <p:sp>
        <p:nvSpPr>
          <p:cNvPr id="3" name="Content Placeholder 3"/>
          <p:cNvSpPr>
            <a:spLocks noGrp="1"/>
          </p:cNvSpPr>
          <p:nvPr>
            <p:ph idx="1"/>
          </p:nvPr>
        </p:nvSpPr>
        <p:spPr/>
        <p:txBody>
          <a:bodyPr/>
          <a:lstStyle/>
          <a:p>
            <a:pPr lvl="0"/>
            <a:r>
              <a:rPr/>
              <a:t>Every command is named </a:t>
            </a:r>
            <a:r>
              <a:rPr i="1"/>
              <a:t>Verb-Noun</a:t>
            </a:r>
            <a:r>
              <a:rPr/>
              <a:t>: </a:t>
            </a:r>
            <a:r>
              <a:rPr>
                <a:latin typeface="Consolas"/>
              </a:rPr>
              <a:t>Get-Process</a:t>
            </a:r>
            <a:r>
              <a:rPr/>
              <a:t>, </a:t>
            </a:r>
            <a:r>
              <a:rPr>
                <a:latin typeface="Consolas"/>
              </a:rPr>
              <a:t>Stop-Service</a:t>
            </a:r>
            <a:r>
              <a:rPr/>
              <a:t>, </a:t>
            </a:r>
            <a:r>
              <a:rPr>
                <a:latin typeface="Consolas"/>
              </a:rPr>
              <a:t>Export-Csv</a:t>
            </a:r>
          </a:p>
          <a:p>
            <a:pPr lvl="0"/>
            <a:r>
              <a:rPr/>
              <a:t>A short list of approved verbs: </a:t>
            </a:r>
            <a:r>
              <a:rPr>
                <a:latin typeface="Consolas"/>
              </a:rPr>
              <a:t>Get</a:t>
            </a:r>
            <a:r>
              <a:rPr/>
              <a:t>, </a:t>
            </a:r>
            <a:r>
              <a:rPr>
                <a:latin typeface="Consolas"/>
              </a:rPr>
              <a:t>Set</a:t>
            </a:r>
            <a:r>
              <a:rPr/>
              <a:t>, </a:t>
            </a:r>
            <a:r>
              <a:rPr>
                <a:latin typeface="Consolas"/>
              </a:rPr>
              <a:t>New</a:t>
            </a:r>
            <a:r>
              <a:rPr/>
              <a:t>, </a:t>
            </a:r>
            <a:r>
              <a:rPr>
                <a:latin typeface="Consolas"/>
              </a:rPr>
              <a:t>Remove</a:t>
            </a:r>
            <a:r>
              <a:rPr/>
              <a:t>, </a:t>
            </a:r>
            <a:r>
              <a:rPr>
                <a:latin typeface="Consolas"/>
              </a:rPr>
              <a:t>Start</a:t>
            </a:r>
            <a:r>
              <a:rPr/>
              <a:t>, </a:t>
            </a:r>
            <a:r>
              <a:rPr>
                <a:latin typeface="Consolas"/>
              </a:rPr>
              <a:t>Stop</a:t>
            </a:r>
            <a:r>
              <a:rPr/>
              <a:t>, </a:t>
            </a:r>
            <a:r>
              <a:rPr>
                <a:latin typeface="Consolas"/>
              </a:rPr>
              <a:t>Export</a:t>
            </a:r>
            <a:r>
              <a:rPr/>
              <a:t>…</a:t>
            </a:r>
          </a:p>
          <a:p>
            <a:pPr lvl="0"/>
            <a:r>
              <a:rPr/>
              <a:t>Learn the noun, then guess the verb</a:t>
            </a:r>
          </a:p>
          <a:p>
            <a:pPr lvl="0"/>
            <a:r>
              <a:rPr/>
              <a:t>Parameters follow: </a:t>
            </a:r>
            <a:r>
              <a:rPr>
                <a:latin typeface="Consolas"/>
              </a:rPr>
              <a:t>-Name value</a:t>
            </a:r>
            <a:r>
              <a:rPr/>
              <a:t>; Tab completes both</a:t>
            </a:r>
          </a:p>
          <a:p>
            <a:pPr lvl="0" indent="0">
              <a:buNone/>
            </a:pPr>
            <a:r>
              <a:rPr>
                <a:solidFill>
                  <a:srgbClr val="1A1D23"/>
                </a:solidFill>
                <a:latin typeface="Consolas"/>
              </a:rPr>
              <a:t>Get-Verb                       </a:t>
            </a:r>
            <a:r>
              <a:rPr i="1">
                <a:solidFill>
                  <a:srgbClr val="6B7480"/>
                </a:solidFill>
                <a:latin typeface="Consolas"/>
              </a:rPr>
              <a:t># the approved verbs</a:t>
            </a:r>
            <a:b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Service      </a:t>
            </a:r>
            <a:r>
              <a:rPr i="1">
                <a:solidFill>
                  <a:srgbClr val="6B7480"/>
                </a:solidFill>
                <a:latin typeface="Consolas"/>
              </a:rPr>
              <a:t># every verb that works on services</a:t>
            </a:r>
            <a:br/>
            <a:r>
              <a:rPr>
                <a:solidFill>
                  <a:srgbClr val="034BAB"/>
                </a:solidFill>
                <a:latin typeface="Consolas"/>
              </a:rPr>
              <a:t>Get-Service</a:t>
            </a:r>
            <a:r>
              <a:rPr>
                <a:solidFill>
                  <a:srgbClr val="1A1D23"/>
                </a:solidFill>
                <a:latin typeface="Consolas"/>
              </a:rPr>
              <a:t> </a:t>
            </a:r>
            <a:r>
              <a:rPr>
                <a:solidFill>
                  <a:srgbClr val="5A6472"/>
                </a:solidFill>
                <a:latin typeface="Consolas"/>
              </a:rPr>
              <a:t>-</a:t>
            </a:r>
            <a:r>
              <a:rPr>
                <a:solidFill>
                  <a:srgbClr val="1A1D23"/>
                </a:solidFill>
                <a:latin typeface="Consolas"/>
              </a:rPr>
              <a:t>Name Spooler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a:t>
            </a:r>
          </a:p>
        </p:txBody>
      </p:sp>
      <p:sp>
        <p:nvSpPr>
          <p:cNvPr id="3" name="Content Placeholder 3"/>
          <p:cNvSpPr>
            <a:spLocks noGrp="1"/>
          </p:cNvSpPr>
          <p:nvPr>
            <p:ph idx="1"/>
          </p:nvPr>
        </p:nvSpPr>
        <p:spPr/>
        <p:txBody>
          <a:bodyPr/>
          <a:lstStyle/>
          <a:p>
            <a:pPr lvl="0"/>
            <a:r>
              <a:rPr/>
              <a:t>An object is a thing with </a:t>
            </a:r>
            <a:r>
              <a:rPr b="1"/>
              <a:t>properties</a:t>
            </a:r>
            <a:r>
              <a:rPr/>
              <a:t> (data) and </a:t>
            </a:r>
            <a:r>
              <a:rPr b="1"/>
              <a:t>methods</a:t>
            </a:r>
            <a:r>
              <a:rPr/>
              <a:t> (actions)</a:t>
            </a:r>
          </a:p>
          <a:p>
            <a:pPr lvl="1"/>
            <a:r>
              <a:rPr/>
              <a:t>A file: </a:t>
            </a:r>
            <a:r>
              <a:rPr>
                <a:latin typeface="Consolas"/>
              </a:rPr>
              <a:t>Name</a:t>
            </a:r>
            <a:r>
              <a:rPr/>
              <a:t>, </a:t>
            </a:r>
            <a:r>
              <a:rPr>
                <a:latin typeface="Consolas"/>
              </a:rPr>
              <a:t>Length</a:t>
            </a:r>
            <a:r>
              <a:rPr/>
              <a:t>, </a:t>
            </a:r>
            <a:r>
              <a:rPr>
                <a:latin typeface="Consolas"/>
              </a:rPr>
              <a:t>LastWriteTime</a:t>
            </a:r>
            <a:r>
              <a:rPr/>
              <a:t>; </a:t>
            </a:r>
            <a:r>
              <a:rPr>
                <a:latin typeface="Consolas"/>
              </a:rPr>
              <a:t>CopyTo()</a:t>
            </a:r>
            <a:r>
              <a:rPr/>
              <a:t>, </a:t>
            </a:r>
            <a:r>
              <a:rPr>
                <a:latin typeface="Consolas"/>
              </a:rPr>
              <a:t>Delete()</a:t>
            </a:r>
          </a:p>
          <a:p>
            <a:pPr lvl="0"/>
            <a:r>
              <a:rPr/>
              <a:t>Commands return objects, not text; the table on screen is only a view</a:t>
            </a:r>
          </a:p>
          <a:p>
            <a:pPr lvl="0"/>
            <a:r>
              <a:rPr/>
              <a:t>Ask for a property by name instead of cutting columns out of text</a:t>
            </a:r>
          </a:p>
          <a:p>
            <a:pPr lvl="0" indent="0">
              <a:buNone/>
            </a:pP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br/>
            <a:r>
              <a:rPr>
                <a:solidFill>
                  <a:srgbClr val="0C2454"/>
                </a:solidFill>
                <a:latin typeface="Consolas"/>
              </a:rPr>
              <a:t>$File</a:t>
            </a:r>
            <a:r>
              <a:rPr>
                <a:solidFill>
                  <a:srgbClr val="5A6472"/>
                </a:solidFill>
                <a:latin typeface="Consolas"/>
              </a:rPr>
              <a:t>.</a:t>
            </a:r>
            <a:r>
              <a:rPr>
                <a:solidFill>
                  <a:srgbClr val="034BAB"/>
                </a:solidFill>
                <a:latin typeface="Consolas"/>
              </a:rPr>
              <a:t>Length</a:t>
            </a:r>
            <a:r>
              <a:rPr>
                <a:solidFill>
                  <a:srgbClr val="1A1D23"/>
                </a:solidFill>
                <a:latin typeface="Consolas"/>
              </a:rPr>
              <a:t>                  </a:t>
            </a:r>
            <a:r>
              <a:rPr i="1">
                <a:solidFill>
                  <a:srgbClr val="6B7480"/>
                </a:solidFill>
                <a:latin typeface="Consolas"/>
              </a:rPr>
              <a:t># a property: size in bytes</a:t>
            </a:r>
            <a:br/>
            <a:r>
              <a:rPr>
                <a:solidFill>
                  <a:srgbClr val="0C2454"/>
                </a:solidFill>
                <a:latin typeface="Consolas"/>
              </a:rPr>
              <a:t>$File</a:t>
            </a:r>
            <a:r>
              <a:rPr>
                <a:solidFill>
                  <a:srgbClr val="5A6472"/>
                </a:solidFill>
                <a:latin typeface="Consolas"/>
              </a:rPr>
              <a:t>.</a:t>
            </a:r>
            <a:r>
              <a:rPr>
                <a:solidFill>
                  <a:srgbClr val="034BAB"/>
                </a:solidFill>
                <a:latin typeface="Consolas"/>
              </a:rPr>
              <a:t>LastWriteTime</a:t>
            </a:r>
            <a:r>
              <a:rPr>
                <a:solidFill>
                  <a:srgbClr val="5A6472"/>
                </a:solidFill>
                <a:latin typeface="Consolas"/>
              </a:rPr>
              <a:t>.</a:t>
            </a:r>
            <a:r>
              <a:rPr>
                <a:solidFill>
                  <a:srgbClr val="034BAB"/>
                </a:solidFill>
                <a:latin typeface="Consolas"/>
              </a:rPr>
              <a:t>Year</a:t>
            </a:r>
            <a:r>
              <a:rPr>
                <a:solidFill>
                  <a:srgbClr val="1A1D23"/>
                </a:solidFill>
                <a:latin typeface="Consolas"/>
              </a:rPr>
              <a:t>      </a:t>
            </a:r>
            <a:r>
              <a:rPr i="1">
                <a:solidFill>
                  <a:srgbClr val="6B7480"/>
                </a:solidFill>
                <a:latin typeface="Consolas"/>
              </a:rPr>
              <a:t># a property can be an object too</a:t>
            </a:r>
            <a:b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i="1">
                <a:solidFill>
                  <a:srgbClr val="6B7480"/>
                </a:solidFill>
                <a:latin typeface="Consolas"/>
              </a:rPr>
              <a:t># every property and method</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Windows PowerShell 5.1 and PowerShell 7</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695700"/>
                <a:gridCol w="3695700"/>
                <a:gridCol w="3695700"/>
              </a:tblGrid>
              <a:tr h="0">
                <a:tc>
                  <a:txBody>
                    <a:bodyPr/>
                    <a:lstStyle/>
                    <a:p>
                      <a:endParaRPr/>
                    </a:p>
                  </a:txBody>
                  <a:tcPr/>
                </a:tc>
                <a:tc>
                  <a:txBody>
                    <a:bodyPr/>
                    <a:lstStyle/>
                    <a:p>
                      <a:pPr lvl="0" indent="0" marL="0">
                        <a:buNone/>
                      </a:pPr>
                      <a:r>
                        <a:rPr/>
                        <a:t>Windows PowerShell 5.1</a:t>
                      </a:r>
                    </a:p>
                  </a:txBody>
                  <a:tcPr/>
                </a:tc>
                <a:tc>
                  <a:txBody>
                    <a:bodyPr/>
                    <a:lstStyle/>
                    <a:p>
                      <a:pPr lvl="0" indent="0" marL="0">
                        <a:buNone/>
                      </a:pPr>
                      <a:r>
                        <a:rPr/>
                        <a:t>PowerShell 7</a:t>
                      </a:r>
                    </a:p>
                  </a:txBody>
                  <a:tcPr/>
                </a:tc>
              </a:tr>
              <a:tr h="0">
                <a:tc>
                  <a:txBody>
                    <a:bodyPr/>
                    <a:lstStyle/>
                    <a:p>
                      <a:pPr lvl="0" indent="0" marL="0">
                        <a:buNone/>
                      </a:pPr>
                      <a:r>
                        <a:rPr/>
                        <a:t>Comes from</a:t>
                      </a:r>
                    </a:p>
                  </a:txBody>
                </a:tc>
                <a:tc>
                  <a:txBody>
                    <a:bodyPr/>
                    <a:lstStyle/>
                    <a:p>
                      <a:pPr lvl="0" indent="0" marL="0">
                        <a:buNone/>
                      </a:pPr>
                      <a:r>
                        <a:rPr/>
                        <a:t>Built into Windows</a:t>
                      </a:r>
                    </a:p>
                  </a:txBody>
                </a:tc>
                <a:tc>
                  <a:txBody>
                    <a:bodyPr/>
                    <a:lstStyle/>
                    <a:p>
                      <a:pPr lvl="0" indent="0" marL="0">
                        <a:buNone/>
                      </a:pPr>
                      <a:r>
                        <a:rPr/>
                        <a:t>Installed alongside it: </a:t>
                      </a:r>
                      <a:r>
                        <a:rPr>
                          <a:latin typeface="Consolas"/>
                        </a:rPr>
                        <a:t>winget install Microsoft.PowerShell</a:t>
                      </a:r>
                    </a:p>
                  </a:txBody>
                </a:tc>
              </a:tr>
              <a:tr h="0">
                <a:tc>
                  <a:txBody>
                    <a:bodyPr/>
                    <a:lstStyle/>
                    <a:p>
                      <a:pPr lvl="0" indent="0" marL="0">
                        <a:buNone/>
                      </a:pPr>
                      <a:r>
                        <a:rPr/>
                        <a:t>Starts with</a:t>
                      </a:r>
                    </a:p>
                  </a:txBody>
                </a:tc>
                <a:tc>
                  <a:txBody>
                    <a:bodyPr/>
                    <a:lstStyle/>
                    <a:p>
                      <a:pPr lvl="0" indent="0" marL="0">
                        <a:buNone/>
                      </a:pPr>
                      <a:r>
                        <a:rPr>
                          <a:latin typeface="Consolas"/>
                        </a:rPr>
                        <a:t>powershell.exe</a:t>
                      </a:r>
                    </a:p>
                  </a:txBody>
                </a:tc>
                <a:tc>
                  <a:txBody>
                    <a:bodyPr/>
                    <a:lstStyle/>
                    <a:p>
                      <a:pPr lvl="0" indent="0" marL="0">
                        <a:buNone/>
                      </a:pPr>
                      <a:r>
                        <a:rPr>
                          <a:latin typeface="Consolas"/>
                        </a:rPr>
                        <a:t>pwsh.exe</a:t>
                      </a:r>
                    </a:p>
                  </a:txBody>
                </a:tc>
              </a:tr>
              <a:tr h="0">
                <a:tc>
                  <a:txBody>
                    <a:bodyPr/>
                    <a:lstStyle/>
                    <a:p>
                      <a:pPr lvl="0" indent="0" marL="0">
                        <a:buNone/>
                      </a:pPr>
                      <a:r>
                        <a:rPr/>
                        <a:t>Built on</a:t>
                      </a:r>
                    </a:p>
                  </a:txBody>
                </a:tc>
                <a:tc>
                  <a:txBody>
                    <a:bodyPr/>
                    <a:lstStyle/>
                    <a:p>
                      <a:pPr lvl="0" indent="0" marL="0">
                        <a:buNone/>
                      </a:pPr>
                      <a:r>
                        <a:rPr/>
                        <a:t>.NET Framework</a:t>
                      </a:r>
                    </a:p>
                  </a:txBody>
                </a:tc>
                <a:tc>
                  <a:txBody>
                    <a:bodyPr/>
                    <a:lstStyle/>
                    <a:p>
                      <a:pPr lvl="0" indent="0" marL="0">
                        <a:buNone/>
                      </a:pPr>
                      <a:r>
                        <a:rPr/>
                        <a:t>Current .NET; also runs on Linux and macOS</a:t>
                      </a:r>
                    </a:p>
                  </a:txBody>
                </a:tc>
              </a:tr>
              <a:tr h="0">
                <a:tc>
                  <a:txBody>
                    <a:bodyPr/>
                    <a:lstStyle/>
                    <a:p>
                      <a:pPr lvl="0" indent="0" marL="0">
                        <a:buNone/>
                      </a:pPr>
                      <a:r>
                        <a:rPr/>
                        <a:t>Status</a:t>
                      </a:r>
                    </a:p>
                  </a:txBody>
                </a:tc>
                <a:tc>
                  <a:txBody>
                    <a:bodyPr/>
                    <a:lstStyle/>
                    <a:p>
                      <a:pPr lvl="0" indent="0" marL="0">
                        <a:buNone/>
                      </a:pPr>
                      <a:r>
                        <a:rPr/>
                        <a:t>Maintained, not developed further</a:t>
                      </a:r>
                    </a:p>
                  </a:txBody>
                </a:tc>
                <a:tc>
                  <a:txBody>
                    <a:bodyPr/>
                    <a:lstStyle/>
                    <a:p>
                      <a:pPr lvl="0" indent="0" marL="0">
                        <a:buNone/>
                      </a:pPr>
                      <a:r>
                        <a:rPr/>
                        <a:t>Where new features go</a:t>
                      </a:r>
                    </a:p>
                  </a:txBody>
                </a:tc>
              </a:tr>
              <a:tr h="0">
                <a:tc>
                  <a:txBody>
                    <a:bodyPr/>
                    <a:lstStyle/>
                    <a:p>
                      <a:pPr lvl="0" indent="0" marL="0">
                        <a:buNone/>
                      </a:pPr>
                      <a:r>
                        <a:rPr/>
                        <a:t>Which am I in?</a:t>
                      </a:r>
                    </a:p>
                  </a:txBody>
                </a:tc>
                <a:tc>
                  <a:txBody>
                    <a:bodyPr/>
                    <a:lstStyle/>
                    <a:p>
                      <a:pPr lvl="0" indent="0" marL="0">
                        <a:buNone/>
                      </a:pPr>
                      <a:r>
                        <a:rPr>
                          <a:latin typeface="Consolas"/>
                        </a:rPr>
                        <a:t>$PSVersionTable.PSVersion</a:t>
                      </a:r>
                    </a:p>
                  </a:txBody>
                </a:tc>
                <a:tc>
                  <a:txBody>
                    <a:bodyPr/>
                    <a:lstStyle/>
                    <a:p>
                      <a:pPr lvl="0" indent="0" marL="0">
                        <a:buNone/>
                      </a:pPr>
                      <a:r>
                        <a:rPr>
                          <a:latin typeface="Consolas"/>
                        </a:rPr>
                        <a:t>$PSVersionTable.PSVersion</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Default security settings</a:t>
            </a:r>
          </a:p>
        </p:txBody>
      </p:sp>
      <p:sp>
        <p:nvSpPr>
          <p:cNvPr id="3" name="Content Placeholder 3"/>
          <p:cNvSpPr>
            <a:spLocks noGrp="1"/>
          </p:cNvSpPr>
          <p:nvPr>
            <p:ph idx="1"/>
          </p:nvPr>
        </p:nvSpPr>
        <p:spPr/>
        <p:txBody>
          <a:bodyPr/>
          <a:lstStyle/>
          <a:p>
            <a:pPr lvl="0"/>
            <a:r>
              <a:rPr/>
              <a:t>Double-clicking a </a:t>
            </a:r>
            <a:r>
              <a:rPr>
                <a:latin typeface="Consolas"/>
              </a:rPr>
              <a:t>.ps1</a:t>
            </a:r>
            <a:r>
              <a:rPr/>
              <a:t> opens it in Notepad; it does not run</a:t>
            </a:r>
          </a:p>
          <a:p>
            <a:pPr lvl="0"/>
            <a:r>
              <a:rPr/>
              <a:t>A script runs only by path: </a:t>
            </a:r>
            <a:r>
              <a:rPr>
                <a:latin typeface="Consolas"/>
              </a:rPr>
              <a:t>.\Get-Report.ps1</a:t>
            </a:r>
            <a:r>
              <a:rPr/>
              <a:t>, not </a:t>
            </a:r>
            <a:r>
              <a:rPr>
                <a:latin typeface="Consolas"/>
              </a:rPr>
              <a:t>Get-Report.ps1</a:t>
            </a:r>
          </a:p>
          <a:p>
            <a:pPr lvl="0"/>
            <a:r>
              <a:rPr/>
              <a:t>Execution policy</a:t>
            </a:r>
          </a:p>
          <a:p>
            <a:pPr lvl="1"/>
            <a:r>
              <a:rPr/>
              <a:t>Windows PowerShell 5.1: </a:t>
            </a:r>
            <a:r>
              <a:rPr>
                <a:latin typeface="Consolas"/>
              </a:rPr>
              <a:t>Restricted</a:t>
            </a:r>
            <a:r>
              <a:rPr/>
              <a:t> on Windows clients, </a:t>
            </a:r>
            <a:r>
              <a:rPr>
                <a:latin typeface="Consolas"/>
              </a:rPr>
              <a:t>RemoteSigned</a:t>
            </a:r>
            <a:r>
              <a:rPr/>
              <a:t> on Windows Server</a:t>
            </a:r>
          </a:p>
          <a:p>
            <a:pPr lvl="1"/>
            <a:r>
              <a:rPr/>
              <a:t>PowerShell 7 on Windows: </a:t>
            </a:r>
            <a:r>
              <a:rPr>
                <a:latin typeface="Consolas"/>
              </a:rPr>
              <a:t>RemoteSigned</a:t>
            </a:r>
          </a:p>
          <a:p>
            <a:pPr lvl="1"/>
            <a:r>
              <a:rPr>
                <a:latin typeface="Consolas"/>
              </a:rPr>
              <a:t>RemoteSigned</a:t>
            </a:r>
            <a:r>
              <a:rPr/>
              <a:t>: scripts downloaded from the internet must be signed, or unblocked with </a:t>
            </a:r>
            <a:r>
              <a:rPr>
                <a:latin typeface="Consolas"/>
              </a:rPr>
              <a:t>Unblock-File</a:t>
            </a:r>
          </a:p>
          <a:p>
            <a:pPr lvl="0"/>
            <a:r>
              <a:rPr/>
              <a:t>Not a security boundary: the commands can always be pasted in</a:t>
            </a:r>
          </a:p>
          <a:p>
            <a:pPr lvl="0" indent="0">
              <a:buNone/>
            </a:pPr>
            <a:r>
              <a:rPr>
                <a:solidFill>
                  <a:srgbClr val="034BAB"/>
                </a:solidFill>
                <a:latin typeface="Consolas"/>
              </a:rPr>
              <a:t>Get-ExecutionPolicy</a:t>
            </a:r>
            <a:r>
              <a:rPr>
                <a:solidFill>
                  <a:srgbClr val="1A1D23"/>
                </a:solidFill>
                <a:latin typeface="Consolas"/>
              </a:rPr>
              <a:t> </a:t>
            </a:r>
            <a:r>
              <a:rPr>
                <a:solidFill>
                  <a:srgbClr val="5A6472"/>
                </a:solidFill>
                <a:latin typeface="Consolas"/>
              </a:rPr>
              <a:t>-</a:t>
            </a:r>
            <a:r>
              <a:rPr>
                <a:solidFill>
                  <a:srgbClr val="1A1D23"/>
                </a:solidFill>
                <a:latin typeface="Consolas"/>
              </a:rPr>
              <a:t>List</a:t>
            </a:r>
            <a:br/>
            <a:r>
              <a:rPr>
                <a:solidFill>
                  <a:srgbClr val="034BAB"/>
                </a:solidFill>
                <a:latin typeface="Consolas"/>
              </a:rPr>
              <a:t>Set-ExecutionPolicy</a:t>
            </a:r>
            <a:r>
              <a:rPr>
                <a:solidFill>
                  <a:srgbClr val="1A1D23"/>
                </a:solidFill>
                <a:latin typeface="Consolas"/>
              </a:rPr>
              <a:t> </a:t>
            </a:r>
            <a:r>
              <a:rPr>
                <a:solidFill>
                  <a:srgbClr val="5A6472"/>
                </a:solidFill>
                <a:latin typeface="Consolas"/>
              </a:rPr>
              <a:t>-</a:t>
            </a:r>
            <a:r>
              <a:rPr>
                <a:solidFill>
                  <a:srgbClr val="1A1D23"/>
                </a:solidFill>
                <a:latin typeface="Consolas"/>
              </a:rPr>
              <a:t>ExecutionPolicy RemoteSigned </a:t>
            </a:r>
            <a:r>
              <a:rPr>
                <a:solidFill>
                  <a:srgbClr val="5A6472"/>
                </a:solidFill>
                <a:latin typeface="Consolas"/>
              </a:rPr>
              <a:t>-</a:t>
            </a:r>
            <a:r>
              <a:rPr>
                <a:solidFill>
                  <a:srgbClr val="1A1D23"/>
                </a:solidFill>
                <a:latin typeface="Consolas"/>
              </a:rPr>
              <a:t>Scope CurrentUser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b="1">
                <a:solidFill>
                  <a:srgbClr val="0C2454"/>
                </a:solidFill>
                <a:latin typeface="Consolas"/>
              </a:rPr>
              <a:t>function</a:t>
            </a:r>
            <a:r>
              <a:rPr>
                <a:solidFill>
                  <a:srgbClr val="1A1D23"/>
                </a:solidFill>
                <a:latin typeface="Consolas"/>
              </a:rPr>
              <a:t> New-CaseFolder </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CmdletBinding</a:t>
            </a:r>
            <a:r>
              <a:rPr>
                <a:solidFill>
                  <a:srgbClr val="5A6472"/>
                </a:solidFill>
                <a:latin typeface="Consolas"/>
              </a:rPr>
              <a:t>()]</a:t>
            </a:r>
            <a:br/>
            <a:r>
              <a:rPr>
                <a:solidFill>
                  <a:srgbClr val="1A1D23"/>
                </a:solidFill>
                <a:latin typeface="Consolas"/>
              </a:rPr>
              <a:t>    </a:t>
            </a:r>
            <a:r>
              <a:rPr b="1">
                <a:solidFill>
                  <a:srgbClr val="0C2454"/>
                </a:solidFill>
                <a:latin typeface="Consolas"/>
              </a:rPr>
              <a:t>param</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r>
              <a:rPr>
                <a:solidFill>
                  <a:srgbClr val="5A6472"/>
                </a:solidFill>
                <a:latin typeface="Consolas"/>
              </a:rPr>
              <a:t>)</a:t>
            </a:r>
            <a:br/>
            <a:r>
              <a:rPr>
                <a:solidFill>
                  <a:srgbClr val="1A1D23"/>
                </a:solidFill>
                <a:latin typeface="Consolas"/>
              </a:rPr>
              <a:t>    </a:t>
            </a:r>
            <a:r>
              <a:rPr>
                <a:solidFill>
                  <a:srgbClr val="B3352F"/>
                </a:solidFill>
                <a:latin typeface="Consolas"/>
              </a:rPr>
              <a:t>'Collected'</a:t>
            </a:r>
            <a:r>
              <a:rPr>
                <a:solidFill>
                  <a:srgbClr val="5A6472"/>
                </a:solidFill>
                <a:latin typeface="Consolas"/>
              </a:rPr>
              <a:t>,</a:t>
            </a:r>
            <a:r>
              <a:rPr>
                <a:solidFill>
                  <a:srgbClr val="1A1D23"/>
                </a:solidFill>
                <a:latin typeface="Consolas"/>
              </a:rPr>
              <a:t> </a:t>
            </a:r>
            <a:r>
              <a:rPr>
                <a:solidFill>
                  <a:srgbClr val="B3352F"/>
                </a:solidFill>
                <a:latin typeface="Consolas"/>
              </a:rPr>
              <a:t>'Output'</a:t>
            </a:r>
            <a:r>
              <a:rPr>
                <a:solidFill>
                  <a:srgbClr val="5A6472"/>
                </a:solidFill>
                <a:latin typeface="Consolas"/>
              </a:rPr>
              <a:t>,</a:t>
            </a:r>
            <a:r>
              <a:rPr>
                <a:solidFill>
                  <a:srgbClr val="1A1D23"/>
                </a:solidFill>
                <a:latin typeface="Consolas"/>
              </a:rPr>
              <a:t> </a:t>
            </a:r>
            <a:r>
              <a:rPr>
                <a:solidFill>
                  <a:srgbClr val="B3352F"/>
                </a:solidFill>
                <a:latin typeface="Consolas"/>
              </a:rPr>
              <a:t>'Notes'</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ForEach-Object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Write-Verbose</a:t>
            </a:r>
            <a:r>
              <a:rPr>
                <a:solidFill>
                  <a:srgbClr val="1A1D23"/>
                </a:solidFill>
                <a:latin typeface="Consolas"/>
              </a:rPr>
              <a:t> </a:t>
            </a:r>
            <a:r>
              <a:rPr>
                <a:solidFill>
                  <a:srgbClr val="B3352F"/>
                </a:solidFill>
                <a:latin typeface="Consolas"/>
              </a:rPr>
              <a:t>"Creating </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B3352F"/>
                </a:solidFill>
                <a:latin typeface="Consolas"/>
              </a:rPr>
              <a:t>"</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Force</a:t>
            </a:r>
            <a:br/>
            <a:r>
              <a:rPr>
                <a:solidFill>
                  <a:srgbClr val="1A1D23"/>
                </a:solidFill>
                <a:latin typeface="Consolas"/>
              </a:rPr>
              <a:t>    </a:t>
            </a:r>
            <a:r>
              <a:rPr>
                <a:solidFill>
                  <a:srgbClr val="5A6472"/>
                </a:solidFill>
                <a:latin typeface="Consolas"/>
              </a:rPr>
              <a:t>}</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Your own module</a:t>
            </a:r>
          </a:p>
        </p:txBody>
      </p:sp>
      <p:sp>
        <p:nvSpPr>
          <p:cNvPr id="3" name="Content Placeholder 3"/>
          <p:cNvSpPr>
            <a:spLocks noGrp="1"/>
          </p:cNvSpPr>
          <p:nvPr>
            <p:ph idx="1"/>
          </p:nvPr>
        </p:nvSpPr>
        <p:spPr/>
        <p:txBody>
          <a:bodyPr/>
          <a:lstStyle/>
          <a:p>
            <a:pPr lvl="0"/>
            <a:r>
              <a:rPr/>
              <a:t>A </a:t>
            </a:r>
            <a:r>
              <a:rPr>
                <a:latin typeface="Consolas"/>
              </a:rPr>
              <a:t>.psm1</a:t>
            </a:r>
            <a:r>
              <a:rPr/>
              <a:t> file of functions, in a folder of the same name</a:t>
            </a:r>
          </a:p>
          <a:p>
            <a:pPr lvl="0"/>
            <a:r>
              <a:rPr/>
              <a:t>Put it in your personal Modules folder and PowerShell loads it for you</a:t>
            </a:r>
          </a:p>
          <a:p>
            <a:pPr lvl="0"/>
            <a:r>
              <a:rPr>
                <a:latin typeface="Consolas"/>
              </a:rPr>
              <a:t>$env:PSModulePath</a:t>
            </a:r>
            <a:r>
              <a:rPr/>
              <a:t> lists every folder PowerShell searches</a:t>
            </a:r>
          </a:p>
          <a:p>
            <a:pPr lvl="0" indent="0">
              <a:buNone/>
            </a:pPr>
            <a:r>
              <a:rPr>
                <a:latin typeface="Consolas"/>
              </a:rPr>
              <a:t>PowerShell 7
    Documents\PowerShell\Modules\MyTools\MyTools.psm1
Windows PowerShell 5.1
    Documents\WindowsPowerShell\Modules\MyTools\MyTools.psm1
Get-Command -Module MyTools        # in a new window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A disposable VM that returns to a known state after every case</a:t>
            </a:r>
          </a:p>
          <a:p>
            <a:pPr lvl="0"/>
            <a:r>
              <a:rPr/>
              <a:t>Evidence comes in read-only; output, logs and notes go back to the host</a:t>
            </a:r>
          </a:p>
          <a:p>
            <a:pPr lvl="0"/>
            <a:r>
              <a:rPr/>
              <a:t>Windows Server 2025 and the common DFIR tools, built from an unattend file</a:t>
            </a:r>
          </a:p>
          <a:p>
            <a:pPr lvl="0"/>
            <a:r>
              <a:rPr/>
              <a:t>Offline while working a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VMware Workstation Pro</a:t>
            </a:r>
          </a:p>
          <a:p>
            <a:pPr lvl="0"/>
            <a:r>
              <a:rPr/>
              <a:t>System disk: independent, non-persistent</a:t>
            </a:r>
          </a:p>
          <a:p>
            <a:pPr lvl="0"/>
            <a:r>
              <a:rPr/>
              <a:t>Power off, and every change is gone</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Shared Folders on the host</a:t>
            </a:r>
          </a:p>
          <a:p>
            <a:pPr lvl="0"/>
            <a:r>
              <a:rPr/>
              <a:t>Evidence: read-only</a:t>
            </a:r>
          </a:p>
          <a:p>
            <a:pPr lvl="0"/>
            <a:r>
              <a:rPr/>
              <a:t>Cases (output, logs, notes): read-write</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1"/>
            <a:r>
              <a:rPr/>
              <a:t>Windows Server 2025: stable, Defender is a removable feature, no TPM needed</a:t>
            </a:r>
          </a:p>
          <a:p>
            <a:pPr lvl="0"/>
            <a:r>
              <a:rPr/>
              <a:t>Make setup repeatable rather than configuring it by hand each time</a:t>
            </a:r>
          </a:p>
          <a:p>
            <a:pPr lvl="1"/>
            <a:r>
              <a:rPr/>
              <a:t>An unattend file: schneegans.de/windows/unattend-generator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Windows security settings as decisions specific to this machine, not general recommendations</a:t>
            </a:r>
          </a:p>
          <a:p>
            <a:pPr lvl="1"/>
            <a:r>
              <a:rPr/>
              <a:t>Normally I don’t disable security features, but this is a disposable VM and reducing friction matters</a:t>
            </a:r>
          </a:p>
          <a:p>
            <a:pPr lvl="0"/>
            <a:r>
              <a:rPr/>
              <a:t>The changes</a:t>
            </a:r>
          </a:p>
          <a:p>
            <a:pPr lvl="1"/>
            <a:r>
              <a:rPr/>
              <a:t>UAC off, Defender removed</a:t>
            </a:r>
          </a:p>
          <a:p>
            <a:pPr lvl="1"/>
            <a:r>
              <a:rPr/>
              <a:t>Long paths on, last-access updates off</a:t>
            </a:r>
          </a:p>
          <a:p>
            <a:pPr lvl="1"/>
            <a:r>
              <a:rPr/>
              <a:t>File extensions and hidden files shown</a:t>
            </a:r>
          </a:p>
          <a:p>
            <a:pPr lvl="1"/>
            <a:r>
              <a:rPr/>
              <a:t>Clock: UTC, or a second clock set to UTC</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1"/>
            <a:r>
              <a:rPr/>
              <a:t>Eric Zimmerman’s tools, KAPE, FTK Imager, Volatility 3, Plaso</a:t>
            </a:r>
          </a:p>
          <a:p>
            <a:pPr lvl="1"/>
            <a:r>
              <a:rPr/>
              <a:t>Chainsaw, Hayabusa, Autopsy, Office if licensed</a:t>
            </a:r>
          </a:p>
          <a:p>
            <a:pPr lvl="0"/>
            <a:r>
              <a:rPr/>
              <a:t>Chocolatey installs most of them in one line</a:t>
            </a:r>
          </a:p>
          <a:p>
            <a:pPr lvl="0"/>
            <a:r>
              <a:rPr/>
              <a:t>KAPE modules for processing already-collected artifacts</a:t>
            </a:r>
          </a:p>
          <a:p>
            <a:pPr lvl="1"/>
            <a:r>
              <a:rPr/>
              <a:t>Targets collect; modules process what was collected</a:t>
            </a:r>
          </a:p>
          <a:p>
            <a:pPr lvl="0" indent="0">
              <a:buNone/>
            </a:pPr>
            <a:r>
              <a:rPr>
                <a:solidFill>
                  <a:srgbClr val="1A1D23"/>
                </a:solidFill>
                <a:latin typeface="Consolas"/>
              </a:rPr>
              <a:t>choco install </a:t>
            </a:r>
            <a:r>
              <a:rPr>
                <a:solidFill>
                  <a:srgbClr val="5A6472"/>
                </a:solidFill>
                <a:latin typeface="Consolas"/>
              </a:rPr>
              <a:t>-</a:t>
            </a:r>
            <a:r>
              <a:rPr>
                <a:solidFill>
                  <a:srgbClr val="1A1D23"/>
                </a:solidFill>
                <a:latin typeface="Consolas"/>
              </a:rPr>
              <a:t>y ericzimmermantools volatility3 autopsy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Suggested tool list</a:t>
            </a:r>
          </a:p>
        </p:txBody>
      </p:sp>
      <p:sp>
        <p:nvSpPr>
          <p:cNvPr id="3" name="Content Placeholder 3"/>
          <p:cNvSpPr>
            <a:spLocks noGrp="1"/>
          </p:cNvSpPr>
          <p:nvPr>
            <p:ph idx="1"/>
          </p:nvPr>
        </p:nvSpPr>
        <p:spPr/>
        <p:txBody>
          <a:bodyPr/>
          <a:lstStyle/>
          <a:p>
            <a:pPr lvl="0"/>
            <a:r>
              <a:rPr/>
              <a:t>Parsing and timelines: Eric Zimmerman’s tools, KAPE, Chainsaw, Hayabusa, Plaso</a:t>
            </a:r>
          </a:p>
          <a:p>
            <a:pPr lvl="0"/>
            <a:r>
              <a:rPr/>
              <a:t>Disk images and memory: FTK Imager, Arsenal Image Mounter, Autopsy, Volatility 3</a:t>
            </a:r>
          </a:p>
          <a:p>
            <a:pPr lvl="0"/>
            <a:r>
              <a:rPr/>
              <a:t>Files, documents and network: CyberChef, ExifTool, pestudio, oletools, Wireshark</a:t>
            </a:r>
          </a:p>
          <a:p>
            <a:pPr lvl="0"/>
            <a:r>
              <a:rPr/>
              <a:t>Basics: 7-Zip, Sysinternals, VS Code, PowerShell 7, Office if licensed</a:t>
            </a:r>
          </a:p>
          <a:p>
            <a:pPr lvl="0"/>
            <a:r>
              <a:rPr/>
              <a:t>Linux tools: WSL 1</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Thank you</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2026-10-18T14:39:53Z</dcterms:created>
  <dcterms:modified xsi:type="dcterms:W3CDTF">2026-10-18T14:39:53Z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
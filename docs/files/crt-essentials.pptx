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notesMaster" Target="notesMasters/notesMaster1.xml" /><Relationship Id="rId65" Type="http://schemas.openxmlformats.org/officeDocument/2006/relationships/viewProps" Target="viewProps.xml" /><Relationship Id="rId64" Type="http://schemas.openxmlformats.org/officeDocument/2006/relationships/presProps" Target="presProps.xml" /><Relationship Id="rId1" Type="http://schemas.openxmlformats.org/officeDocument/2006/relationships/slideMaster" Target="slideMasters/slideMaster1.xml" /><Relationship Id="rId67" Type="http://schemas.openxmlformats.org/officeDocument/2006/relationships/tableStyles" Target="tableStyles.xml" /><Relationship Id="rId6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https://dzampino.github.io/crt-essentials-2026/</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Timing: introduction 5 minutes, passwords 20, PKI 25, email security 30, PowerShell 20, DFIR box 15, questions and wrap-up 5.</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NIST SP 800-63B-4 covers passwords alongside the other authenticator types: https://pages.nist.gov/800-63-4/sp800-63b.html</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xkcd 936, “Password Strength,” by Randall Munroe: https://xkcd.com/936/ (CC BY-NC 2.5).</a:t>
            </a:r>
          </a:p>
          <a:p>
            <a:pPr lvl="0" indent="0" marL="0">
              <a:buNone/>
            </a:pPr>
          </a:p>
          <a:p>
            <a:pPr lvl="0" indent="0" marL="0">
              <a:buNone/>
            </a:pPr>
            <a:r>
              <a:rPr/>
              <a:t>The explanation holds when the words are randomly selected rather than chosen by a person. The comic’s guess rates are historical, not a present-day benchmark.</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Claude Shannon, as recounted in M. Tribus and E. C. McIrvine, “Energy and Information,” Scientific American 225(3), 1971.</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alphabet/length formula assumes each character, or word, is chosen uniformly at random from the alphabet. Human-chosen passwords do not meet that assumption.</a:t>
            </a:r>
          </a:p>
          <a:p>
            <a:pPr lvl="0" indent="0" marL="0">
              <a:buNone/>
            </a:pPr>
          </a:p>
          <a:p>
            <a:pPr lvl="0" indent="0" marL="0">
              <a:buNone/>
            </a:pPr>
            <a:r>
              <a:rPr/>
              <a:t>Bits = log</a:t>
            </a:r>
            <a:r>
              <a:rPr baseline="-25000"/>
              <a:t>2</a:t>
            </a:r>
            <a:r>
              <a:rPr/>
              <a:t>(alphabet</a:t>
            </a:r>
            <a:r>
              <a:rPr baseline="30000"/>
              <a:t>length</a:t>
            </a:r>
            <a:r>
              <a:rPr/>
              <a:t>) = length × log</a:t>
            </a:r>
            <a:r>
              <a:rPr baseline="-25000"/>
              <a:t>2</a:t>
            </a:r>
            <a:r>
              <a:rPr/>
              <a:t>(alphabet). xkcd 936 uses 11 bits per word (2,048 words). The EFF large wordlist has 7,776 words (five dice): https://www.eff.org/dice</a:t>
            </a:r>
          </a:p>
          <a:p>
            <a:pPr lvl="0" indent="0" marL="0">
              <a:buNone/>
            </a:pPr>
          </a:p>
          <a:p>
            <a:pPr lvl="0" indent="0" marL="0">
              <a:buNone/>
            </a:pPr>
            <a:r>
              <a:rPr/>
              <a:t>Get-PasswordEntropy and Get-PasswordLength on the companion site calculate these.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Switch to the companion site for the entropy calculation: dzampino.github.io/crt-essentials-2026/passwords.html</a:t>
            </a:r>
          </a:p>
          <a:p>
            <a:pPr lvl="0" indent="0" marL="0">
              <a:buNone/>
            </a:pPr>
          </a:p>
          <a:p>
            <a:pPr lvl="0" indent="0" marL="0">
              <a:buNone/>
            </a:pPr>
            <a:r>
              <a:rPr/>
              <a:t>Adding a character multiplies the search space by the alphabet size (adds log</a:t>
            </a:r>
            <a:r>
              <a:rPr baseline="-25000"/>
              <a:t>2</a:t>
            </a:r>
            <a:r>
              <a:rPr/>
              <a:t>(alphabet) bits); doubling the alphabet adds only one bit per character. On average an attacker finds the secret after searching half the space, which is one bit less.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Rates: hashcat v6.2.6 benchmark, RTX 5090 Founders Edition, Chick3nman, February 2025: https://gist.github.com/Chick3nman/09bac0775e6393468c2925c1e1363d5c Average time = (95</a:t>
            </a:r>
            <a:r>
              <a:rPr baseline="30000"/>
              <a:t>8</a:t>
            </a:r>
            <a:r>
              <a:rPr/>
              <a:t> / 2) / rate, a full brute force with no wordlist. Real attacks start with wordlists and rules, so human-chosen passwords fall much faster.</a:t>
            </a:r>
          </a:p>
          <a:p>
            <a:pPr lvl="0" indent="0" marL="0">
              <a:buNone/>
            </a:pPr>
          </a:p>
          <a:p>
            <a:pPr lvl="0" indent="0" marL="0">
              <a:buNone/>
            </a:pPr>
            <a:r>
              <a:rPr/>
              <a:t>Each RTX 5090 draws up to 575 W, all of which becomes heat: about 1,960 BTU/h, or 0.16 tons of cooling per card. The companion site works out power and cooling for each threat level.</a:t>
            </a:r>
          </a:p>
          <a:p>
            <a:pPr lvl="0" indent="0" marL="0">
              <a:buNone/>
            </a:pPr>
          </a:p>
          <a:p>
            <a:pPr lvl="0" indent="0" marL="0">
              <a:buNone/>
            </a:pPr>
            <a:r>
              <a:rPr/>
              <a:t>A stored Windows NT hash and an NTLM protocol exchange (NetNTLMv2, 16.0 G/s on the same card) are different things.</a:t>
            </a:r>
          </a:p>
          <a:p>
            <a:pPr lvl="0" indent="0" marL="0">
              <a:buNone/>
            </a:pPr>
          </a:p>
          <a:p>
            <a:pPr lvl="0" indent="0" marL="0">
              <a:buNone/>
            </a:pPr>
            <a:r>
              <a:rPr/>
              <a:t>OWASP Password Storage Cheat Sheet: https://cheatsheetseries.owasp.org/cheatsheets/Password_Storage_Cheat_Sheet.html Microsoft, Passwords technical overview: https://learn.microsoft.com/en-us/windows-server/security/kerberos/passwords-technical-overview</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NIST SP 800-63B-4 section 3.2.2: rate limiting SHALL limit consecutive failed attempts on an account to no more than 100. Section 3.1.1.2: passwords SHALL be salted (at least 32 bits) and hashed with a suitable password hashing scheme; the cost factor SHOULD be as high as practical. https://pages.nist.gov/800-63-4/sp800-63b.html</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NIST SP 800-63B-4 section 3.1.1.2: minimum 15 characters when a password is used as a single-factor authenticator, 8 when used only as part of MFA; support at least 64 characters; compare against a blocklist; SHALL NOT impose other composition rules; SHALL NOT require periodic changes, but force a change on evidence of compromise. https://pages.nist.gov/800-63-4/sp800-63b.html Have I Been Pwned, Pwned Passwords: https://haveibeenpwned.com/Passwords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5280, Internet X.509 PKI Certificate and CRL Profile: https://www.rfc-editor.org/rfc/rfc5280.html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5280 section 4.1 (fields) and 4.2 (extensions).</a:t>
            </a:r>
          </a:p>
          <a:p>
            <a:pPr lvl="0" indent="0" marL="0">
              <a:buNone/>
            </a:pPr>
          </a:p>
          <a:p>
            <a:pPr lvl="0" indent="0" marL="0">
              <a:buNone/>
            </a:pPr>
            <a:r>
              <a:rPr/>
              <a:t>RFC 9525 section 2: “The Common Name RDN MUST NOT be used to identify a service.” Names are matched against the SAN. https://www.rfc-editor.org/rfc/rfc9525.html</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Inspect it with openssl x509, certutil -dump or XCA.</a:t>
            </a:r>
          </a:p>
          <a:p>
            <a:pPr lvl="0" indent="0" marL="0">
              <a:buNone/>
            </a:pPr>
          </a:p>
          <a:p>
            <a:pPr lvl="0" indent="0" marL="0">
              <a:buNone/>
            </a:pPr>
            <a:r>
              <a:rPr/>
              <a:t>Output trimmed and condensed from: openssl x509 -in training-leaf.pem -noout -text (OpenSSL 3.5). The full subject also has ST=Wisconsin, C=US.</a:t>
            </a:r>
          </a:p>
          <a:p>
            <a:pPr lvl="0" indent="0" marL="0">
              <a:buNone/>
            </a:pPr>
          </a:p>
          <a:p>
            <a:pPr lvl="0" indent="0" marL="0">
              <a:buNone/>
            </a:pPr>
            <a:r>
              <a:rPr/>
              <a:t>Fictional training certificates for the fictional Squeaky Curds Co-op; .example is reserved (RFC 2606), so the names do not exist. No private keys are included. Do not install the training root.</a:t>
            </a:r>
          </a:p>
          <a:p>
            <a:pPr lvl="0" indent="0" marL="0">
              <a:buNone/>
            </a:pPr>
          </a:p>
          <a:p>
            <a:pPr lvl="0" indent="0" marL="0">
              <a:buNone/>
            </a:pPr>
            <a:r>
              <a:rPr/>
              <a:t>XCA, a graphical certificate and key manager: https://hohnstaedt.de/xca/</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training sample is a two-level chain: the root signs the leaf directly. Public CAs issue from intermediates.</a:t>
            </a:r>
          </a:p>
          <a:p>
            <a:pPr lvl="0" indent="0" marL="0">
              <a:buNone/>
            </a:pPr>
          </a:p>
          <a:p>
            <a:pPr lvl="0" indent="0" marL="0">
              <a:buNone/>
            </a:pPr>
            <a:r>
              <a:rPr/>
              <a:t>RFC 5280 section 6 (certification path validation).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7468 (PEM textual encodings), RFC 7292 (PKCS #12), RFC 5652 (CMS, the basis of .p7b), RFC 2986 (PKCS #10).</a:t>
            </a:r>
          </a:p>
          <a:p>
            <a:pPr lvl="0" indent="0" marL="0">
              <a:buNone/>
            </a:pPr>
          </a:p>
          <a:p>
            <a:pPr lvl="0" indent="0" marL="0">
              <a:buNone/>
            </a:pPr>
            <a:r>
              <a:rPr/>
              <a:t>training-leaf.pem and training-leaf.der are the same certificate: both have SHA-256 fingerprint D1:B7:D4:59:…:C0:E5. certutil -dump reads both.</a:t>
            </a:r>
          </a:p>
          <a:p>
            <a:pPr lvl="0" indent="0" marL="0">
              <a:buNone/>
            </a:pPr>
          </a:p>
          <a:p>
            <a:pPr lvl="0" indent="0" marL="0">
              <a:buNone/>
            </a:pPr>
            <a:r>
              <a:rPr/>
              <a:t>OpenSSL on Windows: it comes with Git for Windows, or winget install ShiningLight.OpenSSL.Light (other builds: https://github.com/openssl/openssl/wiki/Binaries).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2986 (PKCS #10): https://www.rfc-editor.org/rfc/rfc2986.html certreq: https://learn.microsoft.com/en-us/windows-server/administration/windows-commands/certreq_1 RFC 8555 (ACME): https://www.rfc-editor.org/rfc/rfc8555.html</a:t>
            </a:r>
          </a:p>
          <a:p>
            <a:pPr lvl="0" indent="0" marL="0">
              <a:buNone/>
            </a:pPr>
          </a:p>
          <a:p>
            <a:pPr lvl="0" indent="0" marL="0">
              <a:buNone/>
            </a:pPr>
            <a:r>
              <a:rPr/>
              <a:t>The training CSR’s public key matches the training leaf: openssl req -in training-request.csr -noout -verify reports “Certificate request self-signature verify OK”.</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common incident-response finding: a missing intermediate works in one browser (which cached or fetched it) and fails in another client.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row was produced against the training files with openssl verify (OpenSSL 3.5); the commands are on the companion site.</a:t>
            </a:r>
          </a:p>
          <a:p>
            <a:pPr lvl="0" indent="0" marL="0">
              <a:buNone/>
            </a:pPr>
          </a:p>
          <a:p>
            <a:pPr lvl="0" indent="0" marL="0">
              <a:buNone/>
            </a:pPr>
            <a:r>
              <a:rPr/>
              <a:t>Revocation: Let’s Encrypt ended its OCSP service on August 6, 2025 and publishes revocation through CRLs only: https://letsencrypt.org/2025/08/06/ocsp-service-has-reached-end-of-life Chrome uses CRLSets rather than online checks for most certificates: https://www.chromium.org/Home/chromium-security/crlsets/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CA/Browser Forum Baseline Requirements section 1.2.2, from ballot SC-081v3 (passed April 2025): https://cabforum.org/working-groups/server/baseline-requirements/requirements/</a:t>
            </a:r>
          </a:p>
          <a:p>
            <a:pPr lvl="0" indent="0" marL="0">
              <a:buNone/>
            </a:pPr>
          </a:p>
          <a:p>
            <a:pPr lvl="0" indent="0" marL="0">
              <a:buNone/>
            </a:pPr>
            <a:r>
              <a:rPr/>
              <a:t>These limits apply to publicly trusted TLS certificates. Internal CAs set their own policy; the training root is not a statement of public Web PKI issuance policy.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5598, Internet Mail Architecture: https://www.rfc-editor.org/rfc/rfc5598.html RFC 5321, SMTP: https://www.rfc-editor.org/rfc/rfc5321.html</a:t>
            </a:r>
          </a:p>
          <a:p>
            <a:pPr lvl="0" indent="0" marL="0">
              <a:buNone/>
            </a:pPr>
          </a:p>
          <a:p>
            <a:pPr lvl="0" indent="0" marL="0">
              <a:buNone/>
            </a:pPr>
            <a:r>
              <a:rPr/>
              <a:t>RFC 6409 section 4.3: the MSA must reject unauthenticated mail by default “unless it has already independently established authentication or authorization (such as being within a protected subnetwork)”. Section 3.1: “A site MAY choose to use port 25 for message submission.” Printers, scanners and applications relaying through an IP-restricted connector are the everyday example. https://www.rfc-editor.org/rfc/rfc6409.html</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5321 section 4.4: the delivering SMTP server inserts Return-Path from the MAIL FROM reverse-path. RFC 5322 section 3.6.2: From, Sender, Reply-To.</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8601, Authentication-Results: https://datatracker.ietf.org/doc/html/rfc8601</a:t>
            </a:r>
          </a:p>
          <a:p>
            <a:pPr lvl="0" indent="0" marL="0">
              <a:buNone/>
            </a:pPr>
          </a:p>
          <a:p>
            <a:pPr lvl="0" indent="0" marL="0">
              <a:buNone/>
            </a:pPr>
            <a:r>
              <a:rPr/>
              <a:t>Message Header Analyzer: paste headers at https://mha.azurewebsites.net/pages/mha.html, or install the Outlook add-in. Source: https://github.com/microsoft/MHA</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7208: SPF checks the MAIL FROM domain (or the HELO domain when MAIL FROM is empty), not the From header. https://www.rfc-editor.org/rfc/rfc7208.html</a:t>
            </a:r>
          </a:p>
          <a:p>
            <a:pPr lvl="0" indent="0" marL="0">
              <a:buNone/>
            </a:pPr>
          </a:p>
          <a:p>
            <a:pPr lvl="0" indent="0" marL="0">
              <a:buNone/>
            </a:pPr>
            <a:r>
              <a:rPr/>
              <a:t>Record from learndmarc.com example 1.</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6376: https://www.rfc-editor.org/rfc/rfc6376.html The d= domain does not have to match the From domain; DMARC is what requires alignment.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9989 (May 2026, Standards Track) obsoletes RFC 7489 and RFC 9091. Section 3.2.10 defines strict and relaxed alignment; adkim and aspf default to r (relaxed). Changes: pct, rf and ri removed; t (test mode), np and psd added; organizational domain found by a DNS tree walk instead of a public suffix list. https://www.rfc-editor.org/rfc/rfc9989.html Aggregate reports: RFC 9990. Failure reports: RFC 9991.</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Transcript from learndmarc.com, abridged. Lines starting &gt; are the client; lines starting . are the server. Ask: what are the sender identities, what did SPF and DKIM return, and does it pass DMARC?</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Transcript from learndmarc.com, abridged.</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Transcript from learndmarc.com, abridged. Note the trap: the sending IP is listed in red.primary.com’s SPF record, but SPF is evaluated against the MAIL FROM domain.</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domains share the organizational domain primary.com, which is why relaxed alignment would have passed.</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RFC 8461 (MTA-STS): https://www.rfc-editor.org/rfc/rfc8461.html RFC 8460 (TLS-RPT): https://www.rfc-editor.org/rfc/rfc8460.html RFC 6686 (Sender ID and SPF experiment resolution): https://www.rfc-editor.org/rfc/rfc6686.html</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Get-Member shows the properties and methods of whatever a command returns.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Get-Help shows local help; run Update-Help once (as administrator in Windows PowerShell 5.1) or use Get-Help -Online.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about_Pipelines: https://learn.microsoft.com/en-us/powershell/module/microsoft.powershell.core/about/about_pipelines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Export-Csv: https://learn.microsoft.com/en-us/powershell/module/microsoft.powershell.utility/export-csv -NoTypeInformation is the default in PowerShell 7 and needed in Windows PowerShell 5.1.</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Working with an existing collection of files. Get-FileInventory, on the companion site, combines these into one function.</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Get-WinEvent: https://learn.microsoft.com/en-us/powershell/module/microsoft.powershell.diagnostics/get-winevent 4624 is a successful logon, 4625 a failed logon. Get-EvtxSummary and Get-LogonEvent on the companion site extend this.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about_Functions_CmdletBindingAttribute and ShouldProcess: https://learn.microsoft.com/en-us/powershell/module/microsoft.powershell.core/about/about_functions_cmdletbindingattribute New-CaseFolder -Path E:\2026-0142 -WhatIf shows what would happen without doing it. The full version on the companion site creates Collected, Output and Notes.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about_Modules: https://learn.microsoft.com/en-us/powershell/module/microsoft.powershell.core/about/about_modules Windows PowerShell 5.1 uses Documentsinstead. Every function on the companion site is in its own copyable block.</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Evidence arrives through the read-only Evidence shared folder; output goes to Cases. The VM stays off the internet during cases.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Independent non-persistent disks discard changes at power-off: https://docs.vmware.com/en/VMware-Workstation-Pro/17/com.vmware.ws.using.doc/GUID-A6792F54-2734-4AF4-9473-C8B9AD8321AF.html Workstation Pro is free for commercial, educational and personal use since November 2024: https://knowledge.broadcom.com/external/article/368667/download-and-license-vmware-desktop-hypervisor.html In the guest, shared folders are at \vmware-hostFolders.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Windows Server hardware requirements list a TPM as required only for certain features: https://learn.microsoft.com/en-us/windows-server/get-started/hardware-requirements Defender on Windows Server is the Windows-Defender feature: https://learn.microsoft.com/en-us/defender-endpoint/microsoft-defender-antivirus-windows-server-configure The 180-day evaluation must be activated online within its first 10 days. The unattend generator is written for Windows 10 and 11. For Server 2025, enter the product key (generic or real) and select the image by name or index.</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UAC off: EnableLUA = 0. Defender: Uninstall-WindowsFeature -Name Windows-Defender. Long paths: LongPathsEnabled = 1. All of these are options in the unattend generator. Commands are on the companion site.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full line on the companion site also installs 7-Zip, Sysinternals and PowerShell 7. KAPE, FTK Imager, Chainsaw and Hayabusa are direct downloads; Chocolatey’s “chainsaw” package is a different program. Plaso runs on Windows through Docker. KAPE and the community KapeFiles repository: https://github.com/EricZimmerman/KapeFiles KAPE is free for CRT members; commercial use needs a Kroll enterprise license: https://www.kroll.com/en/kape-license-agreement</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from the read-only Evidence share, write to Cases. Before power-off, confirm the output is on the Cases share; after power-on, confirm the system disk is clean.</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Logo"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Logo" Type="http://schemas.openxmlformats.org/officeDocument/2006/relationships/image" Target="../media/image1.png"/><Relationship Id="rIdMotif"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rgbClr val="0C245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051560"/>
            <a:ext cx="6903720" cy="2606040"/>
          </a:xfrm>
          <a:prstGeom prst="rect">
            <a:avLst/>
          </a:prstGeom>
        </p:spPr>
        <p:txBody>
          <a:bodyPr vert="horz" wrap="square" lIns="0" tIns="0" rIns="0" bIns="0" rtlCol="0" anchor="b">
            <a:normAutofit/>
          </a:bodyPr>
          <a:lstStyle>
            <a:lvl1pPr algn="l">
              <a:lnSpc>
                <a:spcPct val="90000"/>
              </a:lnSpc>
              <a:defRPr sz="4000" spc="-20">
                <a:solidFill>
                  <a:srgbClr val="FFFFFF"/>
                </a:solidFill>
              </a:defRPr>
            </a:lvl1pPr>
          </a:lstStyle>
          <a:p>
            <a:pPr/>
            <a:r>
              <a:rPr lang="en-US"/>
              <a:t>Training title</a:t>
            </a:r>
          </a:p>
        </p:txBody>
      </p:sp>
      <p:sp>
        <p:nvSpPr>
          <p:cNvPr id="3" name="Subtitle 2"/>
          <p:cNvSpPr>
            <a:spLocks noGrp="1"/>
          </p:cNvSpPr>
          <p:nvPr>
            <p:ph type="subTitle" idx="1"/>
          </p:nvPr>
        </p:nvSpPr>
        <p:spPr>
          <a:xfrm>
            <a:off x="548640" y="3913632"/>
            <a:ext cx="6903720" cy="1600200"/>
          </a:xfrm>
          <a:prstGeom prst="rect">
            <a:avLst/>
          </a:prstGeom>
        </p:spPr>
        <p:txBody>
          <a:bodyPr vert="horz" wrap="square" lIns="0" tIns="0" rIns="0" bIns="0" rtlCol="0" anchor="t">
            <a:normAutofit/>
          </a:bodyPr>
          <a:lstStyle>
            <a:lvl1pPr marL="0" indent="0" algn="l">
              <a:lnSpc>
                <a:spcPct val="100000"/>
              </a:lnSpc>
              <a:spcBef>
                <a:spcPts val="0"/>
              </a:spcBef>
              <a:buNone/>
              <a:defRPr sz="1800">
                <a:solidFill>
                  <a:srgbClr val="CFDEE8"/>
                </a:solidFill>
              </a:defRPr>
            </a:lvl1pPr>
          </a:lstStyle>
          <a:p>
            <a:pPr/>
            <a:r>
              <a:rPr lang="en-US"/>
              <a:t>Subtitle</a:t>
            </a:r>
          </a:p>
        </p:txBody>
      </p:sp>
      <p:sp>
        <p:nvSpPr>
          <p:cNvPr id="4" name="Date Placeholder 3"/>
          <p:cNvSpPr>
            <a:spLocks noGrp="1"/>
          </p:cNvSpPr>
          <p:nvPr>
            <p:ph type="dt" sz="half" idx="10"/>
          </p:nvPr>
        </p:nvSpPr>
        <p:spPr>
          <a:xfrm>
            <a:off x="548640" y="6345936"/>
            <a:ext cx="3657600" cy="274320"/>
          </a:xfrm>
          <a:prstGeom prst="rect">
            <a:avLst/>
          </a:prstGeom>
        </p:spPr>
        <p:txBody>
          <a:bodyPr vert="horz" wrap="square" lIns="0" tIns="0" rIns="0" bIns="0" rtlCol="0" anchor="ctr">
            <a:noAutofit/>
          </a:bodyPr>
          <a:lstStyle>
            <a:lvl1pPr marL="0" indent="0" algn="l">
              <a:buNone/>
              <a:defRPr sz="1000" spc="10">
                <a:solidFill>
                  <a:srgbClr val="8DA2BE"/>
                </a:solidFill>
                <a:latin typeface="+mn-lt"/>
              </a:defRPr>
            </a:lvl1pPr>
          </a:lstStyle>
          <a:p>
            <a:fld id="{6E3B7C51-0A2D-4F8E-B1C4-5D9A0E2F7B13}" type="datetime1">
              <a:rPr lang="en-US"/>
              <a:t>10/16/2026</a:t>
            </a:fld>
            <a:endParaRPr lang="en-US"/>
          </a:p>
        </p:txBody>
      </p:sp>
      <p:pic>
        <p:nvPicPr>
          <p:cNvPr id="5" name="WICRT Badge" descr="Wisconsin Cyber Response Team badge"/>
          <p:cNvPicPr>
            <a:picLocks noChangeAspect="1"/>
          </p:cNvPicPr>
          <p:nvPr userDrawn="1"/>
        </p:nvPicPr>
        <p:blipFill>
          <a:blip r:embed="rIdLogo"/>
          <a:stretch>
            <a:fillRect/>
          </a:stretch>
        </p:blipFill>
        <p:spPr>
          <a:xfrm>
            <a:off x="7757160" y="1444752"/>
            <a:ext cx="3749040" cy="3749040"/>
          </a:xfrm>
          <a:prstGeom prst="rect">
            <a:avLst/>
          </a:prstGeom>
        </p:spPr>
      </p:pic>
    </p:spTree>
  </p:cSld>
  <p:clrMapOvr>
    <a:masterClrMapping/>
  </p:clrMapOvr>
  <p:hf hdr="0" ftr="0" sldNum="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Content Placeholder 3"/>
          <p:cNvSpPr>
            <a:spLocks noGrp="1"/>
          </p:cNvSpPr>
          <p:nvPr>
            <p:ph idx="1"/>
          </p:nvPr>
        </p:nvSpPr>
        <p:spPr>
          <a:xfrm>
            <a:off x="548640" y="1444752"/>
            <a:ext cx="11094720" cy="4608576"/>
          </a:xfrm>
          <a:prstGeom prst="rect">
            <a:avLst/>
          </a:prstGeom>
        </p:spPr>
        <p:txBody>
          <a:bodyPr vert="horz" wrap="square" lIns="0" tIns="36576" rIns="0" bIns="36576" rtlCol="0" anchor="t">
            <a:normAutofit/>
          </a:bodyPr>
          <a:lstStyle/>
          <a:p>
            <a:pPr/>
            <a:r>
              <a:rPr lang="en-US"/>
              <a:t>Content</a:t>
            </a:r>
          </a:p>
          <a:p>
            <a:pPr lvl="1"/>
            <a:r>
              <a:rPr lang="en-US"/>
              <a:t>Second level</a:t>
            </a:r>
          </a:p>
        </p:txBody>
      </p:sp>
      <p:sp>
        <p:nvSpPr>
          <p:cNvPr id="4"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5"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rgbClr val="0C2454"/>
        </a:solidFill>
        <a:effectLst/>
      </p:bgPr>
    </p:bg>
    <p:spTree>
      <p:nvGrpSpPr>
        <p:cNvPr id="1" name=""/>
        <p:cNvGrpSpPr/>
        <p:nvPr/>
      </p:nvGrpSpPr>
      <p:grpSpPr>
        <a:xfrm>
          <a:off x="0" y="0"/>
          <a:ext cx="0" cy="0"/>
          <a:chOff x="0" y="0"/>
          <a:chExt cx="0" cy="0"/>
        </a:xfrm>
      </p:grpSpPr>
      <p:pic>
        <p:nvPicPr>
          <p:cNvPr id="8" name="Circuit Ring">
            <a:extLst>
              <a:ext uri="{C183D7F6-B498-43B3-948B-1728B52AA6E4}">
                <adec:decorative xmlns:adec="http://schemas.microsoft.com/office/drawing/2017/decorative" val="1"/>
              </a:ext>
            </a:extLst>
          </p:cNvPr>
          <p:cNvPicPr>
            <a:picLocks noChangeAspect="1"/>
          </p:cNvPicPr>
          <p:nvPr userDrawn="1"/>
        </p:nvPicPr>
        <p:blipFill>
          <a:blip r:embed="rIdMotif"/>
          <a:stretch>
            <a:fillRect/>
          </a:stretch>
        </p:blipFill>
        <p:spPr>
          <a:xfrm>
            <a:off x="6705600" y="0"/>
            <a:ext cx="5486400" cy="6858000"/>
          </a:xfrm>
          <a:prstGeom prst="rect">
            <a:avLst/>
          </a:prstGeom>
        </p:spPr>
      </p:pic>
      <p:sp>
        <p:nvSpPr>
          <p:cNvPr id="2" name="Title 1"/>
          <p:cNvSpPr>
            <a:spLocks noGrp="1"/>
          </p:cNvSpPr>
          <p:nvPr>
            <p:ph type="title"/>
          </p:nvPr>
        </p:nvSpPr>
        <p:spPr>
          <a:xfrm>
            <a:off x="548640" y="1828800"/>
            <a:ext cx="6766560" cy="2377440"/>
          </a:xfrm>
          <a:prstGeom prst="rect">
            <a:avLst/>
          </a:prstGeom>
        </p:spPr>
        <p:txBody>
          <a:bodyPr vert="horz" wrap="square" lIns="0" tIns="0" rIns="0" bIns="0" rtlCol="0" anchor="b">
            <a:normAutofit/>
          </a:bodyPr>
          <a:lstStyle>
            <a:lvl1pPr algn="l">
              <a:lnSpc>
                <a:spcPct val="90000"/>
              </a:lnSpc>
              <a:defRPr sz="3600" spc="-15">
                <a:solidFill>
                  <a:srgbClr val="FFFFFF"/>
                </a:solidFill>
              </a:defRPr>
            </a:lvl1pPr>
          </a:lstStyle>
          <a:p>
            <a:pPr/>
            <a:r>
              <a:rPr lang="en-US"/>
              <a:t>Section title</a:t>
            </a:r>
          </a:p>
        </p:txBody>
      </p:sp>
      <p:sp>
        <p:nvSpPr>
          <p:cNvPr id="3" name="Text Placeholder 2"/>
          <p:cNvSpPr>
            <a:spLocks noGrp="1"/>
          </p:cNvSpPr>
          <p:nvPr>
            <p:ph type="body" idx="1"/>
          </p:nvPr>
        </p:nvSpPr>
        <p:spPr>
          <a:xfrm>
            <a:off x="548640" y="4434840"/>
            <a:ext cx="6766560" cy="1097280"/>
          </a:xfrm>
          <a:prstGeom prst="rect">
            <a:avLst/>
          </a:prstGeom>
        </p:spPr>
        <p:txBody>
          <a:bodyPr vert="horz" wrap="square" lIns="0" tIns="0" rIns="0" bIns="0" rtlCol="0" anchor="t">
            <a:normAutofit/>
          </a:bodyPr>
          <a:lstStyle>
            <a:lvl1pPr marL="0" indent="0">
              <a:buNone/>
              <a:defRPr sz="1800">
                <a:solidFill>
                  <a:srgbClr val="CFDEE8"/>
                </a:solidFill>
              </a:defRPr>
            </a:lvl1pPr>
          </a:lstStyle>
          <a:p>
            <a:pPr/>
            <a:r>
              <a:rPr lang="en-US"/>
              <a:t>Optional summary line</a:t>
            </a:r>
          </a:p>
        </p:txBody>
      </p:sp>
      <p:pic>
        <p:nvPicPr>
          <p:cNvPr id="4" name="WICRT Badge" descr="Wisconsin Cyber Response Team badge"/>
          <p:cNvPicPr>
            <a:picLocks noChangeAspect="1"/>
          </p:cNvPicPr>
          <p:nvPr userDrawn="1"/>
        </p:nvPicPr>
        <p:blipFill>
          <a:blip r:embed="rIdLogo"/>
          <a:stretch>
            <a:fillRect/>
          </a:stretch>
        </p:blipFill>
        <p:spPr>
          <a:xfrm>
            <a:off x="548640" y="6327648"/>
            <a:ext cx="310896" cy="310896"/>
          </a:xfrm>
          <a:prstGeom prst="rect">
            <a:avLst/>
          </a:prstGeom>
        </p:spPr>
      </p:pic>
      <p:sp>
        <p:nvSpPr>
          <p:cNvPr id="5"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8DA2BE"/>
                </a:solidFill>
                <a:latin typeface="+mn-lt"/>
              </a:defRPr>
            </a:lvl1pPr>
          </a:lstStyle>
          <a:p>
            <a:r>
              <a:rPr lang="en-US"/>
              <a:t>CRT Annual Training Conference 2026</a:t>
            </a:r>
          </a:p>
        </p:txBody>
      </p:sp>
      <p:sp>
        <p:nvSpPr>
          <p:cNvPr id="6"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8DA2BE"/>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Content Placeholder 3"/>
          <p:cNvSpPr>
            <a:spLocks noGrp="1"/>
          </p:cNvSpPr>
          <p:nvPr>
            <p:ph sz="half" idx="1"/>
          </p:nvPr>
        </p:nvSpPr>
        <p:spPr>
          <a:xfrm>
            <a:off x="548640" y="1444752"/>
            <a:ext cx="5364480" cy="4608576"/>
          </a:xfrm>
          <a:prstGeom prst="rect">
            <a:avLst/>
          </a:prstGeom>
        </p:spPr>
        <p:txBody>
          <a:bodyPr vert="horz" wrap="square" lIns="0" tIns="36576" rIns="0" bIns="36576" rtlCol="0" anchor="t">
            <a:normAutofit/>
          </a:bodyPr>
          <a:lstStyle/>
          <a:p>
            <a:pPr/>
            <a:r>
              <a:rPr lang="en-US"/>
              <a:t>Left column</a:t>
            </a:r>
          </a:p>
          <a:p>
            <a:pPr lvl="1"/>
            <a:r>
              <a:rPr lang="en-US"/>
              <a:t>Second level</a:t>
            </a:r>
          </a:p>
        </p:txBody>
      </p:sp>
      <p:sp>
        <p:nvSpPr>
          <p:cNvPr id="4" name="Content Placeholder 4"/>
          <p:cNvSpPr>
            <a:spLocks noGrp="1"/>
          </p:cNvSpPr>
          <p:nvPr>
            <p:ph sz="half" idx="2"/>
          </p:nvPr>
        </p:nvSpPr>
        <p:spPr>
          <a:xfrm>
            <a:off x="6278880" y="1444752"/>
            <a:ext cx="5364480" cy="4608576"/>
          </a:xfrm>
          <a:prstGeom prst="rect">
            <a:avLst/>
          </a:prstGeom>
        </p:spPr>
        <p:txBody>
          <a:bodyPr vert="horz" wrap="square" lIns="0" tIns="36576" rIns="0" bIns="36576" rtlCol="0" anchor="t">
            <a:normAutofit/>
          </a:bodyPr>
          <a:lstStyle/>
          <a:p>
            <a:pPr/>
            <a:r>
              <a:rPr lang="en-US"/>
              <a:t>Right column</a:t>
            </a:r>
          </a:p>
          <a:p>
            <a:pPr lvl="1"/>
            <a:r>
              <a:rPr lang="en-US"/>
              <a:t>Second level</a:t>
            </a:r>
          </a:p>
        </p:txBody>
      </p:sp>
      <p:sp>
        <p:nvSpPr>
          <p:cNvPr id="5"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6"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Text Placeholder 3"/>
          <p:cNvSpPr>
            <a:spLocks noGrp="1"/>
          </p:cNvSpPr>
          <p:nvPr>
            <p:ph type="body" idx="1"/>
          </p:nvPr>
        </p:nvSpPr>
        <p:spPr>
          <a:xfrm>
            <a:off x="548640" y="1444752"/>
            <a:ext cx="5364480" cy="457200"/>
          </a:xfrm>
          <a:prstGeom prst="rect">
            <a:avLst/>
          </a:prstGeom>
        </p:spPr>
        <p:txBody>
          <a:bodyPr vert="horz" wrap="square" lIns="0" tIns="36576" rIns="0" bIns="36576" rtlCol="0" anchor="b">
            <a:normAutofit/>
          </a:bodyPr>
          <a:lstStyle>
            <a:lvl1pPr marL="0" indent="0">
              <a:spcBef>
                <a:spcPts val="0"/>
              </a:spcBef>
              <a:buNone/>
              <a:defRPr sz="1800">
                <a:solidFill>
                  <a:schemeClr val="tx2"/>
                </a:solidFill>
                <a:latin typeface="+mj-lt"/>
              </a:defRPr>
            </a:lvl1pPr>
          </a:lstStyle>
          <a:p>
            <a:pPr/>
            <a:r>
              <a:rPr lang="en-US"/>
              <a:t>Left heading</a:t>
            </a:r>
          </a:p>
        </p:txBody>
      </p:sp>
      <p:sp>
        <p:nvSpPr>
          <p:cNvPr id="4" name="Content Placeholder 4"/>
          <p:cNvSpPr>
            <a:spLocks noGrp="1"/>
          </p:cNvSpPr>
          <p:nvPr>
            <p:ph sz="half" idx="2"/>
          </p:nvPr>
        </p:nvSpPr>
        <p:spPr>
          <a:xfrm>
            <a:off x="548640" y="2039112"/>
            <a:ext cx="5364480" cy="4014216"/>
          </a:xfrm>
          <a:prstGeom prst="rect">
            <a:avLst/>
          </a:prstGeom>
        </p:spPr>
        <p:txBody>
          <a:bodyPr vert="horz" wrap="square" lIns="0" tIns="36576" rIns="0" bIns="36576" rtlCol="0" anchor="t">
            <a:normAutofit/>
          </a:bodyPr>
          <a:lstStyle/>
          <a:p>
            <a:pPr/>
            <a:r>
              <a:rPr lang="en-US"/>
              <a:t>Left content</a:t>
            </a:r>
          </a:p>
          <a:p>
            <a:pPr lvl="1"/>
            <a:r>
              <a:rPr lang="en-US"/>
              <a:t>Second level</a:t>
            </a:r>
          </a:p>
        </p:txBody>
      </p:sp>
      <p:sp>
        <p:nvSpPr>
          <p:cNvPr id="5" name="Text Placeholder 5"/>
          <p:cNvSpPr>
            <a:spLocks noGrp="1"/>
          </p:cNvSpPr>
          <p:nvPr>
            <p:ph type="body" sz="quarter" idx="3"/>
          </p:nvPr>
        </p:nvSpPr>
        <p:spPr>
          <a:xfrm>
            <a:off x="6278880" y="1444752"/>
            <a:ext cx="5364480" cy="457200"/>
          </a:xfrm>
          <a:prstGeom prst="rect">
            <a:avLst/>
          </a:prstGeom>
        </p:spPr>
        <p:txBody>
          <a:bodyPr vert="horz" wrap="square" lIns="0" tIns="36576" rIns="0" bIns="36576" rtlCol="0" anchor="b">
            <a:normAutofit/>
          </a:bodyPr>
          <a:lstStyle>
            <a:lvl1pPr marL="0" indent="0">
              <a:spcBef>
                <a:spcPts val="0"/>
              </a:spcBef>
              <a:buNone/>
              <a:defRPr sz="1800">
                <a:solidFill>
                  <a:schemeClr val="tx2"/>
                </a:solidFill>
                <a:latin typeface="+mj-lt"/>
              </a:defRPr>
            </a:lvl1pPr>
          </a:lstStyle>
          <a:p>
            <a:pPr/>
            <a:r>
              <a:rPr lang="en-US"/>
              <a:t>Right heading</a:t>
            </a:r>
          </a:p>
        </p:txBody>
      </p:sp>
      <p:sp>
        <p:nvSpPr>
          <p:cNvPr id="6" name="Content Placeholder 6"/>
          <p:cNvSpPr>
            <a:spLocks noGrp="1"/>
          </p:cNvSpPr>
          <p:nvPr>
            <p:ph sz="quarter" idx="4"/>
          </p:nvPr>
        </p:nvSpPr>
        <p:spPr>
          <a:xfrm>
            <a:off x="6278880" y="2039112"/>
            <a:ext cx="5364480" cy="4014216"/>
          </a:xfrm>
          <a:prstGeom prst="rect">
            <a:avLst/>
          </a:prstGeom>
        </p:spPr>
        <p:txBody>
          <a:bodyPr vert="horz" wrap="square" lIns="0" tIns="36576" rIns="0" bIns="36576" rtlCol="0" anchor="t">
            <a:normAutofit/>
          </a:bodyPr>
          <a:lstStyle/>
          <a:p>
            <a:pPr/>
            <a:r>
              <a:rPr lang="en-US"/>
              <a:t>Right content</a:t>
            </a:r>
          </a:p>
          <a:p>
            <a:pPr lvl="1"/>
            <a:r>
              <a:rPr lang="en-US"/>
              <a:t>Second level</a:t>
            </a:r>
          </a:p>
        </p:txBody>
      </p:sp>
      <p:sp>
        <p:nvSpPr>
          <p:cNvPr id="7"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8"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4"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3"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Content Placeholder 3"/>
          <p:cNvSpPr>
            <a:spLocks noGrp="1"/>
          </p:cNvSpPr>
          <p:nvPr>
            <p:ph idx="1"/>
          </p:nvPr>
        </p:nvSpPr>
        <p:spPr>
          <a:xfrm>
            <a:off x="4480560" y="1444752"/>
            <a:ext cx="7162800" cy="4608576"/>
          </a:xfrm>
          <a:prstGeom prst="rect">
            <a:avLst/>
          </a:prstGeom>
        </p:spPr>
        <p:txBody>
          <a:bodyPr vert="horz" wrap="square" lIns="0" tIns="36576" rIns="0" bIns="36576" rtlCol="0" anchor="t">
            <a:normAutofit/>
          </a:bodyPr>
          <a:lstStyle/>
          <a:p>
            <a:pPr/>
            <a:r>
              <a:rPr lang="en-US"/>
              <a:t>Image, table or chart</a:t>
            </a:r>
          </a:p>
          <a:p>
            <a:pPr lvl="1"/>
            <a:r>
              <a:rPr lang="en-US"/>
              <a:t>Second level</a:t>
            </a:r>
          </a:p>
        </p:txBody>
      </p:sp>
      <p:sp>
        <p:nvSpPr>
          <p:cNvPr id="4" name="Text Placeholder 4"/>
          <p:cNvSpPr>
            <a:spLocks noGrp="1"/>
          </p:cNvSpPr>
          <p:nvPr>
            <p:ph type="body" sz="half" idx="2"/>
          </p:nvPr>
        </p:nvSpPr>
        <p:spPr>
          <a:xfrm>
            <a:off x="548640" y="1444752"/>
            <a:ext cx="3566160" cy="4608576"/>
          </a:xfrm>
          <a:prstGeom prst="rect">
            <a:avLst/>
          </a:prstGeom>
        </p:spPr>
        <p:txBody>
          <a:bodyPr vert="horz" wrap="square" lIns="0" tIns="36576" rIns="0" bIns="36576" rtlCol="0" anchor="t">
            <a:normAutofit/>
          </a:bodyPr>
          <a:lstStyle>
            <a:lvl1pPr marL="0" indent="0">
              <a:lnSpc>
                <a:spcPct val="110000"/>
              </a:lnSpc>
              <a:spcBef>
                <a:spcPts val="900"/>
              </a:spcBef>
              <a:buNone/>
              <a:defRPr sz="1600">
                <a:solidFill>
                  <a:srgbClr val="5A6472"/>
                </a:solidFill>
              </a:defRPr>
            </a:lvl1pPr>
          </a:lstStyle>
          <a:p>
            <a:pPr/>
            <a:r>
              <a:rPr lang="en-US"/>
              <a:t>Caption or explanation</a:t>
            </a:r>
          </a:p>
        </p:txBody>
      </p:sp>
      <p:sp>
        <p:nvSpPr>
          <p:cNvPr id="5"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6"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Picture Placeholder 2"/>
          <p:cNvSpPr>
            <a:spLocks noGrp="1"/>
          </p:cNvSpPr>
          <p:nvPr>
            <p:ph type="pic" idx="1"/>
          </p:nvPr>
        </p:nvSpPr>
        <p:spPr>
          <a:xfrm>
            <a:off x="4480560" y="1444752"/>
            <a:ext cx="7162800" cy="4608576"/>
          </a:xfrm>
          <a:prstGeom prst="rect">
            <a:avLst/>
          </a:prstGeom>
        </p:spPr>
        <p:txBody>
          <a:bodyPr vert="horz" wrap="square" lIns="0" tIns="36576" rIns="0" bIns="36576" rtlCol="0" anchor="t">
            <a:normAutofit/>
          </a:bodyPr>
          <a:lstStyle>
            <a:lvl1pPr marL="0" indent="0">
              <a:buNone/>
              <a:defRPr sz="1600"/>
            </a:lvl1pPr>
          </a:lstStyle>
          <a:p>
            <a:pPr/>
            <a:r>
              <a:rPr lang="en-US"/>
              <a:t>Picture</a:t>
            </a:r>
          </a:p>
        </p:txBody>
      </p:sp>
      <p:sp>
        <p:nvSpPr>
          <p:cNvPr id="4" name="Text Placeholder 4"/>
          <p:cNvSpPr>
            <a:spLocks noGrp="1"/>
          </p:cNvSpPr>
          <p:nvPr>
            <p:ph type="body" sz="half" idx="2"/>
          </p:nvPr>
        </p:nvSpPr>
        <p:spPr>
          <a:xfrm>
            <a:off x="548640" y="1444752"/>
            <a:ext cx="3566160" cy="4608576"/>
          </a:xfrm>
          <a:prstGeom prst="rect">
            <a:avLst/>
          </a:prstGeom>
        </p:spPr>
        <p:txBody>
          <a:bodyPr vert="horz" wrap="square" lIns="0" tIns="36576" rIns="0" bIns="36576" rtlCol="0" anchor="t">
            <a:normAutofit/>
          </a:bodyPr>
          <a:lstStyle>
            <a:lvl1pPr marL="0" indent="0">
              <a:lnSpc>
                <a:spcPct val="110000"/>
              </a:lnSpc>
              <a:spcBef>
                <a:spcPts val="900"/>
              </a:spcBef>
              <a:buNone/>
              <a:defRPr sz="1600">
                <a:solidFill>
                  <a:srgbClr val="5A6472"/>
                </a:solidFill>
              </a:defRPr>
            </a:lvl1pPr>
          </a:lstStyle>
          <a:p>
            <a:pPr/>
            <a:r>
              <a:rPr lang="en-US"/>
              <a:t>Caption or explanation</a:t>
            </a:r>
          </a:p>
        </p:txBody>
      </p:sp>
      <p:sp>
        <p:nvSpPr>
          <p:cNvPr id="5"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6"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vert="horz" wrap="square" lIns="0" tIns="0" rIns="0" bIns="18288" rtlCol="0" anchor="b">
            <a:normAutofit/>
          </a:bodyPr>
          <a:lstStyle/>
          <a:p>
            <a:pPr/>
            <a:r>
              <a:rPr lang="en-US"/>
              <a:t>Slide title</a:t>
            </a:r>
          </a:p>
        </p:txBody>
      </p:sp>
      <p:sp>
        <p:nvSpPr>
          <p:cNvPr id="3" name="Vertical Text Placeholder 2"/>
          <p:cNvSpPr>
            <a:spLocks noGrp="1"/>
          </p:cNvSpPr>
          <p:nvPr>
            <p:ph type="body" orient="vert" idx="1"/>
          </p:nvPr>
        </p:nvSpPr>
        <p:spPr>
          <a:xfrm>
            <a:off x="548640" y="1444752"/>
            <a:ext cx="11094720" cy="4608576"/>
          </a:xfrm>
          <a:prstGeom prst="rect">
            <a:avLst/>
          </a:prstGeom>
        </p:spPr>
        <p:txBody>
          <a:bodyPr vert="eaVert" lIns="0" tIns="0" rIns="0" bIns="0">
            <a:normAutofit/>
          </a:bodyPr>
          <a:lstStyle/>
          <a:p>
            <a:pPr/>
            <a:r>
              <a:rPr lang="en-US"/>
              <a:t>Vertical text</a:t>
            </a:r>
          </a:p>
        </p:txBody>
      </p:sp>
      <p:sp>
        <p:nvSpPr>
          <p:cNvPr id="4"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5"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80320" y="347472"/>
            <a:ext cx="1463040" cy="5705856"/>
          </a:xfrm>
          <a:prstGeom prst="rect">
            <a:avLst/>
          </a:prstGeom>
        </p:spPr>
        <p:txBody>
          <a:bodyPr vert="eaVert" lIns="0" tIns="0" rIns="0" bIns="0">
            <a:normAutofit/>
          </a:bodyPr>
          <a:lstStyle/>
          <a:p>
            <a:pPr/>
            <a:r>
              <a:rPr lang="en-US"/>
              <a:t>Slide title</a:t>
            </a:r>
          </a:p>
        </p:txBody>
      </p:sp>
      <p:sp>
        <p:nvSpPr>
          <p:cNvPr id="3" name="Vertical Text Placeholder 2"/>
          <p:cNvSpPr>
            <a:spLocks noGrp="1"/>
          </p:cNvSpPr>
          <p:nvPr>
            <p:ph type="body" orient="vert" idx="1"/>
          </p:nvPr>
        </p:nvSpPr>
        <p:spPr>
          <a:xfrm>
            <a:off x="548640" y="347472"/>
            <a:ext cx="9265920" cy="5705856"/>
          </a:xfrm>
          <a:prstGeom prst="rect">
            <a:avLst/>
          </a:prstGeom>
        </p:spPr>
        <p:txBody>
          <a:bodyPr vert="eaVert" lIns="0" tIns="0" rIns="0" bIns="0">
            <a:normAutofit/>
          </a:bodyPr>
          <a:lstStyle/>
          <a:p>
            <a:pPr/>
            <a:r>
              <a:rPr lang="en-US"/>
              <a:t>Vertical text</a:t>
            </a:r>
          </a:p>
        </p:txBody>
      </p:sp>
      <p:sp>
        <p:nvSpPr>
          <p:cNvPr id="4" name="Footer Placeholder"/>
          <p:cNvSpPr>
            <a:spLocks noGrp="1"/>
          </p:cNvSpPr>
          <p:nvPr>
            <p:ph type="ftr" sz="quarter" idx="11"/>
          </p:nvPr>
        </p:nvSpPr>
        <p:spPr>
          <a:xfrm>
            <a:off x="1005840" y="6345936"/>
            <a:ext cx="6949440" cy="274320"/>
          </a:xfrm>
          <a:prstGeom prst="rect">
            <a:avLst/>
          </a:prstGeom>
        </p:spPr>
        <p:txBody>
          <a:bodyPr vert="horz" wrap="square" lIns="0" tIns="0" rIns="0" bIns="0" rtlCol="0" anchor="ctr">
            <a:noAutofit/>
          </a:bodyPr>
          <a:lstStyle>
            <a:lvl1pPr marL="0" indent="0" algn="l">
              <a:buNone/>
              <a:defRPr sz="1000" spc="10">
                <a:solidFill>
                  <a:srgbClr val="5A6472"/>
                </a:solidFill>
                <a:latin typeface="+mn-lt"/>
              </a:defRPr>
            </a:lvl1pPr>
          </a:lstStyle>
          <a:p>
            <a:r>
              <a:rPr lang="en-US"/>
              <a:t>CRT Annual Training Conference 2026</a:t>
            </a:r>
          </a:p>
        </p:txBody>
      </p:sp>
      <p:sp>
        <p:nvSpPr>
          <p:cNvPr id="5" name="Slide Number Placeholder"/>
          <p:cNvSpPr>
            <a:spLocks noGrp="1"/>
          </p:cNvSpPr>
          <p:nvPr>
            <p:ph type="sldNum" sz="quarter" idx="12"/>
          </p:nvPr>
        </p:nvSpPr>
        <p:spPr>
          <a:xfrm>
            <a:off x="11186160" y="6345936"/>
            <a:ext cx="457200" cy="274320"/>
          </a:xfrm>
          <a:prstGeom prst="rect">
            <a:avLst/>
          </a:prstGeom>
        </p:spPr>
        <p:txBody>
          <a:bodyPr vert="horz" wrap="square" lIns="0" tIns="0" rIns="0" bIns="0" rtlCol="0" anchor="ctr">
            <a:noAutofit/>
          </a:bodyPr>
          <a:lstStyle>
            <a:lvl1pPr marL="0" indent="0" algn="r">
              <a:buNone/>
              <a:defRPr sz="1000" spc="10">
                <a:solidFill>
                  <a:srgbClr val="5A6472"/>
                </a:solidFill>
                <a:latin typeface="+mn-lt"/>
              </a:defRPr>
            </a:lvl1pPr>
          </a:lstStyle>
          <a:p>
            <a:fld id="{8A1C2F2E-3D4B-4C6E-9F10-2B7A5C9E1D01}" type="slidenum">
              <a:rPr lang="en-US"/>
              <a:t>‹#›</a:t>
            </a:fld>
            <a:endParaRPr lang="en-US"/>
          </a:p>
        </p:txBody>
      </p:sp>
    </p:spTree>
  </p:cSld>
  <p:clrMapOvr>
    <a:masterClrMapping/>
  </p:clrMapOvr>
  <p:hf hdr="0" dt="0"/>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 Id="rIdLogo" Target="../media/image1.pn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347472"/>
            <a:ext cx="11094720" cy="841248"/>
          </a:xfrm>
          <a:prstGeom prst="rect">
            <a:avLst/>
          </a:prstGeom>
        </p:spPr>
        <p:txBody>
          <a:bodyPr anchor="b" bIns="18288" lIns="0" rIns="0" rtlCol="0" tIns="0" vert="horz" wrap="square">
            <a:normAutofit/>
          </a:bodyPr>
          <a:lstStyle/>
          <a:p>
            <a:pPr/>
            <a:r>
              <a:rPr lang="en-US"/>
              <a:t>Slide title</a:t>
            </a:r>
          </a:p>
        </p:txBody>
      </p:sp>
      <p:sp>
        <p:nvSpPr>
          <p:cNvPr id="3" name="Text Placeholder 2"/>
          <p:cNvSpPr>
            <a:spLocks noGrp="1"/>
          </p:cNvSpPr>
          <p:nvPr>
            <p:ph idx="1" type="body"/>
          </p:nvPr>
        </p:nvSpPr>
        <p:spPr>
          <a:xfrm>
            <a:off x="548640" y="1444752"/>
            <a:ext cx="11094720" cy="4608576"/>
          </a:xfrm>
          <a:prstGeom prst="rect">
            <a:avLst/>
          </a:prstGeom>
        </p:spPr>
        <p:txBody>
          <a:bodyPr anchor="t" bIns="36576" lIns="0" rIns="0" rtlCol="0" tIns="36576" vert="horz" wrap="square">
            <a:normAutofit/>
          </a:bodyPr>
          <a:lstStyle/>
          <a:p>
            <a:pPr/>
            <a:r>
              <a:rPr lang="en-US"/>
              <a:t>First-level point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548640" y="6345936"/>
            <a:ext cx="182880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fld id="{6E3B7C51-0A2D-4F8E-B1C4-5D9A0E2F7B13}" type="datetime1">
              <a:rPr lang="en-US"/>
              <a:t>10/16/2026</a:t>
            </a:fld>
            <a:endParaRPr lang="en-US"/>
          </a:p>
        </p:txBody>
      </p:sp>
      <p:sp>
        <p:nvSpPr>
          <p:cNvPr id="5" name="Footer Placeholder 4"/>
          <p:cNvSpPr>
            <a:spLocks noGrp="1"/>
          </p:cNvSpPr>
          <p:nvPr>
            <p:ph idx="3"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5"/>
          <p:cNvSpPr>
            <a:spLocks noGrp="1"/>
          </p:cNvSpPr>
          <p:nvPr>
            <p:ph idx="4"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pic>
        <p:nvPicPr>
          <p:cNvPr descr="Wisconsin Cyber Response Team badge" id="7" name="WICRT Badge"/>
          <p:cNvPicPr>
            <a:picLocks noChangeAspect="1"/>
          </p:cNvPicPr>
          <p:nvPr userDrawn="1"/>
        </p:nvPicPr>
        <p:blipFill>
          <a:blip r:embed="rIdLogo"/>
          <a:stretch>
            <a:fillRect/>
          </a:stretch>
        </p:blipFill>
        <p:spPr>
          <a:xfrm>
            <a:off x="548640" y="6327648"/>
            <a:ext cx="310896" cy="310896"/>
          </a:xfrm>
          <a:prstGeom prst="rect">
            <a:avLst/>
          </a:prstGeom>
        </p:spPr>
      </p:pic>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hdr="0"/>
  <p:txStyles>
    <p:titleStyle>
      <a:lvl1pPr algn="l" defTabSz="914400" eaLnBrk="1" hangingPunct="1" latinLnBrk="0" rtl="0">
        <a:lnSpc>
          <a:spcPct val="92000"/>
        </a:lnSpc>
        <a:spcBef>
          <a:spcPct val="0"/>
        </a:spcBef>
        <a:buNone/>
        <a:defRPr kern="1200" spc="-10" sz="2800">
          <a:solidFill>
            <a:schemeClr val="tx2"/>
          </a:solidFill>
          <a:latin typeface="+mj-lt"/>
          <a:ea typeface="+mj-ea"/>
          <a:cs typeface="+mj-cs"/>
        </a:defRPr>
      </a:lvl1pPr>
    </p:titleStyle>
    <p:bodyStyle>
      <a:lvl1pPr algn="l" defTabSz="457200" eaLnBrk="1" hangingPunct="1" indent="-274320" latinLnBrk="0" marL="274320" rtl="0">
        <a:lnSpc>
          <a:spcPct val="105000"/>
        </a:lnSpc>
        <a:spcBef>
          <a:spcPts val="1000"/>
        </a:spcBef>
        <a:buClr>
          <a:srgbClr val="E03E3B"/>
        </a:buClr>
        <a:buSzPct val="100000"/>
        <a:buFont panose="020B0604020202020204" typeface="Arial"/>
        <a:buChar char="▪"/>
        <a:defRPr kern="1200" sz="2000">
          <a:solidFill>
            <a:schemeClr val="tx1"/>
          </a:solidFill>
          <a:latin typeface="+mn-lt"/>
          <a:ea typeface="+mn-ea"/>
          <a:cs typeface="+mn-cs"/>
        </a:defRPr>
      </a:lvl1pPr>
      <a:lvl2pPr algn="l" defTabSz="457200" eaLnBrk="1" hangingPunct="1" indent="-237744" latinLnBrk="0" marL="603504" rtl="0">
        <a:lnSpc>
          <a:spcPct val="105000"/>
        </a:lnSpc>
        <a:spcBef>
          <a:spcPts val="400"/>
        </a:spcBef>
        <a:buClr>
          <a:srgbClr val="5A6472"/>
        </a:buClr>
        <a:buSzPct val="100000"/>
        <a:buFont panose="020B0604020202020204" typeface="Arial"/>
        <a:buChar char="–"/>
        <a:defRPr kern="1200" sz="1800">
          <a:solidFill>
            <a:schemeClr val="tx1"/>
          </a:solidFill>
          <a:latin typeface="+mn-lt"/>
          <a:ea typeface="+mn-ea"/>
          <a:cs typeface="+mn-cs"/>
        </a:defRPr>
      </a:lvl2pPr>
      <a:lvl3pPr algn="l" defTabSz="457200" eaLnBrk="1" hangingPunct="1" indent="-201168" latinLnBrk="0" marL="868680" rtl="0">
        <a:lnSpc>
          <a:spcPct val="105000"/>
        </a:lnSpc>
        <a:spcBef>
          <a:spcPts val="300"/>
        </a:spcBef>
        <a:buClr>
          <a:srgbClr val="5A6472"/>
        </a:buClr>
        <a:buSzPct val="90000"/>
        <a:buFont panose="020B0604020202020204" typeface="Arial"/>
        <a:buChar char="•"/>
        <a:defRPr kern="1200" sz="1600">
          <a:solidFill>
            <a:schemeClr val="tx1"/>
          </a:solidFill>
          <a:latin typeface="+mn-lt"/>
          <a:ea typeface="+mn-ea"/>
          <a:cs typeface="+mn-cs"/>
        </a:defRPr>
      </a:lvl3pPr>
      <a:lvl4pPr algn="l" defTabSz="457200" eaLnBrk="1" hangingPunct="1" indent="-182880" latinLnBrk="0" marL="1143000" rtl="0">
        <a:lnSpc>
          <a:spcPct val="105000"/>
        </a:lnSpc>
        <a:spcBef>
          <a:spcPts val="200"/>
        </a:spcBef>
        <a:buClr>
          <a:srgbClr val="5A6472"/>
        </a:buClr>
        <a:buSzPct val="100000"/>
        <a:buFont panose="020B0604020202020204" typeface="Arial"/>
        <a:buChar char="–"/>
        <a:defRPr kern="1200" sz="1400">
          <a:solidFill>
            <a:schemeClr val="tx1"/>
          </a:solidFill>
          <a:latin typeface="+mn-lt"/>
          <a:ea typeface="+mn-ea"/>
          <a:cs typeface="+mn-cs"/>
        </a:defRPr>
      </a:lvl4pPr>
      <a:lvl5pPr algn="l" defTabSz="457200" eaLnBrk="1" hangingPunct="1" indent="-182880" latinLnBrk="0" marL="141732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5pPr>
      <a:lvl6pPr algn="l" defTabSz="457200" eaLnBrk="1" hangingPunct="1" indent="-182880" latinLnBrk="0" marL="169164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6pPr>
      <a:lvl7pPr algn="l" defTabSz="457200" eaLnBrk="1" hangingPunct="1" indent="-182880" latinLnBrk="0" marL="196596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7pPr>
      <a:lvl8pPr algn="l" defTabSz="457200" eaLnBrk="1" hangingPunct="1" indent="-182880" latinLnBrk="0" marL="224028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8pPr>
      <a:lvl9pPr algn="l" defTabSz="457200" eaLnBrk="1" hangingPunct="1" indent="-182880" latinLnBrk="0" marL="2514600" rtl="0">
        <a:lnSpc>
          <a:spcPct val="105000"/>
        </a:lnSpc>
        <a:spcBef>
          <a:spcPts val="200"/>
        </a:spcBef>
        <a:buClr>
          <a:srgbClr val="5A6472"/>
        </a:buClr>
        <a:buSzPct val="90000"/>
        <a:buFont panose="020B0604020202020204" typeface="Arial"/>
        <a:buChar char="•"/>
        <a:defRPr kern="1200" sz="14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3.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hyperlink" Target="https://xkcd.com/936/" TargetMode="External" /><Relationship Id="rId4"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5.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0.xml" /><Relationship Id="rId3" Type="http://schemas.openxmlformats.org/officeDocument/2006/relationships/image" Target="../media/image6.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051560"/>
            <a:ext cx="6903720" cy="2606040"/>
          </a:xfrm>
          <a:prstGeom prst="rect">
            <a:avLst/>
          </a:prstGeom>
        </p:spPr>
        <p:txBody>
          <a:bodyPr/>
          <a:lstStyle/>
          <a:p>
            <a:pPr lvl="0" indent="0" marL="0">
              <a:buNone/>
            </a:pPr>
            <a:r>
              <a:rPr/>
              <a:t>CRT Essentials</a:t>
            </a:r>
          </a:p>
        </p:txBody>
      </p:sp>
      <p:sp>
        <p:nvSpPr>
          <p:cNvPr id="3" name="Subtitle 2"/>
          <p:cNvSpPr>
            <a:spLocks noGrp="1"/>
          </p:cNvSpPr>
          <p:nvPr>
            <p:ph idx="1" type="subTitle"/>
          </p:nvPr>
        </p:nvSpPr>
        <p:spPr>
          <a:xfrm>
            <a:off x="548640" y="3913632"/>
            <a:ext cx="6903720" cy="1600200"/>
          </a:xfrm>
          <a:prstGeom prst="rect">
            <a:avLst/>
          </a:prstGeom>
        </p:spPr>
        <p:txBody>
          <a:bodyPr/>
          <a:lstStyle/>
          <a:p>
            <a:pPr lvl="0" indent="0" marL="0">
              <a:buNone/>
            </a:pPr>
            <a:r>
              <a:rPr/>
              <a:t>or The Dave Zampino Power Hour</a:t>
            </a:r>
            <a:br/>
            <a:br/>
            <a:r>
              <a:rPr/>
              <a:t>David Zampino</a:t>
            </a:r>
          </a:p>
        </p:txBody>
      </p:sp>
      <p:sp>
        <p:nvSpPr>
          <p:cNvPr id="4" name="Date Placeholder 3"/>
          <p:cNvSpPr>
            <a:spLocks noGrp="1"/>
          </p:cNvSpPr>
          <p:nvPr>
            <p:ph idx="10" sz="half" type="dt"/>
          </p:nvPr>
        </p:nvSpPr>
        <p:spPr>
          <a:xfrm>
            <a:off x="548640" y="6345936"/>
            <a:ext cx="3657600" cy="274320"/>
          </a:xfrm>
          <a:prstGeom prst="rect">
            <a:avLst/>
          </a:prstGeom>
        </p:spPr>
        <p:txBody>
          <a:bodyPr/>
          <a:lstStyle/>
          <a:p>
            <a:pPr lvl="0" indent="0" marL="0">
              <a:buNone/>
            </a:pPr>
            <a:r>
              <a:rPr/>
              <a:t>October 18,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dzampino.github.io/crt-essentials-2026</a:t>
            </a:r>
          </a:p>
        </p:txBody>
      </p:sp>
      <p:pic>
        <p:nvPicPr>
          <p:cNvPr descr="QR code linking to dzampino.github.io/crt-essentials-2026" id="0" name="Picture 1"/>
          <p:cNvPicPr>
            <a:picLocks noGrp="1" noChangeAspect="1"/>
          </p:cNvPicPr>
          <p:nvPr/>
        </p:nvPicPr>
        <p:blipFill>
          <a:blip r:embed="rId3"/>
          <a:stretch>
            <a:fillRect/>
          </a:stretch>
        </p:blipFill>
        <p:spPr bwMode="auto">
          <a:xfrm>
            <a:off x="3784600" y="1435100"/>
            <a:ext cx="4597400" cy="4597400"/>
          </a:xfrm>
          <a:prstGeom prst="rect">
            <a:avLst/>
          </a:prstGeom>
          <a:noFill/>
          <a:ln w="9525">
            <a:noFill/>
            <a:headEnd/>
            <a:tailEnd/>
          </a:ln>
        </p:spPr>
      </p:pic>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Agenda</a:t>
            </a:r>
          </a:p>
        </p:txBody>
      </p:sp>
      <p:sp>
        <p:nvSpPr>
          <p:cNvPr id="3" name="Content Placeholder 3"/>
          <p:cNvSpPr>
            <a:spLocks noGrp="1"/>
          </p:cNvSpPr>
          <p:nvPr>
            <p:ph idx="1"/>
          </p:nvPr>
        </p:nvSpPr>
        <p:spPr/>
        <p:txBody>
          <a:bodyPr/>
          <a:lstStyle/>
          <a:p>
            <a:pPr lvl="0">
              <a:buAutoNum type="arabicPeriod"/>
            </a:pPr>
            <a:r>
              <a:rPr/>
              <a:t>Passwords</a:t>
            </a:r>
          </a:p>
          <a:p>
            <a:pPr lvl="0">
              <a:buAutoNum type="arabicPeriod"/>
            </a:pPr>
            <a:r>
              <a:rPr/>
              <a:t>PKI</a:t>
            </a:r>
          </a:p>
          <a:p>
            <a:pPr lvl="0">
              <a:buAutoNum type="arabicPeriod"/>
            </a:pPr>
            <a:r>
              <a:rPr/>
              <a:t>Email security</a:t>
            </a:r>
          </a:p>
          <a:p>
            <a:pPr lvl="0">
              <a:buAutoNum type="arabicPeriod"/>
            </a:pPr>
            <a:r>
              <a:rPr/>
              <a:t>PowerShell</a:t>
            </a:r>
          </a:p>
          <a:p>
            <a:pPr lvl="0">
              <a:buAutoNum type="arabicPeriod"/>
            </a:pPr>
            <a:r>
              <a:rPr/>
              <a:t>Building a Windows DFIR box</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Passwords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Authentication</a:t>
            </a:r>
          </a:p>
        </p:txBody>
      </p:sp>
      <p:sp>
        <p:nvSpPr>
          <p:cNvPr id="3" name="Content Placeholder 3"/>
          <p:cNvSpPr>
            <a:spLocks noGrp="1"/>
          </p:cNvSpPr>
          <p:nvPr>
            <p:ph idx="1"/>
          </p:nvPr>
        </p:nvSpPr>
        <p:spPr/>
        <p:txBody>
          <a:bodyPr/>
          <a:lstStyle/>
          <a:p>
            <a:pPr lvl="0"/>
            <a:r>
              <a:rPr/>
              <a:t>Something you know, something you are, something you have</a:t>
            </a:r>
          </a:p>
          <a:p>
            <a:pPr lvl="0"/>
            <a:r>
              <a:rPr/>
              <a:t>Passwords are something you know; we refer to them as secrets</a:t>
            </a:r>
          </a:p>
          <a:p>
            <a:pPr lvl="1"/>
            <a:r>
              <a:rPr/>
              <a:t>Other types of secrets: passphrases, PINs, secret questions</a:t>
            </a:r>
          </a:p>
          <a:p>
            <a:pPr lvl="0"/>
            <a:r>
              <a:rPr/>
              <a:t>Goal in all authentication methods is </a:t>
            </a:r>
            <a:r>
              <a:rPr b="1"/>
              <a:t>good enough</a:t>
            </a:r>
            <a:r>
              <a:rPr/>
              <a:t> uniqueness</a:t>
            </a:r>
          </a:p>
          <a:p>
            <a:pPr lvl="0"/>
            <a:r>
              <a:rPr/>
              <a:t>We can add behavior to assist in making risk assessments</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correct horse battery staple</a:t>
            </a:r>
          </a:p>
        </p:txBody>
      </p:sp>
      <p:sp>
        <p:nvSpPr>
          <p:cNvPr id="4" name="Text Placeholder 4"/>
          <p:cNvSpPr>
            <a:spLocks noGrp="1"/>
          </p:cNvSpPr>
          <p:nvPr>
            <p:ph idx="2" sz="half" type="body"/>
          </p:nvPr>
        </p:nvSpPr>
        <p:spPr/>
        <p:txBody>
          <a:bodyPr/>
          <a:lstStyle/>
          <a:p>
            <a:pPr lvl="0" indent="0" marL="0">
              <a:buNone/>
            </a:pPr>
            <a:r>
              <a:rPr/>
              <a:t>xkcd 936, “Password Strength”</a:t>
            </a:r>
          </a:p>
          <a:p>
            <a:pPr lvl="0" indent="0" marL="0">
              <a:buNone/>
            </a:pPr>
            <a:r>
              <a:rPr>
                <a:hlinkClick r:id="rId3"/>
              </a:rPr>
              <a:t>https://xkcd.com/936/</a:t>
            </a:r>
          </a:p>
        </p:txBody>
      </p:sp>
      <p:pic>
        <p:nvPicPr>
          <p:cNvPr descr="xkcd 936 comic: Tr0ub4dor&amp;3 is hard to remember and has about 28 bits of entropy; correct horse battery staple, four random common words, is easy to remember and has about 44 bits" id="0" name="Picture 1"/>
          <p:cNvPicPr>
            <a:picLocks noGrp="1" noChangeAspect="1"/>
          </p:cNvPicPr>
          <p:nvPr/>
        </p:nvPicPr>
        <p:blipFill>
          <a:blip r:embed="rId4"/>
          <a:stretch>
            <a:fillRect/>
          </a:stretch>
        </p:blipFill>
        <p:spPr bwMode="auto">
          <a:xfrm>
            <a:off x="5219700" y="1435100"/>
            <a:ext cx="5664200" cy="4597400"/>
          </a:xfrm>
          <a:prstGeom prst="rect">
            <a:avLst/>
          </a:prstGeom>
          <a:noFill/>
          <a:ln w="9525">
            <a:noFill/>
            <a:headEnd/>
            <a:tailEnd/>
          </a:ln>
        </p:spPr>
      </p:pic>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Entropy</a:t>
            </a:r>
          </a:p>
        </p:txBody>
      </p:sp>
      <p:sp>
        <p:nvSpPr>
          <p:cNvPr id="3" name="Content Placeholder 3"/>
          <p:cNvSpPr>
            <a:spLocks noGrp="1"/>
          </p:cNvSpPr>
          <p:nvPr>
            <p:ph idx="1"/>
          </p:nvPr>
        </p:nvSpPr>
        <p:spPr/>
        <p:txBody>
          <a:bodyPr/>
          <a:lstStyle/>
          <a:p>
            <a:pPr lvl="0" indent="0" marL="0">
              <a:buNone/>
            </a:pPr>
            <a:r>
              <a:rPr/>
              <a:t>“My greatest concern was what to call it. I thought of calling it ‘information,’ but the word was overly used, so I decided to call it ‘uncertainty.’ When I discussed it with John von Neumann, he had a better idea. Von Neumann told me, ‘You should call it entropy, for two reasons. In the first place your uncertainty function has been used in statistical mechanics under that name, so it already has a name. In the second place, and more important, no one really knows what entropy really is, so in a debate you will always have the advantage.’”</a:t>
            </a:r>
          </a:p>
          <a:p>
            <a:pPr lvl="0" indent="0" marL="0">
              <a:buNone/>
            </a:pPr>
            <a:r>
              <a:rPr/>
              <a:t>— Claude Shannon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Entropy (cont.)</a:t>
            </a:r>
          </a:p>
        </p:txBody>
      </p:sp>
      <p:sp>
        <p:nvSpPr>
          <p:cNvPr id="4" name="Text Placeholder 4"/>
          <p:cNvSpPr>
            <a:spLocks noGrp="1"/>
          </p:cNvSpPr>
          <p:nvPr>
            <p:ph idx="2" sz="half" type="body"/>
          </p:nvPr>
        </p:nvSpPr>
        <p:spPr/>
        <p:txBody>
          <a:bodyPr/>
          <a:lstStyle/>
          <a:p>
            <a:pPr lvl="0"/>
            <a:r>
              <a:rPr/>
              <a:t>Bits of entropy (aka shannons) = log</a:t>
            </a:r>
            <a:r>
              <a:rPr baseline="-25000"/>
              <a:t>2</a:t>
            </a:r>
            <a:r>
              <a:rPr/>
              <a:t>(search space)</a:t>
            </a:r>
          </a:p>
          <a:p>
            <a:pPr lvl="0"/>
            <a:r>
              <a:rPr/>
              <a:t>Search space = alphabet</a:t>
            </a:r>
            <a:r>
              <a:rPr baseline="30000"/>
              <a:t>length</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1790700"/>
                <a:gridCol w="1790700"/>
                <a:gridCol w="1790700"/>
                <a:gridCol w="1790700"/>
              </a:tblGrid>
              <a:tr h="0">
                <a:tc>
                  <a:txBody>
                    <a:bodyPr/>
                    <a:lstStyle/>
                    <a:p>
                      <a:pPr lvl="0" indent="0" marL="0">
                        <a:buNone/>
                      </a:pPr>
                      <a:r>
                        <a:rPr/>
                        <a:t>Secret</a:t>
                      </a:r>
                    </a:p>
                  </a:txBody>
                  <a:tcPr/>
                </a:tc>
                <a:tc>
                  <a:txBody>
                    <a:bodyPr/>
                    <a:lstStyle/>
                    <a:p>
                      <a:pPr lvl="0" indent="0" marL="0" algn="r">
                        <a:buNone/>
                      </a:pPr>
                      <a:r>
                        <a:rPr/>
                        <a:t>Alphabet</a:t>
                      </a:r>
                    </a:p>
                  </a:txBody>
                  <a:tcPr/>
                </a:tc>
                <a:tc>
                  <a:txBody>
                    <a:bodyPr/>
                    <a:lstStyle/>
                    <a:p>
                      <a:pPr lvl="0" indent="0" marL="0" algn="r">
                        <a:buNone/>
                      </a:pPr>
                      <a:r>
                        <a:rPr/>
                        <a:t>Length</a:t>
                      </a:r>
                    </a:p>
                  </a:txBody>
                  <a:tcPr/>
                </a:tc>
                <a:tc>
                  <a:txBody>
                    <a:bodyPr/>
                    <a:lstStyle/>
                    <a:p>
                      <a:pPr lvl="0" indent="0" marL="0" algn="r">
                        <a:buNone/>
                      </a:pPr>
                      <a:r>
                        <a:rPr/>
                        <a:t>Bits</a:t>
                      </a:r>
                    </a:p>
                  </a:txBody>
                  <a:tcPr/>
                </a:tc>
              </a:tr>
              <a:tr h="0">
                <a:tc>
                  <a:txBody>
                    <a:bodyPr/>
                    <a:lstStyle/>
                    <a:p>
                      <a:pPr lvl="0" indent="0" marL="0">
                        <a:buNone/>
                      </a:pPr>
                      <a:r>
                        <a:rPr/>
                        <a:t>6-digit PIN</a:t>
                      </a:r>
                    </a:p>
                  </a:txBody>
                </a:tc>
                <a:tc>
                  <a:txBody>
                    <a:bodyPr/>
                    <a:lstStyle/>
                    <a:p>
                      <a:pPr lvl="0" indent="0" marL="0" algn="r">
                        <a:buNone/>
                      </a:pPr>
                      <a:r>
                        <a:rPr/>
                        <a:t>10</a:t>
                      </a:r>
                    </a:p>
                  </a:txBody>
                </a:tc>
                <a:tc>
                  <a:txBody>
                    <a:bodyPr/>
                    <a:lstStyle/>
                    <a:p>
                      <a:pPr lvl="0" indent="0" marL="0" algn="r">
                        <a:buNone/>
                      </a:pPr>
                      <a:r>
                        <a:rPr/>
                        <a:t>6</a:t>
                      </a:r>
                    </a:p>
                  </a:txBody>
                </a:tc>
                <a:tc>
                  <a:txBody>
                    <a:bodyPr/>
                    <a:lstStyle/>
                    <a:p>
                      <a:pPr lvl="0" indent="0" marL="0" algn="r">
                        <a:buNone/>
                      </a:pPr>
                      <a:r>
                        <a:rPr/>
                        <a:t>19.9</a:t>
                      </a:r>
                    </a:p>
                  </a:txBody>
                </a:tc>
              </a:tr>
              <a:tr h="0">
                <a:tc>
                  <a:txBody>
                    <a:bodyPr/>
                    <a:lstStyle/>
                    <a:p>
                      <a:pPr lvl="0" indent="0" marL="0">
                        <a:buNone/>
                      </a:pPr>
                      <a:r>
                        <a:rPr/>
                        <a:t>Lowercase</a:t>
                      </a:r>
                    </a:p>
                  </a:txBody>
                </a:tc>
                <a:tc>
                  <a:txBody>
                    <a:bodyPr/>
                    <a:lstStyle/>
                    <a:p>
                      <a:pPr lvl="0" indent="0" marL="0" algn="r">
                        <a:buNone/>
                      </a:pPr>
                      <a:r>
                        <a:rPr/>
                        <a:t>26</a:t>
                      </a:r>
                    </a:p>
                  </a:txBody>
                </a:tc>
                <a:tc>
                  <a:txBody>
                    <a:bodyPr/>
                    <a:lstStyle/>
                    <a:p>
                      <a:pPr lvl="0" indent="0" marL="0" algn="r">
                        <a:buNone/>
                      </a:pPr>
                      <a:r>
                        <a:rPr/>
                        <a:t>8</a:t>
                      </a:r>
                    </a:p>
                  </a:txBody>
                </a:tc>
                <a:tc>
                  <a:txBody>
                    <a:bodyPr/>
                    <a:lstStyle/>
                    <a:p>
                      <a:pPr lvl="0" indent="0" marL="0" algn="r">
                        <a:buNone/>
                      </a:pPr>
                      <a:r>
                        <a:rPr/>
                        <a:t>37.6</a:t>
                      </a:r>
                    </a:p>
                  </a:txBody>
                </a:tc>
              </a:tr>
              <a:tr h="0">
                <a:tc>
                  <a:txBody>
                    <a:bodyPr/>
                    <a:lstStyle/>
                    <a:p>
                      <a:pPr lvl="0" indent="0" marL="0">
                        <a:buNone/>
                      </a:pPr>
                      <a:r>
                        <a:rPr/>
                        <a:t>xkcd words</a:t>
                      </a:r>
                    </a:p>
                  </a:txBody>
                </a:tc>
                <a:tc>
                  <a:txBody>
                    <a:bodyPr/>
                    <a:lstStyle/>
                    <a:p>
                      <a:pPr lvl="0" indent="0" marL="0" algn="r">
                        <a:buNone/>
                      </a:pPr>
                      <a:r>
                        <a:rPr/>
                        <a:t>2,048</a:t>
                      </a:r>
                    </a:p>
                  </a:txBody>
                </a:tc>
                <a:tc>
                  <a:txBody>
                    <a:bodyPr/>
                    <a:lstStyle/>
                    <a:p>
                      <a:pPr lvl="0" indent="0" marL="0" algn="r">
                        <a:buNone/>
                      </a:pPr>
                      <a:r>
                        <a:rPr/>
                        <a:t>4</a:t>
                      </a:r>
                    </a:p>
                  </a:txBody>
                </a:tc>
                <a:tc>
                  <a:txBody>
                    <a:bodyPr/>
                    <a:lstStyle/>
                    <a:p>
                      <a:pPr lvl="0" indent="0" marL="0" algn="r">
                        <a:buNone/>
                      </a:pPr>
                      <a:r>
                        <a:rPr/>
                        <a:t>44.0</a:t>
                      </a:r>
                    </a:p>
                  </a:txBody>
                </a:tc>
              </a:tr>
              <a:tr h="0">
                <a:tc>
                  <a:txBody>
                    <a:bodyPr/>
                    <a:lstStyle/>
                    <a:p>
                      <a:pPr lvl="0" indent="0" marL="0">
                        <a:buNone/>
                      </a:pPr>
                      <a:r>
                        <a:rPr/>
                        <a:t>EFF wordlist</a:t>
                      </a:r>
                    </a:p>
                  </a:txBody>
                </a:tc>
                <a:tc>
                  <a:txBody>
                    <a:bodyPr/>
                    <a:lstStyle/>
                    <a:p>
                      <a:pPr lvl="0" indent="0" marL="0" algn="r">
                        <a:buNone/>
                      </a:pPr>
                      <a:r>
                        <a:rPr/>
                        <a:t>7,776</a:t>
                      </a:r>
                    </a:p>
                  </a:txBody>
                </a:tc>
                <a:tc>
                  <a:txBody>
                    <a:bodyPr/>
                    <a:lstStyle/>
                    <a:p>
                      <a:pPr lvl="0" indent="0" marL="0" algn="r">
                        <a:buNone/>
                      </a:pPr>
                      <a:r>
                        <a:rPr/>
                        <a:t>4</a:t>
                      </a:r>
                    </a:p>
                  </a:txBody>
                </a:tc>
                <a:tc>
                  <a:txBody>
                    <a:bodyPr/>
                    <a:lstStyle/>
                    <a:p>
                      <a:pPr lvl="0" indent="0" marL="0" algn="r">
                        <a:buNone/>
                      </a:pPr>
                      <a:r>
                        <a:rPr/>
                        <a:t>51.7</a:t>
                      </a:r>
                    </a:p>
                  </a:txBody>
                </a:tc>
              </a:tr>
              <a:tr h="0">
                <a:tc>
                  <a:txBody>
                    <a:bodyPr/>
                    <a:lstStyle/>
                    <a:p>
                      <a:pPr lvl="0" indent="0" marL="0">
                        <a:buNone/>
                      </a:pPr>
                      <a:r>
                        <a:rPr/>
                        <a:t>Printable ASCII</a:t>
                      </a:r>
                    </a:p>
                  </a:txBody>
                </a:tc>
                <a:tc>
                  <a:txBody>
                    <a:bodyPr/>
                    <a:lstStyle/>
                    <a:p>
                      <a:pPr lvl="0" indent="0" marL="0" algn="r">
                        <a:buNone/>
                      </a:pPr>
                      <a:r>
                        <a:rPr/>
                        <a:t>95</a:t>
                      </a:r>
                    </a:p>
                  </a:txBody>
                </a:tc>
                <a:tc>
                  <a:txBody>
                    <a:bodyPr/>
                    <a:lstStyle/>
                    <a:p>
                      <a:pPr lvl="0" indent="0" marL="0" algn="r">
                        <a:buNone/>
                      </a:pPr>
                      <a:r>
                        <a:rPr/>
                        <a:t>8</a:t>
                      </a:r>
                    </a:p>
                  </a:txBody>
                </a:tc>
                <a:tc>
                  <a:txBody>
                    <a:bodyPr/>
                    <a:lstStyle/>
                    <a:p>
                      <a:pPr lvl="0" indent="0" marL="0" algn="r">
                        <a:buNone/>
                      </a:pPr>
                      <a:r>
                        <a:rPr/>
                        <a:t>52.6</a:t>
                      </a:r>
                    </a:p>
                  </a:txBody>
                </a:tc>
              </a:tr>
              <a:tr h="0">
                <a:tc>
                  <a:txBody>
                    <a:bodyPr/>
                    <a:lstStyle/>
                    <a:p>
                      <a:pPr lvl="0" indent="0" marL="0">
                        <a:buNone/>
                      </a:pPr>
                      <a:r>
                        <a:rPr/>
                        <a:t>Lowercase</a:t>
                      </a:r>
                    </a:p>
                  </a:txBody>
                </a:tc>
                <a:tc>
                  <a:txBody>
                    <a:bodyPr/>
                    <a:lstStyle/>
                    <a:p>
                      <a:pPr lvl="0" indent="0" marL="0" algn="r">
                        <a:buNone/>
                      </a:pPr>
                      <a:r>
                        <a:rPr/>
                        <a:t>26</a:t>
                      </a:r>
                    </a:p>
                  </a:txBody>
                </a:tc>
                <a:tc>
                  <a:txBody>
                    <a:bodyPr/>
                    <a:lstStyle/>
                    <a:p>
                      <a:pPr lvl="0" indent="0" marL="0" algn="r">
                        <a:buNone/>
                      </a:pPr>
                      <a:r>
                        <a:rPr/>
                        <a:t>15</a:t>
                      </a:r>
                    </a:p>
                  </a:txBody>
                </a:tc>
                <a:tc>
                  <a:txBody>
                    <a:bodyPr/>
                    <a:lstStyle/>
                    <a:p>
                      <a:pPr lvl="0" indent="0" marL="0" algn="r">
                        <a:buNone/>
                      </a:pPr>
                      <a:r>
                        <a:rPr/>
                        <a:t>70.5</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Entropy calculator</a:t>
            </a:r>
          </a:p>
        </p:txBody>
      </p:sp>
      <p:sp>
        <p:nvSpPr>
          <p:cNvPr id="3" name="Content Placeholder 3"/>
          <p:cNvSpPr>
            <a:spLocks noGrp="1"/>
          </p:cNvSpPr>
          <p:nvPr>
            <p:ph idx="1"/>
          </p:nvPr>
        </p:nvSpPr>
        <p:spPr/>
        <p:txBody>
          <a:bodyPr/>
          <a:lstStyle/>
          <a:p>
            <a:pPr lvl="0"/>
            <a:r>
              <a:rPr/>
              <a:t>Multiplicative vs exponential</a:t>
            </a:r>
          </a:p>
          <a:p>
            <a:pPr lvl="0"/>
            <a:r>
              <a:rPr/>
              <a:t>Entire search space</a:t>
            </a:r>
          </a:p>
          <a:p>
            <a:pPr lvl="0"/>
            <a:r>
              <a:rPr/>
              <a:t>Average time to crack</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Cracking = time x money</a:t>
            </a:r>
          </a:p>
        </p:txBody>
      </p:sp>
      <p:sp>
        <p:nvSpPr>
          <p:cNvPr id="4" name="Text Placeholder 4"/>
          <p:cNvSpPr>
            <a:spLocks noGrp="1"/>
          </p:cNvSpPr>
          <p:nvPr>
            <p:ph idx="2" sz="half" type="body"/>
          </p:nvPr>
        </p:nvSpPr>
        <p:spPr/>
        <p:txBody>
          <a:bodyPr/>
          <a:lstStyle/>
          <a:p>
            <a:pPr lvl="0"/>
            <a:r>
              <a:rPr/>
              <a:t>Who is the threat</a:t>
            </a:r>
          </a:p>
          <a:p>
            <a:pPr lvl="0"/>
            <a:r>
              <a:rPr/>
              <a:t>How is it protected</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2387600"/>
                <a:gridCol w="2387600"/>
                <a:gridCol w="2387600"/>
              </a:tblGrid>
              <a:tr h="0">
                <a:tc>
                  <a:txBody>
                    <a:bodyPr/>
                    <a:lstStyle/>
                    <a:p>
                      <a:pPr lvl="0" indent="0" marL="0">
                        <a:buNone/>
                      </a:pPr>
                      <a:r>
                        <a:rPr/>
                        <a:t>Hash (one RTX 5090)</a:t>
                      </a:r>
                    </a:p>
                  </a:txBody>
                  <a:tcPr/>
                </a:tc>
                <a:tc>
                  <a:txBody>
                    <a:bodyPr/>
                    <a:lstStyle/>
                    <a:p>
                      <a:pPr lvl="0" indent="0" marL="0" algn="r">
                        <a:buNone/>
                      </a:pPr>
                      <a:r>
                        <a:rPr/>
                        <a:t>Guesses/second</a:t>
                      </a:r>
                    </a:p>
                  </a:txBody>
                  <a:tcPr/>
                </a:tc>
                <a:tc>
                  <a:txBody>
                    <a:bodyPr/>
                    <a:lstStyle/>
                    <a:p>
                      <a:pPr lvl="0" indent="0" marL="0" algn="r">
                        <a:buNone/>
                      </a:pPr>
                      <a:r>
                        <a:rPr/>
                        <a:t>8 printable chars, average</a:t>
                      </a:r>
                    </a:p>
                  </a:txBody>
                  <a:tcPr/>
                </a:tc>
              </a:tr>
              <a:tr h="0">
                <a:tc>
                  <a:txBody>
                    <a:bodyPr/>
                    <a:lstStyle/>
                    <a:p>
                      <a:pPr lvl="0" indent="0" marL="0">
                        <a:buNone/>
                      </a:pPr>
                      <a:r>
                        <a:rPr/>
                        <a:t>NTLM (NT hash)</a:t>
                      </a:r>
                    </a:p>
                  </a:txBody>
                </a:tc>
                <a:tc>
                  <a:txBody>
                    <a:bodyPr/>
                    <a:lstStyle/>
                    <a:p>
                      <a:pPr lvl="0" indent="0" marL="0" algn="r">
                        <a:buNone/>
                      </a:pPr>
                      <a:r>
                        <a:rPr/>
                        <a:t>340.1 G</a:t>
                      </a:r>
                    </a:p>
                  </a:txBody>
                </a:tc>
                <a:tc>
                  <a:txBody>
                    <a:bodyPr/>
                    <a:lstStyle/>
                    <a:p>
                      <a:pPr lvl="0" indent="0" marL="0" algn="r">
                        <a:buNone/>
                      </a:pPr>
                      <a:r>
                        <a:rPr/>
                        <a:t>2.7 hours</a:t>
                      </a:r>
                    </a:p>
                  </a:txBody>
                </a:tc>
              </a:tr>
              <a:tr h="0">
                <a:tc>
                  <a:txBody>
                    <a:bodyPr/>
                    <a:lstStyle/>
                    <a:p>
                      <a:pPr lvl="0" indent="0" marL="0">
                        <a:buNone/>
                      </a:pPr>
                      <a:r>
                        <a:rPr/>
                        <a:t>SHA2-256</a:t>
                      </a:r>
                    </a:p>
                  </a:txBody>
                </a:tc>
                <a:tc>
                  <a:txBody>
                    <a:bodyPr/>
                    <a:lstStyle/>
                    <a:p>
                      <a:pPr lvl="0" indent="0" marL="0" algn="r">
                        <a:buNone/>
                      </a:pPr>
                      <a:r>
                        <a:rPr/>
                        <a:t>28.4 G</a:t>
                      </a:r>
                    </a:p>
                  </a:txBody>
                </a:tc>
                <a:tc>
                  <a:txBody>
                    <a:bodyPr/>
                    <a:lstStyle/>
                    <a:p>
                      <a:pPr lvl="0" indent="0" marL="0" algn="r">
                        <a:buNone/>
                      </a:pPr>
                      <a:r>
                        <a:rPr/>
                        <a:t>32.5 hours</a:t>
                      </a:r>
                    </a:p>
                  </a:txBody>
                </a:tc>
              </a:tr>
              <a:tr h="0">
                <a:tc>
                  <a:txBody>
                    <a:bodyPr/>
                    <a:lstStyle/>
                    <a:p>
                      <a:pPr lvl="0" indent="0" marL="0">
                        <a:buNone/>
                      </a:pPr>
                      <a:r>
                        <a:rPr/>
                        <a:t>bcrypt (32 iterations)</a:t>
                      </a:r>
                    </a:p>
                  </a:txBody>
                </a:tc>
                <a:tc>
                  <a:txBody>
                    <a:bodyPr/>
                    <a:lstStyle/>
                    <a:p>
                      <a:pPr lvl="0" indent="0" marL="0" algn="r">
                        <a:buNone/>
                      </a:pPr>
                      <a:r>
                        <a:rPr/>
                        <a:t>304.8 k</a:t>
                      </a:r>
                    </a:p>
                  </a:txBody>
                </a:tc>
                <a:tc>
                  <a:txBody>
                    <a:bodyPr/>
                    <a:lstStyle/>
                    <a:p>
                      <a:pPr lvl="0" indent="0" marL="0" algn="r">
                        <a:buNone/>
                      </a:pPr>
                      <a:r>
                        <a:rPr/>
                        <a:t>345 years</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Protecting users</a:t>
            </a:r>
          </a:p>
        </p:txBody>
      </p:sp>
      <p:sp>
        <p:nvSpPr>
          <p:cNvPr id="3" name="Content Placeholder 3"/>
          <p:cNvSpPr>
            <a:spLocks noGrp="1"/>
          </p:cNvSpPr>
          <p:nvPr>
            <p:ph idx="1"/>
          </p:nvPr>
        </p:nvSpPr>
        <p:spPr/>
        <p:txBody>
          <a:bodyPr/>
          <a:lstStyle/>
          <a:p>
            <a:pPr lvl="0"/>
            <a:r>
              <a:rPr/>
              <a:t>Do what we can to protect users</a:t>
            </a:r>
          </a:p>
          <a:p>
            <a:pPr lvl="0"/>
            <a:r>
              <a:rPr/>
              <a:t>Attack modeling should be based on online attacks</a:t>
            </a:r>
          </a:p>
          <a:p>
            <a:pPr lvl="0"/>
            <a:r>
              <a:rPr/>
              <a:t>We have duties to protect hashes from getting stolen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Takeaways</a:t>
            </a:r>
          </a:p>
        </p:txBody>
      </p:sp>
      <p:sp>
        <p:nvSpPr>
          <p:cNvPr id="3" name="Content Placeholder 3"/>
          <p:cNvSpPr>
            <a:spLocks noGrp="1"/>
          </p:cNvSpPr>
          <p:nvPr>
            <p:ph idx="1"/>
          </p:nvPr>
        </p:nvSpPr>
        <p:spPr/>
        <p:txBody>
          <a:bodyPr/>
          <a:lstStyle/>
          <a:p>
            <a:pPr lvl="0"/>
            <a:r>
              <a:rPr/>
              <a:t>Uniqueness means password managers</a:t>
            </a:r>
          </a:p>
          <a:p>
            <a:pPr lvl="0"/>
            <a:r>
              <a:rPr/>
              <a:t>Check for compromised passwords; no complexity, no rotation</a:t>
            </a:r>
          </a:p>
          <a:p>
            <a:pPr lvl="0"/>
            <a:r>
              <a:rPr/>
              <a:t>Use standards otherwise: NIST is 8 with MFA and 15 without MFA</a:t>
            </a:r>
          </a:p>
          <a:p>
            <a:pPr lvl="0"/>
            <a:r>
              <a:rPr/>
              <a:t>Use MFA</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PKI</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Public key infrastructure</a:t>
            </a:r>
          </a:p>
        </p:txBody>
      </p:sp>
      <p:sp>
        <p:nvSpPr>
          <p:cNvPr id="3" name="Content Placeholder 3"/>
          <p:cNvSpPr>
            <a:spLocks noGrp="1"/>
          </p:cNvSpPr>
          <p:nvPr>
            <p:ph idx="1"/>
          </p:nvPr>
        </p:nvSpPr>
        <p:spPr/>
        <p:txBody>
          <a:bodyPr/>
          <a:lstStyle/>
          <a:p>
            <a:pPr lvl="0"/>
            <a:r>
              <a:rPr/>
              <a:t>Public keys and private keys</a:t>
            </a:r>
          </a:p>
          <a:p>
            <a:pPr lvl="1"/>
            <a:r>
              <a:rPr/>
              <a:t>What one key does, only the other can undo</a:t>
            </a:r>
          </a:p>
          <a:p>
            <a:pPr lvl="1"/>
            <a:r>
              <a:rPr/>
              <a:t>The private key never leaves its owner</a:t>
            </a:r>
          </a:p>
          <a:p>
            <a:pPr lvl="0"/>
            <a:r>
              <a:rPr/>
              <a:t>What a certificate does and does not prove</a:t>
            </a:r>
          </a:p>
          <a:p>
            <a:pPr lvl="1"/>
            <a:r>
              <a:rPr/>
              <a:t>A CA bound this public key to this name, for this use, for this time</a:t>
            </a:r>
          </a:p>
          <a:p>
            <a:pPr lvl="1"/>
            <a:r>
              <a:rPr/>
              <a:t>Not that the site is safe, or that the operator is who you think</a:t>
            </a:r>
          </a:p>
          <a:p>
            <a:pPr lvl="0"/>
            <a:r>
              <a:rPr/>
              <a:t>Certificate authorities and trust</a:t>
            </a:r>
          </a:p>
          <a:p>
            <a:pPr lvl="1"/>
            <a:r>
              <a:rPr/>
              <a:t>You trust a CA because your certificate store says so</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What’s in a certificate?</a:t>
            </a:r>
          </a:p>
        </p:txBody>
      </p:sp>
      <p:sp>
        <p:nvSpPr>
          <p:cNvPr id="3" name="Content Placeholder 3"/>
          <p:cNvSpPr>
            <a:spLocks noGrp="1"/>
          </p:cNvSpPr>
          <p:nvPr>
            <p:ph idx="1" sz="half"/>
          </p:nvPr>
        </p:nvSpPr>
        <p:spPr/>
        <p:txBody>
          <a:bodyPr/>
          <a:lstStyle/>
          <a:p>
            <a:pPr lvl="0" indent="0" marL="0">
              <a:buNone/>
            </a:pPr>
            <a:r>
              <a:rPr b="1"/>
              <a:t>Fields (X.509 v3)</a:t>
            </a:r>
          </a:p>
          <a:p>
            <a:pPr lvl="0"/>
            <a:r>
              <a:rPr/>
              <a:t>Subject, issuer, serial number</a:t>
            </a:r>
          </a:p>
          <a:p>
            <a:pPr lvl="0"/>
            <a:r>
              <a:rPr/>
              <a:t>Validity: not before, not after</a:t>
            </a:r>
          </a:p>
          <a:p>
            <a:pPr lvl="0"/>
            <a:r>
              <a:rPr/>
              <a:t>Public key and signature algorithm</a:t>
            </a:r>
          </a:p>
          <a:p>
            <a:pPr lvl="0"/>
            <a:r>
              <a:rPr/>
              <a:t>Distinguished names and the common name (CN)</a:t>
            </a:r>
          </a:p>
        </p:txBody>
      </p:sp>
      <p:sp>
        <p:nvSpPr>
          <p:cNvPr id="4" name="Content Placeholder 4"/>
          <p:cNvSpPr>
            <a:spLocks noGrp="1"/>
          </p:cNvSpPr>
          <p:nvPr>
            <p:ph idx="2" sz="half"/>
          </p:nvPr>
        </p:nvSpPr>
        <p:spPr/>
        <p:txBody>
          <a:bodyPr/>
          <a:lstStyle/>
          <a:p>
            <a:pPr lvl="0" indent="0" marL="0">
              <a:buNone/>
            </a:pPr>
            <a:r>
              <a:rPr b="1"/>
              <a:t>Extensions</a:t>
            </a:r>
          </a:p>
          <a:p>
            <a:pPr lvl="0"/>
            <a:r>
              <a:rPr/>
              <a:t>Subject alternative name (SAN)</a:t>
            </a:r>
          </a:p>
          <a:p>
            <a:pPr lvl="0"/>
            <a:r>
              <a:rPr/>
              <a:t>Key usage, extended key usage</a:t>
            </a:r>
          </a:p>
          <a:p>
            <a:pPr lvl="0"/>
            <a:r>
              <a:rPr/>
              <a:t>Basic constraints: CA or end entity</a:t>
            </a:r>
          </a:p>
          <a:p>
            <a:pPr lvl="0"/>
            <a:r>
              <a:rPr/>
              <a:t>CRL distribution points, authority information access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Our training certificate</a:t>
            </a:r>
          </a:p>
        </p:txBody>
      </p:sp>
      <p:sp>
        <p:nvSpPr>
          <p:cNvPr id="3" name="Content Placeholder 3"/>
          <p:cNvSpPr>
            <a:spLocks noGrp="1"/>
          </p:cNvSpPr>
          <p:nvPr>
            <p:ph idx="1"/>
          </p:nvPr>
        </p:nvSpPr>
        <p:spPr/>
        <p:txBody>
          <a:bodyPr/>
          <a:lstStyle/>
          <a:p>
            <a:pPr lvl="0" indent="0">
              <a:buNone/>
            </a:pPr>
            <a:r>
              <a:rPr>
                <a:latin typeface="Consolas"/>
              </a:rPr>
              <a:t>Serial Number: 3e:23:6d:a6:5a:1d:83:f6:...:8e:0c
Issuer:  O=Fictional Cheese Curd Authority, CN=Squeaky Curd Root CA
Not Before: Oct  1 00:00:00 2026 GMT
Not After : Oct  1 00:00:00 2027 GMT
Subject: L=Curdsville, O=Squeaky Curds Co-op, CN=squeakycurds.example
Basic Constraints: critical, CA:FALSE
Subject Alternative Name: DNS:squeakycurds.example
Extended Key Usage: TLS Web Server Authentication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Certificate chains</a:t>
            </a:r>
          </a:p>
        </p:txBody>
      </p:sp>
      <p:sp>
        <p:nvSpPr>
          <p:cNvPr id="4" name="Text Placeholder 4"/>
          <p:cNvSpPr>
            <a:spLocks noGrp="1"/>
          </p:cNvSpPr>
          <p:nvPr>
            <p:ph idx="2" sz="half" type="body"/>
          </p:nvPr>
        </p:nvSpPr>
        <p:spPr/>
        <p:txBody>
          <a:bodyPr/>
          <a:lstStyle/>
          <a:p>
            <a:pPr lvl="0"/>
            <a:r>
              <a:rPr/>
              <a:t>Leaf, intermediate, root</a:t>
            </a:r>
          </a:p>
          <a:p>
            <a:pPr lvl="0"/>
            <a:r>
              <a:rPr/>
              <a:t>Trust anchors and the certificate store</a:t>
            </a:r>
          </a:p>
          <a:p>
            <a:pPr lvl="0"/>
            <a:r>
              <a:rPr/>
              <a:t>A valid signature is not the same as a trusted certificate</a:t>
            </a:r>
          </a:p>
        </p:txBody>
      </p:sp>
      <p:pic>
        <p:nvPicPr>
          <p:cNvPr descr="Certificate chain: the self-signed root CA signs the intermediate CA, which signs the leaf. The client supplies the trust anchor from its certificate store; the server presents the leaf and intermediates and proves possession of the leaf private key" id="0" name="Picture 1"/>
          <p:cNvPicPr>
            <a:picLocks noGrp="1" noChangeAspect="1"/>
          </p:cNvPicPr>
          <p:nvPr/>
        </p:nvPicPr>
        <p:blipFill>
          <a:blip r:embed="rId3"/>
          <a:stretch>
            <a:fillRect/>
          </a:stretch>
        </p:blipFill>
        <p:spPr bwMode="auto">
          <a:xfrm>
            <a:off x="4470400" y="1714500"/>
            <a:ext cx="7162800" cy="4025900"/>
          </a:xfrm>
          <a:prstGeom prst="rect">
            <a:avLst/>
          </a:prstGeom>
          <a:noFill/>
          <a:ln w="9525">
            <a:noFill/>
            <a:headEnd/>
            <a:tailEnd/>
          </a:ln>
        </p:spPr>
      </p:pic>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Certificate formats</a:t>
            </a:r>
          </a:p>
        </p:txBody>
      </p:sp>
      <p:sp>
        <p:nvSpPr>
          <p:cNvPr id="4" name="Text Placeholder 4"/>
          <p:cNvSpPr>
            <a:spLocks noGrp="1"/>
          </p:cNvSpPr>
          <p:nvPr>
            <p:ph idx="2" sz="half" type="body"/>
          </p:nvPr>
        </p:nvSpPr>
        <p:spPr/>
        <p:txBody>
          <a:bodyPr/>
          <a:lstStyle/>
          <a:p>
            <a:pPr lvl="0"/>
            <a:r>
              <a:rPr/>
              <a:t>ASN.1 describes the structure; DER encodes it as bytes</a:t>
            </a:r>
          </a:p>
          <a:p>
            <a:pPr lvl="0"/>
            <a:r>
              <a:rPr/>
              <a:t>PEM is Base64 DER between </a:t>
            </a:r>
            <a:r>
              <a:rPr>
                <a:latin typeface="Consolas"/>
              </a:rPr>
              <a:t>-----BEGIN</a:t>
            </a:r>
            <a:r>
              <a:rPr/>
              <a:t> and </a:t>
            </a:r>
            <a:r>
              <a:rPr>
                <a:latin typeface="Consolas"/>
              </a:rPr>
              <a:t>-----END</a:t>
            </a:r>
            <a:r>
              <a:rPr/>
              <a:t> lines</a:t>
            </a:r>
          </a:p>
          <a:p>
            <a:pPr lvl="0"/>
            <a:r>
              <a:rPr/>
              <a:t>A file extension does not necessarily tell you what’s inside</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3581400"/>
                <a:gridCol w="3581400"/>
              </a:tblGrid>
              <a:tr h="0">
                <a:tc>
                  <a:txBody>
                    <a:bodyPr/>
                    <a:lstStyle/>
                    <a:p>
                      <a:pPr lvl="0" indent="0" marL="0">
                        <a:buNone/>
                      </a:pPr>
                      <a:r>
                        <a:rPr/>
                        <a:t>Extension</a:t>
                      </a:r>
                    </a:p>
                  </a:txBody>
                  <a:tcPr/>
                </a:tc>
                <a:tc>
                  <a:txBody>
                    <a:bodyPr/>
                    <a:lstStyle/>
                    <a:p>
                      <a:pPr lvl="0" indent="0" marL="0">
                        <a:buNone/>
                      </a:pPr>
                      <a:r>
                        <a:rPr/>
                        <a:t>Usually holds</a:t>
                      </a:r>
                    </a:p>
                  </a:txBody>
                  <a:tcPr/>
                </a:tc>
              </a:tr>
              <a:tr h="0">
                <a:tc>
                  <a:txBody>
                    <a:bodyPr/>
                    <a:lstStyle/>
                    <a:p>
                      <a:pPr lvl="0" indent="0" marL="0">
                        <a:buNone/>
                      </a:pPr>
                      <a:r>
                        <a:rPr/>
                        <a:t>.cer / .crt</a:t>
                      </a:r>
                    </a:p>
                  </a:txBody>
                </a:tc>
                <a:tc>
                  <a:txBody>
                    <a:bodyPr/>
                    <a:lstStyle/>
                    <a:p>
                      <a:pPr lvl="0" indent="0" marL="0">
                        <a:buNone/>
                      </a:pPr>
                      <a:r>
                        <a:rPr/>
                        <a:t>One certificate, DER or PEM</a:t>
                      </a:r>
                    </a:p>
                  </a:txBody>
                </a:tc>
              </a:tr>
              <a:tr h="0">
                <a:tc>
                  <a:txBody>
                    <a:bodyPr/>
                    <a:lstStyle/>
                    <a:p>
                      <a:pPr lvl="0" indent="0" marL="0">
                        <a:buNone/>
                      </a:pPr>
                      <a:r>
                        <a:rPr/>
                        <a:t>.pem</a:t>
                      </a:r>
                    </a:p>
                  </a:txBody>
                </a:tc>
                <a:tc>
                  <a:txBody>
                    <a:bodyPr/>
                    <a:lstStyle/>
                    <a:p>
                      <a:pPr lvl="0" indent="0" marL="0">
                        <a:buNone/>
                      </a:pPr>
                      <a:r>
                        <a:rPr/>
                        <a:t>Anything PEM: certificates, keys, CSRs</a:t>
                      </a:r>
                    </a:p>
                  </a:txBody>
                </a:tc>
              </a:tr>
              <a:tr h="0">
                <a:tc>
                  <a:txBody>
                    <a:bodyPr/>
                    <a:lstStyle/>
                    <a:p>
                      <a:pPr lvl="0" indent="0" marL="0">
                        <a:buNone/>
                      </a:pPr>
                      <a:r>
                        <a:rPr/>
                        <a:t>.p7b</a:t>
                      </a:r>
                    </a:p>
                  </a:txBody>
                </a:tc>
                <a:tc>
                  <a:txBody>
                    <a:bodyPr/>
                    <a:lstStyle/>
                    <a:p>
                      <a:pPr lvl="0" indent="0" marL="0">
                        <a:buNone/>
                      </a:pPr>
                      <a:r>
                        <a:rPr/>
                        <a:t>PKCS #7 bundle of certificates, no key</a:t>
                      </a:r>
                    </a:p>
                  </a:txBody>
                </a:tc>
              </a:tr>
              <a:tr h="0">
                <a:tc>
                  <a:txBody>
                    <a:bodyPr/>
                    <a:lstStyle/>
                    <a:p>
                      <a:pPr lvl="0" indent="0" marL="0">
                        <a:buNone/>
                      </a:pPr>
                      <a:r>
                        <a:rPr/>
                        <a:t>.pfx / .p12</a:t>
                      </a:r>
                    </a:p>
                  </a:txBody>
                </a:tc>
                <a:tc>
                  <a:txBody>
                    <a:bodyPr/>
                    <a:lstStyle/>
                    <a:p>
                      <a:pPr lvl="0" indent="0" marL="0">
                        <a:buNone/>
                      </a:pPr>
                      <a:r>
                        <a:rPr/>
                        <a:t>PKCS #12: certificate plus private key</a:t>
                      </a:r>
                    </a:p>
                  </a:txBody>
                </a:tc>
              </a:tr>
              <a:tr h="0">
                <a:tc>
                  <a:txBody>
                    <a:bodyPr/>
                    <a:lstStyle/>
                    <a:p>
                      <a:pPr lvl="0" indent="0" marL="0">
                        <a:buNone/>
                      </a:pPr>
                      <a:r>
                        <a:rPr/>
                        <a:t>.csr</a:t>
                      </a:r>
                    </a:p>
                  </a:txBody>
                </a:tc>
                <a:tc>
                  <a:txBody>
                    <a:bodyPr/>
                    <a:lstStyle/>
                    <a:p>
                      <a:pPr lvl="0" indent="0" marL="0">
                        <a:buNone/>
                      </a:pPr>
                      <a:r>
                        <a:rPr/>
                        <a:t>PKCS #10 certificate request</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Certificate requests and issuance</a:t>
            </a:r>
          </a:p>
        </p:txBody>
      </p:sp>
      <p:sp>
        <p:nvSpPr>
          <p:cNvPr id="3" name="Content Placeholder 3"/>
          <p:cNvSpPr>
            <a:spLocks noGrp="1"/>
          </p:cNvSpPr>
          <p:nvPr>
            <p:ph idx="1"/>
          </p:nvPr>
        </p:nvSpPr>
        <p:spPr/>
        <p:txBody>
          <a:bodyPr/>
          <a:lstStyle/>
          <a:p>
            <a:pPr lvl="0"/>
            <a:r>
              <a:rPr/>
              <a:t>Certificate signing request (CSR / PKCS #10)</a:t>
            </a:r>
          </a:p>
          <a:p>
            <a:pPr lvl="1"/>
            <a:r>
              <a:rPr/>
              <a:t>Create a key pair; the CSR carries the public key and requested names</a:t>
            </a:r>
          </a:p>
          <a:p>
            <a:pPr lvl="1"/>
            <a:r>
              <a:rPr/>
              <a:t>Signed with the private key to prove possession</a:t>
            </a:r>
          </a:p>
          <a:p>
            <a:pPr lvl="0"/>
            <a:r>
              <a:rPr/>
              <a:t>Internal CAs / AD CS and certificate templates</a:t>
            </a:r>
          </a:p>
          <a:p>
            <a:pPr lvl="1"/>
            <a:r>
              <a:rPr>
                <a:latin typeface="Consolas"/>
              </a:rPr>
              <a:t>certreq -new</a:t>
            </a:r>
            <a:r>
              <a:rPr/>
              <a:t>, </a:t>
            </a:r>
            <a:r>
              <a:rPr>
                <a:latin typeface="Consolas"/>
              </a:rPr>
              <a:t>certreq -submit</a:t>
            </a:r>
            <a:r>
              <a:rPr/>
              <a:t>, </a:t>
            </a:r>
            <a:r>
              <a:rPr>
                <a:latin typeface="Consolas"/>
              </a:rPr>
              <a:t>certreq -accept</a:t>
            </a:r>
          </a:p>
          <a:p>
            <a:pPr lvl="0"/>
            <a:r>
              <a:rPr/>
              <a:t>ACME and automated issuance</a:t>
            </a:r>
          </a:p>
          <a:p>
            <a:pPr lvl="1"/>
            <a:r>
              <a:rPr/>
              <a:t>The CA checks control of the name, then issues</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Putting a certificate to use</a:t>
            </a:r>
          </a:p>
        </p:txBody>
      </p:sp>
      <p:sp>
        <p:nvSpPr>
          <p:cNvPr id="3" name="Content Placeholder 3"/>
          <p:cNvSpPr>
            <a:spLocks noGrp="1"/>
          </p:cNvSpPr>
          <p:nvPr>
            <p:ph idx="1"/>
          </p:nvPr>
        </p:nvSpPr>
        <p:spPr/>
        <p:txBody>
          <a:bodyPr/>
          <a:lstStyle/>
          <a:p>
            <a:pPr lvl="0"/>
            <a:r>
              <a:rPr/>
              <a:t>A service needs three things</a:t>
            </a:r>
          </a:p>
          <a:p>
            <a:pPr lvl="1"/>
            <a:r>
              <a:rPr/>
              <a:t>The certificate</a:t>
            </a:r>
          </a:p>
          <a:p>
            <a:pPr lvl="1"/>
            <a:r>
              <a:rPr/>
              <a:t>The private key</a:t>
            </a:r>
          </a:p>
          <a:p>
            <a:pPr lvl="1"/>
            <a:r>
              <a:rPr/>
              <a:t>The intermediate certificates</a:t>
            </a:r>
          </a:p>
          <a:p>
            <a:pPr lvl="0"/>
            <a:r>
              <a:rPr/>
              <a:t>The certificate presented by a service versus the trust configured on a client</a:t>
            </a:r>
          </a:p>
          <a:p>
            <a:pPr lvl="1"/>
            <a:r>
              <a:rPr/>
              <a:t>The server sends its chain; the client supplies the root</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Certificate validation</a:t>
            </a:r>
          </a:p>
        </p:txBody>
      </p:sp>
      <p:sp>
        <p:nvSpPr>
          <p:cNvPr id="4" name="Text Placeholder 4"/>
          <p:cNvSpPr>
            <a:spLocks noGrp="1"/>
          </p:cNvSpPr>
          <p:nvPr>
            <p:ph idx="2" sz="half" type="body"/>
          </p:nvPr>
        </p:nvSpPr>
        <p:spPr/>
        <p:txBody>
          <a:bodyPr/>
          <a:lstStyle/>
          <a:p>
            <a:pPr lvl="0"/>
            <a:r>
              <a:rPr/>
              <a:t>Name matching, validity dates, chain, trust, and permitted usage</a:t>
            </a:r>
          </a:p>
          <a:p>
            <a:pPr lvl="0"/>
            <a:r>
              <a:rPr/>
              <a:t>CRLs and OCSP; client behavior varies</a:t>
            </a:r>
          </a:p>
          <a:p>
            <a:pPr lvl="0"/>
            <a:r>
              <a:rPr/>
              <a:t>What happens when a check fails?</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3581400"/>
                <a:gridCol w="3581400"/>
              </a:tblGrid>
              <a:tr h="0">
                <a:tc>
                  <a:txBody>
                    <a:bodyPr/>
                    <a:lstStyle/>
                    <a:p>
                      <a:pPr lvl="0" indent="0" marL="0">
                        <a:buNone/>
                      </a:pPr>
                      <a:r>
                        <a:rPr/>
                        <a:t>Check</a:t>
                      </a:r>
                    </a:p>
                  </a:txBody>
                  <a:tcPr/>
                </a:tc>
                <a:tc>
                  <a:txBody>
                    <a:bodyPr/>
                    <a:lstStyle/>
                    <a:p>
                      <a:pPr lvl="0" indent="0" marL="0">
                        <a:buNone/>
                      </a:pPr>
                      <a:r>
                        <a:rPr/>
                        <a:t>OpenSSL says</a:t>
                      </a:r>
                    </a:p>
                  </a:txBody>
                  <a:tcPr/>
                </a:tc>
              </a:tr>
              <a:tr h="0">
                <a:tc>
                  <a:txBody>
                    <a:bodyPr/>
                    <a:lstStyle/>
                    <a:p>
                      <a:pPr lvl="0" indent="0" marL="0">
                        <a:buNone/>
                      </a:pPr>
                      <a:r>
                        <a:rPr/>
                        <a:t>Untrusted root</a:t>
                      </a:r>
                    </a:p>
                  </a:txBody>
                </a:tc>
                <a:tc>
                  <a:txBody>
                    <a:bodyPr/>
                    <a:lstStyle/>
                    <a:p>
                      <a:pPr lvl="0" indent="0" marL="0">
                        <a:buNone/>
                      </a:pPr>
                      <a:r>
                        <a:rPr/>
                        <a:t>unable to get local issuer certificate</a:t>
                      </a:r>
                    </a:p>
                  </a:txBody>
                </a:tc>
              </a:tr>
              <a:tr h="0">
                <a:tc>
                  <a:txBody>
                    <a:bodyPr/>
                    <a:lstStyle/>
                    <a:p>
                      <a:pPr lvl="0" indent="0" marL="0">
                        <a:buNone/>
                      </a:pPr>
                      <a:r>
                        <a:rPr/>
                        <a:t>Incorrect name</a:t>
                      </a:r>
                    </a:p>
                  </a:txBody>
                </a:tc>
                <a:tc>
                  <a:txBody>
                    <a:bodyPr/>
                    <a:lstStyle/>
                    <a:p>
                      <a:pPr lvl="0" indent="0" marL="0">
                        <a:buNone/>
                      </a:pPr>
                      <a:r>
                        <a:rPr/>
                        <a:t>hostname mismatch</a:t>
                      </a:r>
                    </a:p>
                  </a:txBody>
                </a:tc>
              </a:tr>
              <a:tr h="0">
                <a:tc>
                  <a:txBody>
                    <a:bodyPr/>
                    <a:lstStyle/>
                    <a:p>
                      <a:pPr lvl="0" indent="0" marL="0">
                        <a:buNone/>
                      </a:pPr>
                      <a:r>
                        <a:rPr/>
                        <a:t>Expired</a:t>
                      </a:r>
                    </a:p>
                  </a:txBody>
                </a:tc>
                <a:tc>
                  <a:txBody>
                    <a:bodyPr/>
                    <a:lstStyle/>
                    <a:p>
                      <a:pPr lvl="0" indent="0" marL="0">
                        <a:buNone/>
                      </a:pPr>
                      <a:r>
                        <a:rPr/>
                        <a:t>certificate has expired</a:t>
                      </a:r>
                    </a:p>
                  </a:txBody>
                </a:tc>
              </a:tr>
              <a:tr h="0">
                <a:tc>
                  <a:txBody>
                    <a:bodyPr/>
                    <a:lstStyle/>
                    <a:p>
                      <a:pPr lvl="0" indent="0" marL="0">
                        <a:buNone/>
                      </a:pPr>
                      <a:r>
                        <a:rPr/>
                        <a:t>Wrong usage</a:t>
                      </a:r>
                    </a:p>
                  </a:txBody>
                </a:tc>
                <a:tc>
                  <a:txBody>
                    <a:bodyPr/>
                    <a:lstStyle/>
                    <a:p>
                      <a:pPr lvl="0" indent="0" marL="0">
                        <a:buNone/>
                      </a:pPr>
                      <a:r>
                        <a:rPr/>
                        <a:t>unsuitable certificate purpose</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Renewal and maintenance</a:t>
            </a:r>
          </a:p>
        </p:txBody>
      </p:sp>
      <p:sp>
        <p:nvSpPr>
          <p:cNvPr id="4" name="Text Placeholder 4"/>
          <p:cNvSpPr>
            <a:spLocks noGrp="1"/>
          </p:cNvSpPr>
          <p:nvPr>
            <p:ph idx="2" sz="half" type="body"/>
          </p:nvPr>
        </p:nvSpPr>
        <p:spPr/>
        <p:txBody>
          <a:bodyPr/>
          <a:lstStyle/>
          <a:p>
            <a:pPr lvl="0"/>
            <a:r>
              <a:rPr/>
              <a:t>Expiration, replacing certificates, and deployment</a:t>
            </a:r>
          </a:p>
          <a:p>
            <a:pPr lvl="0"/>
            <a:r>
              <a:rPr/>
              <a:t>Public TLS certificate lifetimes are shrinking</a:t>
            </a:r>
          </a:p>
          <a:p>
            <a:pPr lvl="0"/>
            <a:r>
              <a:rPr/>
              <a:t>Automation is no longer optional for public certificates</a:t>
            </a:r>
          </a:p>
        </p:txBody>
      </p:sp>
      <p:graphicFrame>
        <p:nvGraphicFramePr>
          <p:cNvPr id="6" name="Content Placeholder 5"/>
          <p:cNvGraphicFramePr>
            <a:graphicFrameLocks noGrp="1"/>
          </p:cNvGraphicFramePr>
          <p:nvPr>
            <p:ph idx="1"/>
          </p:nvPr>
        </p:nvGraphicFramePr>
        <p:xfrm>
          <a:off x="4470400" y="1435100"/>
          <a:ext cx="7162800" cy="4597400"/>
        </p:xfrm>
        <a:graphic>
          <a:graphicData uri="http://schemas.openxmlformats.org/drawingml/2006/table">
            <a:tbl>
              <a:tblPr firstRow="1" bandRow="1">
                <a:tableStyleId>{5C22544A-7EE6-4342-B048-85BDC9FD1C3A}</a:tableStyleId>
              </a:tblPr>
              <a:tblGrid>
                <a:gridCol w="3581400"/>
                <a:gridCol w="3581400"/>
              </a:tblGrid>
              <a:tr h="0">
                <a:tc>
                  <a:txBody>
                    <a:bodyPr/>
                    <a:lstStyle/>
                    <a:p>
                      <a:pPr lvl="0" indent="0" marL="0">
                        <a:buNone/>
                      </a:pPr>
                      <a:r>
                        <a:rPr/>
                        <a:t>Issued on or after</a:t>
                      </a:r>
                    </a:p>
                  </a:txBody>
                  <a:tcPr/>
                </a:tc>
                <a:tc>
                  <a:txBody>
                    <a:bodyPr/>
                    <a:lstStyle/>
                    <a:p>
                      <a:pPr lvl="0" indent="0" marL="0" algn="r">
                        <a:buNone/>
                      </a:pPr>
                      <a:r>
                        <a:rPr/>
                        <a:t>Maximum validity</a:t>
                      </a:r>
                    </a:p>
                  </a:txBody>
                  <a:tcPr/>
                </a:tc>
              </a:tr>
              <a:tr h="0">
                <a:tc>
                  <a:txBody>
                    <a:bodyPr/>
                    <a:lstStyle/>
                    <a:p>
                      <a:pPr lvl="0" indent="0" marL="0">
                        <a:buNone/>
                      </a:pPr>
                      <a:r>
                        <a:rPr/>
                        <a:t>March 15, 2026</a:t>
                      </a:r>
                    </a:p>
                  </a:txBody>
                </a:tc>
                <a:tc>
                  <a:txBody>
                    <a:bodyPr/>
                    <a:lstStyle/>
                    <a:p>
                      <a:pPr lvl="0" indent="0" marL="0" algn="r">
                        <a:buNone/>
                      </a:pPr>
                      <a:r>
                        <a:rPr/>
                        <a:t>200 days</a:t>
                      </a:r>
                    </a:p>
                  </a:txBody>
                </a:tc>
              </a:tr>
              <a:tr h="0">
                <a:tc>
                  <a:txBody>
                    <a:bodyPr/>
                    <a:lstStyle/>
                    <a:p>
                      <a:pPr lvl="0" indent="0" marL="0">
                        <a:buNone/>
                      </a:pPr>
                      <a:r>
                        <a:rPr/>
                        <a:t>March 15, 2027</a:t>
                      </a:r>
                    </a:p>
                  </a:txBody>
                </a:tc>
                <a:tc>
                  <a:txBody>
                    <a:bodyPr/>
                    <a:lstStyle/>
                    <a:p>
                      <a:pPr lvl="0" indent="0" marL="0" algn="r">
                        <a:buNone/>
                      </a:pPr>
                      <a:r>
                        <a:rPr/>
                        <a:t>100 days</a:t>
                      </a:r>
                    </a:p>
                  </a:txBody>
                </a:tc>
              </a:tr>
              <a:tr h="0">
                <a:tc>
                  <a:txBody>
                    <a:bodyPr/>
                    <a:lstStyle/>
                    <a:p>
                      <a:pPr lvl="0" indent="0" marL="0">
                        <a:buNone/>
                      </a:pPr>
                      <a:r>
                        <a:rPr/>
                        <a:t>March 15, 2029</a:t>
                      </a:r>
                    </a:p>
                  </a:txBody>
                </a:tc>
                <a:tc>
                  <a:txBody>
                    <a:bodyPr/>
                    <a:lstStyle/>
                    <a:p>
                      <a:pPr lvl="0" indent="0" marL="0" algn="r">
                        <a:buNone/>
                      </a:pPr>
                      <a:r>
                        <a:rPr/>
                        <a:t>47 days</a:t>
                      </a:r>
                    </a:p>
                  </a:txBody>
                </a:tc>
              </a:tr>
            </a:tbl>
          </a:graphicData>
        </a:graphic>
      </p:graphicFrame>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Email security</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How email works</a:t>
            </a:r>
          </a:p>
        </p:txBody>
      </p:sp>
      <p:sp>
        <p:nvSpPr>
          <p:cNvPr id="4" name="Text Placeholder 4"/>
          <p:cNvSpPr>
            <a:spLocks noGrp="1"/>
          </p:cNvSpPr>
          <p:nvPr>
            <p:ph idx="2" sz="half" type="body"/>
          </p:nvPr>
        </p:nvSpPr>
        <p:spPr/>
        <p:txBody>
          <a:bodyPr/>
          <a:lstStyle/>
          <a:p>
            <a:pPr lvl="0"/>
            <a:r>
              <a:rPr/>
              <a:t>MUA, MSA, MTA, MDA</a:t>
            </a:r>
          </a:p>
          <a:p>
            <a:pPr lvl="0"/>
            <a:r>
              <a:rPr/>
              <a:t>SMTP, submission, relay, delivery, and DNS/MX records</a:t>
            </a:r>
          </a:p>
          <a:p>
            <a:pPr lvl="0"/>
            <a:r>
              <a:rPr/>
              <a:t>Submission is usually authenticated on 587 or 465, but can be unauthenticated on 25</a:t>
            </a:r>
          </a:p>
        </p:txBody>
      </p:sp>
      <p:pic>
        <p:nvPicPr>
          <p:cNvPr descr="Email flow: the author client (MUA) submits to the MSA, which relays to the sending MTA. The sending MTA finds the receiving MTA through DNS MX records and sends by SMTP; the receiving MTA looks up SPF, DKIM and DMARC policy and delivers to the MDA, which the recipient client reads. Each hop adds a Received header" id="0" name="Picture 1"/>
          <p:cNvPicPr>
            <a:picLocks noGrp="1" noChangeAspect="1"/>
          </p:cNvPicPr>
          <p:nvPr/>
        </p:nvPicPr>
        <p:blipFill>
          <a:blip r:embed="rId3"/>
          <a:stretch>
            <a:fillRect/>
          </a:stretch>
        </p:blipFill>
        <p:spPr bwMode="auto">
          <a:xfrm>
            <a:off x="4470400" y="1714500"/>
            <a:ext cx="7162800" cy="4025900"/>
          </a:xfrm>
          <a:prstGeom prst="rect">
            <a:avLst/>
          </a:prstGeom>
          <a:noFill/>
          <a:ln w="9525">
            <a:noFill/>
            <a:headEnd/>
            <a:tailEnd/>
          </a:ln>
        </p:spPr>
      </p:pic>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The envelope versus the message</a:t>
            </a:r>
          </a:p>
        </p:txBody>
      </p:sp>
      <p:sp>
        <p:nvSpPr>
          <p:cNvPr id="3" name="Content Placeholder 3"/>
          <p:cNvSpPr>
            <a:spLocks noGrp="1"/>
          </p:cNvSpPr>
          <p:nvPr>
            <p:ph idx="1" sz="half"/>
          </p:nvPr>
        </p:nvSpPr>
        <p:spPr/>
        <p:txBody>
          <a:bodyPr/>
          <a:lstStyle/>
          <a:p>
            <a:pPr lvl="0" indent="0" marL="0">
              <a:buNone/>
            </a:pPr>
            <a:r>
              <a:rPr b="1"/>
              <a:t>Envelope (RFC 5321)</a:t>
            </a:r>
          </a:p>
          <a:p>
            <a:pPr lvl="0"/>
            <a:r>
              <a:rPr>
                <a:latin typeface="Consolas"/>
              </a:rPr>
              <a:t>MAIL FROM</a:t>
            </a:r>
            <a:r>
              <a:rPr/>
              <a:t> and </a:t>
            </a:r>
            <a:r>
              <a:rPr>
                <a:latin typeface="Consolas"/>
              </a:rPr>
              <a:t>RCPT TO</a:t>
            </a:r>
          </a:p>
          <a:p>
            <a:pPr lvl="0"/>
            <a:r>
              <a:rPr/>
              <a:t>SMTP commands, not message headers</a:t>
            </a:r>
          </a:p>
          <a:p>
            <a:pPr lvl="0"/>
            <a:r>
              <a:rPr/>
              <a:t>The receiver records </a:t>
            </a:r>
            <a:r>
              <a:rPr>
                <a:latin typeface="Consolas"/>
              </a:rPr>
              <a:t>MAIL FROM</a:t>
            </a:r>
            <a:r>
              <a:rPr/>
              <a:t> as </a:t>
            </a:r>
            <a:r>
              <a:rPr>
                <a:latin typeface="Consolas"/>
              </a:rPr>
              <a:t>Return-Path</a:t>
            </a:r>
          </a:p>
        </p:txBody>
      </p:sp>
      <p:sp>
        <p:nvSpPr>
          <p:cNvPr id="4" name="Content Placeholder 4"/>
          <p:cNvSpPr>
            <a:spLocks noGrp="1"/>
          </p:cNvSpPr>
          <p:nvPr>
            <p:ph idx="2" sz="half"/>
          </p:nvPr>
        </p:nvSpPr>
        <p:spPr/>
        <p:txBody>
          <a:bodyPr/>
          <a:lstStyle/>
          <a:p>
            <a:pPr lvl="0" indent="0" marL="0">
              <a:buNone/>
            </a:pPr>
            <a:r>
              <a:rPr b="1"/>
              <a:t>Message (RFC 5322)</a:t>
            </a:r>
          </a:p>
          <a:p>
            <a:pPr lvl="0"/>
            <a:r>
              <a:rPr>
                <a:latin typeface="Consolas"/>
              </a:rPr>
              <a:t>From</a:t>
            </a:r>
            <a:r>
              <a:rPr/>
              <a:t>: the author, what the user sees</a:t>
            </a:r>
          </a:p>
          <a:p>
            <a:pPr lvl="0"/>
            <a:r>
              <a:rPr>
                <a:latin typeface="Consolas"/>
              </a:rPr>
              <a:t>Sender</a:t>
            </a:r>
            <a:r>
              <a:rPr/>
              <a:t>: who actually sent it, if different</a:t>
            </a:r>
          </a:p>
          <a:p>
            <a:pPr lvl="1"/>
            <a:r>
              <a:rPr/>
              <a:t>Outlook: “</a:t>
            </a:r>
            <a:r>
              <a:rPr i="1"/>
              <a:t>Sender</a:t>
            </a:r>
            <a:r>
              <a:rPr/>
              <a:t> on behalf of </a:t>
            </a:r>
            <a:r>
              <a:rPr i="1"/>
              <a:t>From</a:t>
            </a:r>
            <a:r>
              <a:rPr/>
              <a:t>”</a:t>
            </a:r>
          </a:p>
          <a:p>
            <a:pPr lvl="0"/>
            <a:r>
              <a:rPr/>
              <a:t>The visible sender and the envelope sender can differ</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Reading email headers</a:t>
            </a:r>
          </a:p>
        </p:txBody>
      </p:sp>
      <p:sp>
        <p:nvSpPr>
          <p:cNvPr id="3" name="Content Placeholder 3"/>
          <p:cNvSpPr>
            <a:spLocks noGrp="1"/>
          </p:cNvSpPr>
          <p:nvPr>
            <p:ph idx="1"/>
          </p:nvPr>
        </p:nvSpPr>
        <p:spPr/>
        <p:txBody>
          <a:bodyPr/>
          <a:lstStyle/>
          <a:p>
            <a:pPr lvl="0"/>
            <a:r>
              <a:rPr>
                <a:latin typeface="Consolas"/>
              </a:rPr>
              <a:t>Received</a:t>
            </a:r>
            <a:r>
              <a:rPr/>
              <a:t> headers and the path a message took</a:t>
            </a:r>
          </a:p>
          <a:p>
            <a:pPr lvl="1"/>
            <a:r>
              <a:rPr/>
              <a:t>Each hop adds one at the top; read from the bottom up</a:t>
            </a:r>
          </a:p>
          <a:p>
            <a:pPr lvl="0"/>
            <a:r>
              <a:rPr>
                <a:latin typeface="Consolas"/>
              </a:rPr>
              <a:t>Authentication-Results</a:t>
            </a:r>
            <a:r>
              <a:rPr/>
              <a:t> and which system added them</a:t>
            </a:r>
          </a:p>
          <a:p>
            <a:pPr lvl="1"/>
            <a:r>
              <a:rPr/>
              <a:t>Trust the one your own boundary added</a:t>
            </a:r>
          </a:p>
          <a:p>
            <a:pPr lvl="0"/>
            <a:r>
              <a:rPr/>
              <a:t>Which headers can be trusted?</a:t>
            </a:r>
          </a:p>
          <a:p>
            <a:pPr lvl="1"/>
            <a:r>
              <a:rPr/>
              <a:t>Only those added by systems you control; everything below can be forged</a:t>
            </a:r>
          </a:p>
          <a:p>
            <a:pPr lvl="0"/>
            <a:r>
              <a:rPr/>
              <a:t>Microsoft’s Message Header Analyzer lays it all out</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SPF</a:t>
            </a:r>
          </a:p>
        </p:txBody>
      </p:sp>
      <p:sp>
        <p:nvSpPr>
          <p:cNvPr id="3" name="Content Placeholder 3"/>
          <p:cNvSpPr>
            <a:spLocks noGrp="1"/>
          </p:cNvSpPr>
          <p:nvPr>
            <p:ph idx="1"/>
          </p:nvPr>
        </p:nvSpPr>
        <p:spPr/>
        <p:txBody>
          <a:bodyPr/>
          <a:lstStyle/>
          <a:p>
            <a:pPr lvl="0"/>
            <a:r>
              <a:rPr/>
              <a:t>What SPF checks: is this IP allowed to send for the envelope domain?</a:t>
            </a:r>
          </a:p>
          <a:p>
            <a:pPr lvl="0"/>
            <a:r>
              <a:rPr/>
              <a:t>DNS records, sending IPs, and envelope domains</a:t>
            </a:r>
          </a:p>
          <a:p>
            <a:pPr lvl="0"/>
            <a:r>
              <a:rPr/>
              <a:t>SPF pass does not necessarily mean DMARC pass</a:t>
            </a:r>
          </a:p>
          <a:p>
            <a:pPr lvl="0" indent="0">
              <a:buNone/>
            </a:pPr>
            <a:r>
              <a:rPr>
                <a:latin typeface="Consolas"/>
              </a:rPr>
              <a:t>red.secondary.com.  TXT  "v=spf1 ip4:182.107.92.190 -all"</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DKIM</a:t>
            </a:r>
          </a:p>
        </p:txBody>
      </p:sp>
      <p:sp>
        <p:nvSpPr>
          <p:cNvPr id="3" name="Content Placeholder 3"/>
          <p:cNvSpPr>
            <a:spLocks noGrp="1"/>
          </p:cNvSpPr>
          <p:nvPr>
            <p:ph idx="1"/>
          </p:nvPr>
        </p:nvSpPr>
        <p:spPr/>
        <p:txBody>
          <a:bodyPr/>
          <a:lstStyle/>
          <a:p>
            <a:pPr lvl="0"/>
            <a:r>
              <a:rPr/>
              <a:t>What DKIM signs and verifies: selected headers and the body</a:t>
            </a:r>
          </a:p>
          <a:p>
            <a:pPr lvl="0"/>
            <a:r>
              <a:rPr/>
              <a:t>Signing domain (</a:t>
            </a:r>
            <a:r>
              <a:rPr>
                <a:latin typeface="Consolas"/>
              </a:rPr>
              <a:t>d=</a:t>
            </a:r>
            <a:r>
              <a:rPr/>
              <a:t>), selector (</a:t>
            </a:r>
            <a:r>
              <a:rPr>
                <a:latin typeface="Consolas"/>
              </a:rPr>
              <a:t>s=</a:t>
            </a:r>
            <a:r>
              <a:rPr/>
              <a:t>), and DNS public key</a:t>
            </a:r>
          </a:p>
          <a:p>
            <a:pPr lvl="0"/>
            <a:r>
              <a:rPr/>
              <a:t>The relevant fields in a DKIM signature</a:t>
            </a:r>
          </a:p>
          <a:p>
            <a:pPr lvl="0" indent="0">
              <a:buNone/>
            </a:pPr>
            <a:r>
              <a:rPr>
                <a:latin typeface="Consolas"/>
              </a:rPr>
              <a:t>DKIM-Signature: v=1; a=rsa-sha256; d=primary.com; s=selector;
    h=from:to:subject:date; bh=...; b=...
selector._domainkey.primary.com  TXT  "v=DKIM1; k=rsa; p=..."</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DMARC</a:t>
            </a:r>
          </a:p>
        </p:txBody>
      </p:sp>
      <p:sp>
        <p:nvSpPr>
          <p:cNvPr id="3" name="Content Placeholder 3"/>
          <p:cNvSpPr>
            <a:spLocks noGrp="1"/>
          </p:cNvSpPr>
          <p:nvPr>
            <p:ph idx="1"/>
          </p:nvPr>
        </p:nvSpPr>
        <p:spPr/>
        <p:txBody>
          <a:bodyPr/>
          <a:lstStyle/>
          <a:p>
            <a:pPr lvl="0"/>
            <a:r>
              <a:rPr/>
              <a:t>Start with the domain in the message </a:t>
            </a:r>
            <a:r>
              <a:rPr>
                <a:latin typeface="Consolas"/>
              </a:rPr>
              <a:t>From</a:t>
            </a:r>
            <a:r>
              <a:rPr/>
              <a:t> header</a:t>
            </a:r>
          </a:p>
          <a:p>
            <a:pPr lvl="0"/>
            <a:r>
              <a:rPr/>
              <a:t>Alignment with SPF and/or DKIM: a pass </a:t>
            </a:r>
            <a:r>
              <a:rPr b="1"/>
              <a:t>and</a:t>
            </a:r>
            <a:r>
              <a:rPr/>
              <a:t> a matching domain</a:t>
            </a:r>
          </a:p>
          <a:p>
            <a:pPr lvl="0"/>
            <a:r>
              <a:rPr/>
              <a:t>Strict versus relaxed alignment</a:t>
            </a:r>
          </a:p>
          <a:p>
            <a:pPr lvl="1"/>
            <a:r>
              <a:rPr/>
              <a:t>Strict: identical domains</a:t>
            </a:r>
          </a:p>
          <a:p>
            <a:pPr lvl="1"/>
            <a:r>
              <a:rPr/>
              <a:t>Relaxed: same organizational domain</a:t>
            </a:r>
          </a:p>
          <a:p>
            <a:pPr lvl="0"/>
            <a:r>
              <a:rPr/>
              <a:t>DMARC policy and reporting: </a:t>
            </a:r>
            <a:r>
              <a:rPr>
                <a:latin typeface="Consolas"/>
              </a:rPr>
              <a:t>p=none | quarantine | reject</a:t>
            </a:r>
            <a:r>
              <a:rPr/>
              <a:t>, </a:t>
            </a:r>
            <a:r>
              <a:rPr>
                <a:latin typeface="Consolas"/>
              </a:rPr>
              <a:t>rua=</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Work through it: example 1</a:t>
            </a:r>
          </a:p>
        </p:txBody>
      </p:sp>
      <p:sp>
        <p:nvSpPr>
          <p:cNvPr id="3" name="Content Placeholder 3"/>
          <p:cNvSpPr>
            <a:spLocks noGrp="1"/>
          </p:cNvSpPr>
          <p:nvPr>
            <p:ph idx="1"/>
          </p:nvPr>
        </p:nvSpPr>
        <p:spPr/>
        <p:txBody>
          <a:bodyPr/>
          <a:lstStyle/>
          <a:p>
            <a:pPr lvl="0" indent="0">
              <a:buNone/>
            </a:pPr>
            <a:r>
              <a:rPr b="1">
                <a:solidFill>
                  <a:srgbClr val="0C2454"/>
                </a:solidFill>
                <a:latin typeface="Consolas"/>
              </a:rPr>
              <a:t>&gt; HELO red.secondary.com</a:t>
            </a:r>
            <a:br/>
            <a:r>
              <a:rPr>
                <a:solidFill>
                  <a:srgbClr val="B3352F"/>
                </a:solidFill>
                <a:latin typeface="Consolas"/>
              </a:rPr>
              <a:t>. 250 smtp.learndmarc.com Hello red.secondary.com &lt;153.112.107.49&gt;</a:t>
            </a:r>
            <a:br/>
            <a:r>
              <a:rPr b="1">
                <a:solidFill>
                  <a:srgbClr val="0C2454"/>
                </a:solidFill>
                <a:latin typeface="Consolas"/>
              </a:rPr>
              <a:t>&gt; MAIL FROM: &lt;gina@red.secondary.com&gt;</a:t>
            </a:r>
            <a:br/>
            <a:r>
              <a:rPr b="1">
                <a:solidFill>
                  <a:srgbClr val="0C2454"/>
                </a:solidFill>
                <a:latin typeface="Consolas"/>
              </a:rPr>
              <a:t>&gt; From: "Gina" &lt;gina@blue.secondary.com&gt;</a:t>
            </a:r>
            <a:br/>
            <a:r>
              <a:rPr b="1">
                <a:solidFill>
                  <a:srgbClr val="0C2454"/>
                </a:solidFill>
                <a:latin typeface="Consolas"/>
              </a:rPr>
              <a:t>&gt; DKIM-Signature: v=1; a=rsa-sha256; d=primary.com; s=selector;</a:t>
            </a:r>
            <a:br/>
            <a:r>
              <a:rPr>
                <a:solidFill>
                  <a:srgbClr val="1A1D23"/>
                </a:solidFill>
                <a:latin typeface="Consolas"/>
              </a:rPr>
              <a:t>  </a:t>
            </a:r>
            <a:r>
              <a:rPr i="1">
                <a:solidFill>
                  <a:srgbClr val="6B7480"/>
                </a:solidFill>
                <a:latin typeface="Consolas"/>
              </a:rPr>
              <a:t>(DKIM Auth Result: PASS)</a:t>
            </a:r>
            <a:br/>
            <a:br/>
            <a:r>
              <a:rPr>
                <a:solidFill>
                  <a:srgbClr val="034BAB"/>
                </a:solidFill>
                <a:latin typeface="Consolas"/>
              </a:rPr>
              <a:t>_dmarc.blue.secondary.com: "v=DMARC1; p=quarantine; t=y;"</a:t>
            </a:r>
            <a:br/>
            <a:r>
              <a:rPr>
                <a:solidFill>
                  <a:srgbClr val="034BAB"/>
                </a:solidFill>
                <a:latin typeface="Consolas"/>
              </a:rPr>
              <a:t>red.secondary.com:  "v=spf1 ip4:182.107.92.190 -all"</a:t>
            </a:r>
            <a:br/>
            <a:r>
              <a:rPr>
                <a:solidFill>
                  <a:srgbClr val="034BAB"/>
                </a:solidFill>
                <a:latin typeface="Consolas"/>
              </a:rPr>
              <a:t>blue.secondary.com: "v=spf1 ip4:24.121.50.128 ~all"</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1: answer</a:t>
            </a:r>
          </a:p>
        </p:txBody>
      </p:sp>
      <p:sp>
        <p:nvSpPr>
          <p:cNvPr id="3" name="Content Placeholder 3"/>
          <p:cNvSpPr>
            <a:spLocks noGrp="1"/>
          </p:cNvSpPr>
          <p:nvPr>
            <p:ph idx="1"/>
          </p:nvPr>
        </p:nvSpPr>
        <p:spPr/>
        <p:txBody>
          <a:bodyPr/>
          <a:lstStyle/>
          <a:p>
            <a:pPr lvl="0"/>
            <a:r>
              <a:rPr b="1"/>
              <a:t>DMARC fails, but the message will not be treated as suspicious</a:t>
            </a:r>
          </a:p>
          <a:p>
            <a:pPr lvl="0"/>
            <a:r>
              <a:rPr/>
              <a:t>SPF uses </a:t>
            </a:r>
            <a:r>
              <a:rPr>
                <a:latin typeface="Consolas"/>
              </a:rPr>
              <a:t>red.secondary.com</a:t>
            </a:r>
            <a:r>
              <a:rPr/>
              <a:t> (MAIL FROM); DMARC uses </a:t>
            </a:r>
            <a:r>
              <a:rPr>
                <a:latin typeface="Consolas"/>
              </a:rPr>
              <a:t>blue.secondary.com</a:t>
            </a:r>
            <a:r>
              <a:rPr/>
              <a:t> (From)</a:t>
            </a:r>
          </a:p>
          <a:p>
            <a:pPr lvl="0"/>
            <a:r>
              <a:rPr/>
              <a:t>SPF fails: 153.112.107.49 is not allowed for </a:t>
            </a:r>
            <a:r>
              <a:rPr>
                <a:latin typeface="Consolas"/>
              </a:rPr>
              <a:t>red.secondary.com</a:t>
            </a:r>
          </a:p>
          <a:p>
            <a:pPr lvl="0"/>
            <a:r>
              <a:rPr/>
              <a:t>DKIM passes, but </a:t>
            </a:r>
            <a:r>
              <a:rPr>
                <a:latin typeface="Consolas"/>
              </a:rPr>
              <a:t>primary.com</a:t>
            </a:r>
            <a:r>
              <a:rPr/>
              <a:t> does not align with </a:t>
            </a:r>
            <a:r>
              <a:rPr>
                <a:latin typeface="Consolas"/>
              </a:rPr>
              <a:t>secondary.com</a:t>
            </a:r>
          </a:p>
          <a:p>
            <a:pPr lvl="0"/>
            <a:r>
              <a:rPr/>
              <a:t>Relaxed alignment applies (no </a:t>
            </a:r>
            <a:r>
              <a:rPr>
                <a:latin typeface="Consolas"/>
              </a:rPr>
              <a:t>adkim</a:t>
            </a:r>
            <a:r>
              <a:rPr/>
              <a:t>/</a:t>
            </a:r>
            <a:r>
              <a:rPr>
                <a:latin typeface="Consolas"/>
              </a:rPr>
              <a:t>aspf</a:t>
            </a:r>
            <a:r>
              <a:rPr/>
              <a:t>)</a:t>
            </a:r>
          </a:p>
          <a:p>
            <a:pPr lvl="0"/>
            <a:r>
              <a:rPr>
                <a:latin typeface="Consolas"/>
              </a:rPr>
              <a:t>t=y</a:t>
            </a:r>
            <a:r>
              <a:rPr/>
              <a:t> is test mode: receivers are asked not to apply the policy</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Work through it: example 2</a:t>
            </a:r>
          </a:p>
        </p:txBody>
      </p:sp>
      <p:sp>
        <p:nvSpPr>
          <p:cNvPr id="3" name="Content Placeholder 3"/>
          <p:cNvSpPr>
            <a:spLocks noGrp="1"/>
          </p:cNvSpPr>
          <p:nvPr>
            <p:ph idx="1"/>
          </p:nvPr>
        </p:nvSpPr>
        <p:spPr/>
        <p:txBody>
          <a:bodyPr/>
          <a:lstStyle/>
          <a:p>
            <a:pPr lvl="0" indent="0">
              <a:buNone/>
            </a:pPr>
            <a:r>
              <a:rPr b="1">
                <a:solidFill>
                  <a:srgbClr val="0C2454"/>
                </a:solidFill>
                <a:latin typeface="Consolas"/>
              </a:rPr>
              <a:t>&gt; HELO red.primary.com</a:t>
            </a:r>
            <a:br/>
            <a:r>
              <a:rPr>
                <a:solidFill>
                  <a:srgbClr val="B3352F"/>
                </a:solidFill>
                <a:latin typeface="Consolas"/>
              </a:rPr>
              <a:t>. 250 smtp.learndmarc.com Hello red.primary.com &lt;97.196.174.88&gt;</a:t>
            </a:r>
            <a:br/>
            <a:r>
              <a:rPr b="1">
                <a:solidFill>
                  <a:srgbClr val="0C2454"/>
                </a:solidFill>
                <a:latin typeface="Consolas"/>
              </a:rPr>
              <a:t>&gt; MAIL FROM: &lt;terry@red.primary.com&gt;</a:t>
            </a:r>
            <a:br/>
            <a:r>
              <a:rPr b="1">
                <a:solidFill>
                  <a:srgbClr val="0C2454"/>
                </a:solidFill>
                <a:latin typeface="Consolas"/>
              </a:rPr>
              <a:t>&gt; From: "Terry" &lt;terry@blue.primary.com&gt;</a:t>
            </a:r>
            <a:br/>
            <a:r>
              <a:rPr b="1">
                <a:solidFill>
                  <a:srgbClr val="0C2454"/>
                </a:solidFill>
                <a:latin typeface="Consolas"/>
              </a:rPr>
              <a:t>&gt; DKIM-Signature: v=1; a=rsa-sha256; d=secondary.com; s=selector;</a:t>
            </a:r>
            <a:br/>
            <a:r>
              <a:rPr>
                <a:solidFill>
                  <a:srgbClr val="1A1D23"/>
                </a:solidFill>
                <a:latin typeface="Consolas"/>
              </a:rPr>
              <a:t>  </a:t>
            </a:r>
            <a:r>
              <a:rPr i="1">
                <a:solidFill>
                  <a:srgbClr val="6B7480"/>
                </a:solidFill>
                <a:latin typeface="Consolas"/>
              </a:rPr>
              <a:t>(DKIM Auth Result: FAIL)</a:t>
            </a:r>
            <a:br/>
            <a:br/>
            <a:r>
              <a:rPr>
                <a:solidFill>
                  <a:srgbClr val="034BAB"/>
                </a:solidFill>
                <a:latin typeface="Consolas"/>
              </a:rPr>
              <a:t>_dmarc.blue.primary.com: "v=DMARC1; p=quarantine; adkim=s; aspf=s;"</a:t>
            </a:r>
            <a:br/>
            <a:r>
              <a:rPr>
                <a:solidFill>
                  <a:srgbClr val="034BAB"/>
                </a:solidFill>
                <a:latin typeface="Consolas"/>
              </a:rPr>
              <a:t>red.primary.com:  "v=spf1 ip4:95.129.128.101 ~all"</a:t>
            </a:r>
            <a:br/>
            <a:r>
              <a:rPr>
                <a:solidFill>
                  <a:srgbClr val="034BAB"/>
                </a:solidFill>
                <a:latin typeface="Consolas"/>
              </a:rPr>
              <a:t>blue.primary.com: "v=spf1 ip4:44.62.173.139 ~all"</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2: answer</a:t>
            </a:r>
          </a:p>
        </p:txBody>
      </p:sp>
      <p:sp>
        <p:nvSpPr>
          <p:cNvPr id="3" name="Content Placeholder 3"/>
          <p:cNvSpPr>
            <a:spLocks noGrp="1"/>
          </p:cNvSpPr>
          <p:nvPr>
            <p:ph idx="1"/>
          </p:nvPr>
        </p:nvSpPr>
        <p:spPr/>
        <p:txBody>
          <a:bodyPr/>
          <a:lstStyle/>
          <a:p>
            <a:pPr lvl="0"/>
            <a:r>
              <a:rPr b="1"/>
              <a:t>DMARC fails, and the message will be quarantined</a:t>
            </a:r>
          </a:p>
          <a:p>
            <a:pPr lvl="0"/>
            <a:r>
              <a:rPr/>
              <a:t>SPF uses </a:t>
            </a:r>
            <a:r>
              <a:rPr>
                <a:latin typeface="Consolas"/>
              </a:rPr>
              <a:t>red.primary.com</a:t>
            </a:r>
            <a:r>
              <a:rPr/>
              <a:t>; DMARC uses </a:t>
            </a:r>
            <a:r>
              <a:rPr>
                <a:latin typeface="Consolas"/>
              </a:rPr>
              <a:t>blue.primary.com</a:t>
            </a:r>
          </a:p>
          <a:p>
            <a:pPr lvl="0"/>
            <a:r>
              <a:rPr/>
              <a:t>SPF fails: 97.196.174.88 is not allowed for </a:t>
            </a:r>
            <a:r>
              <a:rPr>
                <a:latin typeface="Consolas"/>
              </a:rPr>
              <a:t>red.primary.com</a:t>
            </a:r>
          </a:p>
          <a:p>
            <a:pPr lvl="0"/>
            <a:r>
              <a:rPr/>
              <a:t>DKIM fails validation: the message has been altered</a:t>
            </a:r>
          </a:p>
          <a:p>
            <a:pPr lvl="0"/>
            <a:r>
              <a:rPr/>
              <a:t>Strict alignment: domains must match exactly</a:t>
            </a:r>
          </a:p>
          <a:p>
            <a:pPr lvl="0"/>
            <a:r>
              <a:rPr/>
              <a:t>Neither SPF nor DKIM passed with alignment; </a:t>
            </a:r>
            <a:r>
              <a:rPr>
                <a:latin typeface="Consolas"/>
              </a:rPr>
              <a:t>p=quarantine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Work through it: example 3</a:t>
            </a:r>
          </a:p>
        </p:txBody>
      </p:sp>
      <p:sp>
        <p:nvSpPr>
          <p:cNvPr id="3" name="Content Placeholder 3"/>
          <p:cNvSpPr>
            <a:spLocks noGrp="1"/>
          </p:cNvSpPr>
          <p:nvPr>
            <p:ph idx="1"/>
          </p:nvPr>
        </p:nvSpPr>
        <p:spPr/>
        <p:txBody>
          <a:bodyPr/>
          <a:lstStyle/>
          <a:p>
            <a:pPr lvl="0" indent="0">
              <a:buNone/>
            </a:pPr>
            <a:r>
              <a:rPr b="1">
                <a:solidFill>
                  <a:srgbClr val="0C2454"/>
                </a:solidFill>
                <a:latin typeface="Consolas"/>
              </a:rPr>
              <a:t>&gt; HELO blue.secondary.com</a:t>
            </a:r>
            <a:br/>
            <a:r>
              <a:rPr>
                <a:solidFill>
                  <a:srgbClr val="B3352F"/>
                </a:solidFill>
                <a:latin typeface="Consolas"/>
              </a:rPr>
              <a:t>. 250 smtp.learndmarc.com Hello blue.secondary.com &lt;156.157.23.197&gt;</a:t>
            </a:r>
            <a:br/>
            <a:r>
              <a:rPr b="1">
                <a:solidFill>
                  <a:srgbClr val="0C2454"/>
                </a:solidFill>
                <a:latin typeface="Consolas"/>
              </a:rPr>
              <a:t>&gt; MAIL FROM: &lt;ray@blue.secondary.com&gt;</a:t>
            </a:r>
            <a:br/>
            <a:r>
              <a:rPr b="1">
                <a:solidFill>
                  <a:srgbClr val="0C2454"/>
                </a:solidFill>
                <a:latin typeface="Consolas"/>
              </a:rPr>
              <a:t>&gt; From: "Ray" &lt;ray@red.primary.com&gt;</a:t>
            </a:r>
            <a:br/>
            <a:r>
              <a:rPr b="1">
                <a:solidFill>
                  <a:srgbClr val="0C2454"/>
                </a:solidFill>
                <a:latin typeface="Consolas"/>
              </a:rPr>
              <a:t>&gt; DKIM-Signature: v=1; a=rsa-sha256; d=blue.primary.com; s=selector;</a:t>
            </a:r>
            <a:br/>
            <a:r>
              <a:rPr>
                <a:solidFill>
                  <a:srgbClr val="1A1D23"/>
                </a:solidFill>
                <a:latin typeface="Consolas"/>
              </a:rPr>
              <a:t>  </a:t>
            </a:r>
            <a:r>
              <a:rPr i="1">
                <a:solidFill>
                  <a:srgbClr val="6B7480"/>
                </a:solidFill>
                <a:latin typeface="Consolas"/>
              </a:rPr>
              <a:t>(DKIM Auth Result: PASS)</a:t>
            </a:r>
            <a:br/>
            <a:br/>
            <a:r>
              <a:rPr>
                <a:solidFill>
                  <a:srgbClr val="034BAB"/>
                </a:solidFill>
                <a:latin typeface="Consolas"/>
              </a:rPr>
              <a:t>_dmarc.red.primary.com: "v=DMARC1; p=none; adkim=s; aspf=s;"</a:t>
            </a:r>
            <a:br/>
            <a:r>
              <a:rPr>
                <a:solidFill>
                  <a:srgbClr val="034BAB"/>
                </a:solidFill>
                <a:latin typeface="Consolas"/>
              </a:rPr>
              <a:t>blue.secondary.com: "v=spf1 ip4:62.165.120.61 ~all"</a:t>
            </a:r>
            <a:br/>
            <a:r>
              <a:rPr>
                <a:solidFill>
                  <a:srgbClr val="034BAB"/>
                </a:solidFill>
                <a:latin typeface="Consolas"/>
              </a:rPr>
              <a:t>red.primary.com:    "v=spf1 ip4:156.157.23.197 -all"</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3: answer</a:t>
            </a:r>
          </a:p>
        </p:txBody>
      </p:sp>
      <p:sp>
        <p:nvSpPr>
          <p:cNvPr id="3" name="Content Placeholder 3"/>
          <p:cNvSpPr>
            <a:spLocks noGrp="1"/>
          </p:cNvSpPr>
          <p:nvPr>
            <p:ph idx="1"/>
          </p:nvPr>
        </p:nvSpPr>
        <p:spPr/>
        <p:txBody>
          <a:bodyPr/>
          <a:lstStyle/>
          <a:p>
            <a:pPr lvl="0"/>
            <a:r>
              <a:rPr b="1"/>
              <a:t>DMARC fails, but no action is taken</a:t>
            </a:r>
          </a:p>
          <a:p>
            <a:pPr lvl="0"/>
            <a:r>
              <a:rPr/>
              <a:t>SPF uses </a:t>
            </a:r>
            <a:r>
              <a:rPr>
                <a:latin typeface="Consolas"/>
              </a:rPr>
              <a:t>blue.secondary.com</a:t>
            </a:r>
            <a:r>
              <a:rPr/>
              <a:t>; DMARC uses </a:t>
            </a:r>
            <a:r>
              <a:rPr>
                <a:latin typeface="Consolas"/>
              </a:rPr>
              <a:t>red.primary.com</a:t>
            </a:r>
          </a:p>
          <a:p>
            <a:pPr lvl="0"/>
            <a:r>
              <a:rPr/>
              <a:t>SPF fails: 156.157.23.197 is not allowed for </a:t>
            </a:r>
            <a:r>
              <a:rPr>
                <a:latin typeface="Consolas"/>
              </a:rPr>
              <a:t>blue.secondary.com</a:t>
            </a:r>
          </a:p>
          <a:p>
            <a:pPr lvl="0"/>
            <a:r>
              <a:rPr/>
              <a:t>DKIM passes, but strict alignment: </a:t>
            </a:r>
            <a:r>
              <a:rPr>
                <a:latin typeface="Consolas"/>
              </a:rPr>
              <a:t>blue.primary.com</a:t>
            </a:r>
            <a:r>
              <a:rPr/>
              <a:t> ≠ </a:t>
            </a:r>
            <a:r>
              <a:rPr>
                <a:latin typeface="Consolas"/>
              </a:rPr>
              <a:t>red.primary.com</a:t>
            </a:r>
          </a:p>
          <a:p>
            <a:pPr lvl="1"/>
            <a:r>
              <a:rPr/>
              <a:t>Under relaxed alignment, DKIM would have aligned</a:t>
            </a:r>
          </a:p>
          <a:p>
            <a:pPr lvl="0"/>
            <a:r>
              <a:rPr>
                <a:latin typeface="Consolas"/>
              </a:rPr>
              <a:t>p=none</a:t>
            </a:r>
            <a:r>
              <a:rPr/>
              <a:t>: monitoring only</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Other email security mechanisms</a:t>
            </a:r>
          </a:p>
        </p:txBody>
      </p:sp>
      <p:sp>
        <p:nvSpPr>
          <p:cNvPr id="3" name="Content Placeholder 3"/>
          <p:cNvSpPr>
            <a:spLocks noGrp="1"/>
          </p:cNvSpPr>
          <p:nvPr>
            <p:ph idx="1"/>
          </p:nvPr>
        </p:nvSpPr>
        <p:spPr/>
        <p:txBody>
          <a:bodyPr/>
          <a:lstStyle/>
          <a:p>
            <a:pPr lvl="0"/>
            <a:r>
              <a:rPr/>
              <a:t>MTA-STS and TLS reporting (TLS-RPT)</a:t>
            </a:r>
          </a:p>
          <a:p>
            <a:pPr lvl="1"/>
            <a:r>
              <a:rPr/>
              <a:t>MTA-STS: publish that your MX requires TLS with a valid certificate</a:t>
            </a:r>
          </a:p>
          <a:p>
            <a:pPr lvl="1"/>
            <a:r>
              <a:rPr/>
              <a:t>TLS-RPT: receive reports when senders cannot negotiate TLS</a:t>
            </a:r>
          </a:p>
          <a:p>
            <a:pPr lvl="0"/>
            <a:r>
              <a:rPr/>
              <a:t>Sender ID (briefly, for historical context)</a:t>
            </a:r>
          </a:p>
          <a:p>
            <a:pPr lvl="1"/>
            <a:r>
              <a:rPr/>
              <a:t>Checked a “purported responsible address” taken from the headers; the experiment was concluded in favor of SPF (RFC 6686, 2012)</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PowerShell</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Why PowerShell?</a:t>
            </a:r>
          </a:p>
        </p:txBody>
      </p:sp>
      <p:sp>
        <p:nvSpPr>
          <p:cNvPr id="3" name="Content Placeholder 3"/>
          <p:cNvSpPr>
            <a:spLocks noGrp="1"/>
          </p:cNvSpPr>
          <p:nvPr>
            <p:ph idx="1"/>
          </p:nvPr>
        </p:nvSpPr>
        <p:spPr/>
        <p:txBody>
          <a:bodyPr/>
          <a:lstStyle/>
          <a:p>
            <a:pPr lvl="0"/>
            <a:r>
              <a:rPr/>
              <a:t>Administration, automation, and analysis</a:t>
            </a:r>
          </a:p>
          <a:p>
            <a:pPr lvl="0"/>
            <a:r>
              <a:rPr/>
              <a:t>Turning a repetitive task into something repeatable</a:t>
            </a:r>
          </a:p>
          <a:p>
            <a:pPr lvl="0"/>
            <a:r>
              <a:rPr/>
              <a:t>Objects, not text: no parsing columns with regex</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Finding commands</a:t>
            </a:r>
          </a:p>
        </p:txBody>
      </p:sp>
      <p:sp>
        <p:nvSpPr>
          <p:cNvPr id="3" name="Content Placeholder 3"/>
          <p:cNvSpPr>
            <a:spLocks noGrp="1"/>
          </p:cNvSpPr>
          <p:nvPr>
            <p:ph idx="1"/>
          </p:nvPr>
        </p:nvSpPr>
        <p:spPr/>
        <p:txBody>
          <a:bodyPr/>
          <a:lstStyle/>
          <a:p>
            <a:pPr lvl="0"/>
            <a:r>
              <a:rPr>
                <a:latin typeface="Consolas"/>
              </a:rPr>
              <a:t>Get-Command</a:t>
            </a:r>
            <a:r>
              <a:rPr/>
              <a:t>, </a:t>
            </a:r>
            <a:r>
              <a:rPr>
                <a:latin typeface="Consolas"/>
              </a:rPr>
              <a:t>Get-Help</a:t>
            </a:r>
          </a:p>
          <a:p>
            <a:pPr lvl="0"/>
            <a:r>
              <a:rPr/>
              <a:t>Find the parameters and figure out what a command returns</a:t>
            </a:r>
          </a:p>
          <a:p>
            <a:pPr lvl="0" indent="0">
              <a:buNone/>
            </a:pPr>
            <a:r>
              <a:rPr>
                <a:solidFill>
                  <a:srgbClr val="034BAB"/>
                </a:solidFill>
                <a:latin typeface="Consolas"/>
              </a:rPr>
              <a:t>Get-Command</a:t>
            </a:r>
            <a:r>
              <a:rPr>
                <a:solidFill>
                  <a:srgbClr val="1A1D23"/>
                </a:solidFill>
                <a:latin typeface="Consolas"/>
              </a:rPr>
              <a:t> </a:t>
            </a:r>
            <a:r>
              <a:rPr>
                <a:solidFill>
                  <a:srgbClr val="5A6472"/>
                </a:solidFill>
                <a:latin typeface="Consolas"/>
              </a:rPr>
              <a:t>-</a:t>
            </a:r>
            <a:r>
              <a:rPr>
                <a:solidFill>
                  <a:srgbClr val="1A1D23"/>
                </a:solidFill>
                <a:latin typeface="Consolas"/>
              </a:rPr>
              <a:t>Noun WinEvent</a:t>
            </a:r>
            <a:br/>
            <a:r>
              <a:rPr>
                <a:solidFill>
                  <a:srgbClr val="034BAB"/>
                </a:solidFill>
                <a:latin typeface="Consolas"/>
              </a:rPr>
              <a:t>Get-Help</a:t>
            </a:r>
            <a:r>
              <a:rPr>
                <a:solidFill>
                  <a:srgbClr val="1A1D23"/>
                </a:solidFill>
                <a:latin typeface="Consolas"/>
              </a:rPr>
              <a:t> </a:t>
            </a:r>
            <a:r>
              <a:rPr>
                <a:solidFill>
                  <a:srgbClr val="034BAB"/>
                </a:solidFill>
                <a:latin typeface="Consolas"/>
              </a:rPr>
              <a:t>Get-WinEvent</a:t>
            </a:r>
            <a:r>
              <a:rPr>
                <a:solidFill>
                  <a:srgbClr val="1A1D23"/>
                </a:solidFill>
                <a:latin typeface="Consolas"/>
              </a:rPr>
              <a:t> </a:t>
            </a:r>
            <a:r>
              <a:rPr>
                <a:solidFill>
                  <a:srgbClr val="5A6472"/>
                </a:solidFill>
                <a:latin typeface="Consolas"/>
              </a:rPr>
              <a:t>-</a:t>
            </a:r>
            <a:r>
              <a:rPr>
                <a:solidFill>
                  <a:srgbClr val="1A1D23"/>
                </a:solidFill>
                <a:latin typeface="Consolas"/>
              </a:rPr>
              <a:t>Parameter FilterHashtable</a:t>
            </a:r>
            <a:br/>
            <a:r>
              <a:rPr>
                <a:solidFill>
                  <a:srgbClr val="034BAB"/>
                </a:solidFill>
                <a:latin typeface="Consolas"/>
              </a:rPr>
              <a:t>Get-Command</a:t>
            </a:r>
            <a:r>
              <a:rPr>
                <a:solidFill>
                  <a:srgbClr val="1A1D23"/>
                </a:solidFill>
                <a:latin typeface="Consolas"/>
              </a:rPr>
              <a:t> Get-FileHash </a:t>
            </a:r>
            <a:r>
              <a:rPr>
                <a:solidFill>
                  <a:srgbClr val="5A6472"/>
                </a:solidFill>
                <a:latin typeface="Consolas"/>
              </a:rPr>
              <a:t>-</a:t>
            </a:r>
            <a:r>
              <a:rPr>
                <a:solidFill>
                  <a:srgbClr val="1A1D23"/>
                </a:solidFill>
                <a:latin typeface="Consolas"/>
              </a:rPr>
              <a:t>Syntax</a:t>
            </a:r>
            <a:br/>
            <a:r>
              <a:rPr>
                <a:solidFill>
                  <a:srgbClr val="5A6472"/>
                </a:solidFill>
                <a:latin typeface="Consolas"/>
              </a:rPr>
              <a:t>(</a:t>
            </a:r>
            <a:r>
              <a:rPr>
                <a:solidFill>
                  <a:srgbClr val="034BAB"/>
                </a:solidFill>
                <a:latin typeface="Consolas"/>
              </a:rPr>
              <a:t>Get-Command</a:t>
            </a:r>
            <a:r>
              <a:rPr>
                <a:solidFill>
                  <a:srgbClr val="1A1D23"/>
                </a:solidFill>
                <a:latin typeface="Consolas"/>
              </a:rPr>
              <a:t> Get-FileHash</a:t>
            </a:r>
            <a:r>
              <a:rPr>
                <a:solidFill>
                  <a:srgbClr val="5A6472"/>
                </a:solidFill>
                <a:latin typeface="Consolas"/>
              </a:rPr>
              <a:t>).</a:t>
            </a:r>
            <a:r>
              <a:rPr>
                <a:solidFill>
                  <a:srgbClr val="034BAB"/>
                </a:solidFill>
                <a:latin typeface="Consolas"/>
              </a:rPr>
              <a:t>OutputType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Objects and the pipeline</a:t>
            </a:r>
          </a:p>
        </p:txBody>
      </p:sp>
      <p:sp>
        <p:nvSpPr>
          <p:cNvPr id="3" name="Content Placeholder 3"/>
          <p:cNvSpPr>
            <a:spLocks noGrp="1"/>
          </p:cNvSpPr>
          <p:nvPr>
            <p:ph idx="1"/>
          </p:nvPr>
        </p:nvSpPr>
        <p:spPr/>
        <p:txBody>
          <a:bodyPr/>
          <a:lstStyle/>
          <a:p>
            <a:pPr lvl="0"/>
            <a:r>
              <a:rPr/>
              <a:t>Objects versus plain text</a:t>
            </a:r>
          </a:p>
          <a:p>
            <a:pPr lvl="0"/>
            <a:r>
              <a:rPr>
                <a:latin typeface="Consolas"/>
              </a:rPr>
              <a:t>Get-Member</a:t>
            </a:r>
            <a:r>
              <a:rPr/>
              <a:t>, </a:t>
            </a:r>
            <a:r>
              <a:rPr>
                <a:latin typeface="Consolas"/>
              </a:rPr>
              <a:t>Select-Object</a:t>
            </a:r>
          </a:p>
          <a:p>
            <a:pPr lvl="0"/>
            <a:r>
              <a:rPr/>
              <a:t>Pass objects between commands</a:t>
            </a:r>
          </a:p>
          <a:p>
            <a:pPr lvl="0" indent="0">
              <a:buNone/>
            </a:pPr>
            <a:r>
              <a:rPr>
                <a:solidFill>
                  <a:srgbClr val="034BAB"/>
                </a:solidFill>
                <a:latin typeface="Consolas"/>
              </a:rPr>
              <a:t>Get-Item</a:t>
            </a:r>
            <a:r>
              <a:rPr>
                <a:solidFill>
                  <a:srgbClr val="1A1D23"/>
                </a:solidFill>
                <a:latin typeface="Consolas"/>
              </a:rPr>
              <a:t> C</a:t>
            </a:r>
            <a:r>
              <a:rPr>
                <a:solidFill>
                  <a:srgbClr val="5A6472"/>
                </a:solidFill>
                <a:latin typeface="Consolas"/>
              </a:rPr>
              <a:t>:</a:t>
            </a:r>
            <a:r>
              <a:rPr>
                <a:solidFill>
                  <a:srgbClr val="1A1D23"/>
                </a:solidFill>
                <a:latin typeface="Consolas"/>
              </a:rPr>
              <a:t>\Windows\notepad</a:t>
            </a:r>
            <a:r>
              <a:rPr>
                <a:solidFill>
                  <a:srgbClr val="5A6472"/>
                </a:solidFill>
                <a:latin typeface="Consolas"/>
              </a:rPr>
              <a:t>.</a:t>
            </a:r>
            <a:r>
              <a:rPr>
                <a:solidFill>
                  <a:srgbClr val="034BAB"/>
                </a:solidFill>
                <a:latin typeface="Consolas"/>
              </a:rPr>
              <a:t>exe</a:t>
            </a:r>
            <a:r>
              <a:rPr>
                <a:solidFill>
                  <a:srgbClr val="1A1D23"/>
                </a:solidFill>
                <a:latin typeface="Consolas"/>
              </a:rPr>
              <a:t> </a:t>
            </a:r>
            <a:r>
              <a:rPr>
                <a:solidFill>
                  <a:srgbClr val="5A6472"/>
                </a:solidFill>
                <a:latin typeface="Consolas"/>
              </a:rPr>
              <a:t>|</a:t>
            </a:r>
            <a:r>
              <a:rPr>
                <a:solidFill>
                  <a:srgbClr val="1A1D23"/>
                </a:solidFill>
                <a:latin typeface="Consolas"/>
              </a:rPr>
              <a:t> </a:t>
            </a:r>
            <a:r>
              <a:rPr>
                <a:solidFill>
                  <a:srgbClr val="034BAB"/>
                </a:solidFill>
                <a:latin typeface="Consolas"/>
              </a:rPr>
              <a:t>Get-Member</a:t>
            </a:r>
            <a:r>
              <a:rPr>
                <a:solidFill>
                  <a:srgbClr val="1A1D23"/>
                </a:solidFill>
                <a:latin typeface="Consolas"/>
              </a:rPr>
              <a:t> </a:t>
            </a:r>
            <a:r>
              <a:rPr>
                <a:solidFill>
                  <a:srgbClr val="5A6472"/>
                </a:solidFill>
                <a:latin typeface="Consolas"/>
              </a:rPr>
              <a:t>-</a:t>
            </a:r>
            <a:r>
              <a:rPr>
                <a:solidFill>
                  <a:srgbClr val="1A1D23"/>
                </a:solidFill>
                <a:latin typeface="Consolas"/>
              </a:rPr>
              <a:t>MemberType Property</a:t>
            </a:r>
            <a:br/>
            <a:r>
              <a:rPr>
                <a:solidFill>
                  <a:srgbClr val="034BAB"/>
                </a:solidFill>
                <a:latin typeface="Consolas"/>
              </a:rPr>
              <a:t>Get-Item</a:t>
            </a:r>
            <a:r>
              <a:rPr>
                <a:solidFill>
                  <a:srgbClr val="1A1D23"/>
                </a:solidFill>
                <a:latin typeface="Consolas"/>
              </a:rPr>
              <a:t> C</a:t>
            </a:r>
            <a:r>
              <a:rPr>
                <a:solidFill>
                  <a:srgbClr val="5A6472"/>
                </a:solidFill>
                <a:latin typeface="Consolas"/>
              </a:rPr>
              <a:t>:</a:t>
            </a:r>
            <a:r>
              <a:rPr>
                <a:solidFill>
                  <a:srgbClr val="1A1D23"/>
                </a:solidFill>
                <a:latin typeface="Consolas"/>
              </a:rPr>
              <a:t>\Windows\notepad</a:t>
            </a:r>
            <a:r>
              <a:rPr>
                <a:solidFill>
                  <a:srgbClr val="5A6472"/>
                </a:solidFill>
                <a:latin typeface="Consolas"/>
              </a:rPr>
              <a:t>.</a:t>
            </a:r>
            <a:r>
              <a:rPr>
                <a:solidFill>
                  <a:srgbClr val="034BAB"/>
                </a:solidFill>
                <a:latin typeface="Consolas"/>
              </a:rPr>
              <a:t>exe</a:t>
            </a:r>
            <a:r>
              <a:rPr>
                <a:solidFill>
                  <a:srgbClr val="1A1D23"/>
                </a:solidFill>
                <a:latin typeface="Consolas"/>
              </a:rPr>
              <a:t>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Name</a:t>
            </a:r>
            <a:r>
              <a:rPr>
                <a:solidFill>
                  <a:srgbClr val="5A6472"/>
                </a:solidFill>
                <a:latin typeface="Consolas"/>
              </a:rPr>
              <a:t>,</a:t>
            </a:r>
            <a:r>
              <a:rPr>
                <a:solidFill>
                  <a:srgbClr val="1A1D23"/>
                </a:solidFill>
                <a:latin typeface="Consolas"/>
              </a:rPr>
              <a:t> Length</a:t>
            </a:r>
            <a:r>
              <a:rPr>
                <a:solidFill>
                  <a:srgbClr val="5A6472"/>
                </a:solidFill>
                <a:latin typeface="Consolas"/>
              </a:rPr>
              <a:t>,</a:t>
            </a:r>
            <a:r>
              <a:rPr>
                <a:solidFill>
                  <a:srgbClr val="1A1D23"/>
                </a:solidFill>
                <a:latin typeface="Consolas"/>
              </a:rPr>
              <a:t> LastWriteTime</a:t>
            </a:r>
            <a:r>
              <a:rPr>
                <a:solidFill>
                  <a:srgbClr val="5A6472"/>
                </a:solidFill>
                <a:latin typeface="Consolas"/>
              </a:rPr>
              <a:t>,</a:t>
            </a:r>
            <a:r>
              <a:rPr>
                <a:solidFill>
                  <a:srgbClr val="1A1D23"/>
                </a:solidFill>
                <a:latin typeface="Consolas"/>
              </a:rPr>
              <a:t> VersionInfo</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Working with data</a:t>
            </a:r>
          </a:p>
        </p:txBody>
      </p:sp>
      <p:sp>
        <p:nvSpPr>
          <p:cNvPr id="3" name="Content Placeholder 3"/>
          <p:cNvSpPr>
            <a:spLocks noGrp="1"/>
          </p:cNvSpPr>
          <p:nvPr>
            <p:ph idx="1"/>
          </p:nvPr>
        </p:nvSpPr>
        <p:spPr/>
        <p:txBody>
          <a:bodyPr/>
          <a:lstStyle/>
          <a:p>
            <a:pPr lvl="0"/>
            <a:r>
              <a:rPr>
                <a:latin typeface="Consolas"/>
              </a:rPr>
              <a:t>Where-Object</a:t>
            </a:r>
            <a:r>
              <a:rPr/>
              <a:t>, </a:t>
            </a:r>
            <a:r>
              <a:rPr>
                <a:latin typeface="Consolas"/>
              </a:rPr>
              <a:t>Sort-Object</a:t>
            </a:r>
            <a:r>
              <a:rPr/>
              <a:t>, </a:t>
            </a:r>
            <a:r>
              <a:rPr>
                <a:latin typeface="Consolas"/>
              </a:rPr>
              <a:t>Group-Object</a:t>
            </a:r>
          </a:p>
          <a:p>
            <a:pPr lvl="0"/>
            <a:r>
              <a:rPr/>
              <a:t>Selecting information and exporting results</a:t>
            </a:r>
          </a:p>
          <a:p>
            <a:pPr lvl="0" indent="0">
              <a:buNone/>
            </a:pPr>
            <a:r>
              <a:rPr>
                <a:solidFill>
                  <a:srgbClr val="034BAB"/>
                </a:solidFill>
                <a:latin typeface="Consolas"/>
              </a:rPr>
              <a:t>Get-ChildItem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5A6472"/>
                </a:solidFill>
                <a:latin typeface="Consolas"/>
              </a:rPr>
              <a:t>.</a:t>
            </a:r>
            <a:r>
              <a:rPr>
                <a:solidFill>
                  <a:srgbClr val="1A1D23"/>
                </a:solidFill>
                <a:latin typeface="Consolas"/>
              </a:rPr>
              <a:t>\Case </a:t>
            </a:r>
            <a:r>
              <a:rPr>
                <a:solidFill>
                  <a:srgbClr val="5A6472"/>
                </a:solidFill>
                <a:latin typeface="Consolas"/>
              </a:rPr>
              <a:t>-</a:t>
            </a:r>
            <a:r>
              <a:rPr>
                <a:solidFill>
                  <a:srgbClr val="1A1D23"/>
                </a:solidFill>
                <a:latin typeface="Consolas"/>
              </a:rPr>
              <a:t>Recurse </a:t>
            </a:r>
            <a:r>
              <a:rPr>
                <a:solidFill>
                  <a:srgbClr val="5A6472"/>
                </a:solidFill>
                <a:latin typeface="Consolas"/>
              </a:rPr>
              <a:t>-</a:t>
            </a:r>
            <a:r>
              <a:rPr>
                <a:solidFill>
                  <a:srgbClr val="1A1D23"/>
                </a:solidFill>
                <a:latin typeface="Consolas"/>
              </a:rPr>
              <a:t>File </a:t>
            </a:r>
            <a:r>
              <a:rPr>
                <a:solidFill>
                  <a:srgbClr val="5A6472"/>
                </a:solidFill>
                <a:latin typeface="Consolas"/>
              </a:rPr>
              <a:t>|</a:t>
            </a:r>
            <a:br/>
            <a:r>
              <a:rPr>
                <a:solidFill>
                  <a:srgbClr val="1A1D23"/>
                </a:solidFill>
                <a:latin typeface="Consolas"/>
              </a:rPr>
              <a:t>    </a:t>
            </a:r>
            <a:r>
              <a:rPr>
                <a:solidFill>
                  <a:srgbClr val="034BAB"/>
                </a:solidFill>
                <a:latin typeface="Consolas"/>
              </a:rPr>
              <a:t>Where-Object</a:t>
            </a:r>
            <a:r>
              <a:rPr>
                <a:solidFill>
                  <a:srgbClr val="1A1D23"/>
                </a:solidFill>
                <a:latin typeface="Consolas"/>
              </a:rPr>
              <a:t> Length </a:t>
            </a:r>
            <a:r>
              <a:rPr>
                <a:solidFill>
                  <a:srgbClr val="5A6472"/>
                </a:solidFill>
                <a:latin typeface="Consolas"/>
              </a:rPr>
              <a:t>-gt</a:t>
            </a:r>
            <a:r>
              <a:rPr>
                <a:solidFill>
                  <a:srgbClr val="1A1D23"/>
                </a:solidFill>
                <a:latin typeface="Consolas"/>
              </a:rPr>
              <a:t> 10MB </a:t>
            </a:r>
            <a:r>
              <a:rPr>
                <a:solidFill>
                  <a:srgbClr val="5A6472"/>
                </a:solidFill>
                <a:latin typeface="Consolas"/>
              </a:rPr>
              <a:t>|</a:t>
            </a:r>
            <a:br/>
            <a:r>
              <a:rPr>
                <a:solidFill>
                  <a:srgbClr val="1A1D23"/>
                </a:solidFill>
                <a:latin typeface="Consolas"/>
              </a:rPr>
              <a:t>    </a:t>
            </a:r>
            <a:r>
              <a:rPr>
                <a:solidFill>
                  <a:srgbClr val="034BAB"/>
                </a:solidFill>
                <a:latin typeface="Consolas"/>
              </a:rPr>
              <a:t>Sort-Object</a:t>
            </a:r>
            <a:r>
              <a:rPr>
                <a:solidFill>
                  <a:srgbClr val="1A1D23"/>
                </a:solidFill>
                <a:latin typeface="Consolas"/>
              </a:rPr>
              <a:t> Length </a:t>
            </a:r>
            <a:r>
              <a:rPr>
                <a:solidFill>
                  <a:srgbClr val="5A6472"/>
                </a:solidFill>
                <a:latin typeface="Consolas"/>
              </a:rPr>
              <a:t>-</a:t>
            </a:r>
            <a:r>
              <a:rPr>
                <a:solidFill>
                  <a:srgbClr val="1A1D23"/>
                </a:solidFill>
                <a:latin typeface="Consolas"/>
              </a:rPr>
              <a:t>Descending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FullName</a:t>
            </a:r>
            <a:r>
              <a:rPr>
                <a:solidFill>
                  <a:srgbClr val="5A6472"/>
                </a:solidFill>
                <a:latin typeface="Consolas"/>
              </a:rPr>
              <a:t>,</a:t>
            </a:r>
            <a:r>
              <a:rPr>
                <a:solidFill>
                  <a:srgbClr val="1A1D23"/>
                </a:solidFill>
                <a:latin typeface="Consolas"/>
              </a:rPr>
              <a:t> Length</a:t>
            </a:r>
            <a:r>
              <a:rPr>
                <a:solidFill>
                  <a:srgbClr val="5A6472"/>
                </a:solidFill>
                <a:latin typeface="Consolas"/>
              </a:rPr>
              <a:t>,</a:t>
            </a:r>
            <a:r>
              <a:rPr>
                <a:solidFill>
                  <a:srgbClr val="1A1D23"/>
                </a:solidFill>
                <a:latin typeface="Consolas"/>
              </a:rPr>
              <a:t> LastWriteTimeUtc </a:t>
            </a:r>
            <a:r>
              <a:rPr>
                <a:solidFill>
                  <a:srgbClr val="5A6472"/>
                </a:solidFill>
                <a:latin typeface="Consolas"/>
              </a:rPr>
              <a:t>|</a:t>
            </a:r>
            <a:br/>
            <a:r>
              <a:rPr>
                <a:solidFill>
                  <a:srgbClr val="1A1D23"/>
                </a:solidFill>
                <a:latin typeface="Consolas"/>
              </a:rPr>
              <a:t>    </a:t>
            </a:r>
            <a:r>
              <a:rPr>
                <a:solidFill>
                  <a:srgbClr val="034BAB"/>
                </a:solidFill>
                <a:latin typeface="Consolas"/>
              </a:rPr>
              <a:t>Export-Csv</a:t>
            </a:r>
            <a:r>
              <a:rPr>
                <a:solidFill>
                  <a:srgbClr val="1A1D23"/>
                </a:solidFill>
                <a:latin typeface="Consolas"/>
              </a:rPr>
              <a:t> </a:t>
            </a:r>
            <a:r>
              <a:rPr>
                <a:solidFill>
                  <a:srgbClr val="5A6472"/>
                </a:solidFill>
                <a:latin typeface="Consolas"/>
              </a:rPr>
              <a:t>.</a:t>
            </a:r>
            <a:r>
              <a:rPr>
                <a:solidFill>
                  <a:srgbClr val="1A1D23"/>
                </a:solidFill>
                <a:latin typeface="Consolas"/>
              </a:rPr>
              <a:t>\LargeFiles</a:t>
            </a:r>
            <a:r>
              <a:rPr>
                <a:solidFill>
                  <a:srgbClr val="5A6472"/>
                </a:solidFill>
                <a:latin typeface="Consolas"/>
              </a:rPr>
              <a:t>.</a:t>
            </a:r>
            <a:r>
              <a:rPr>
                <a:solidFill>
                  <a:srgbClr val="034BAB"/>
                </a:solidFill>
                <a:latin typeface="Consolas"/>
              </a:rPr>
              <a:t>csv</a:t>
            </a:r>
            <a:r>
              <a:rPr>
                <a:solidFill>
                  <a:srgbClr val="1A1D23"/>
                </a:solidFill>
                <a:latin typeface="Consolas"/>
              </a:rPr>
              <a:t> </a:t>
            </a:r>
            <a:r>
              <a:rPr>
                <a:solidFill>
                  <a:srgbClr val="5A6472"/>
                </a:solidFill>
                <a:latin typeface="Consolas"/>
              </a:rPr>
              <a:t>-</a:t>
            </a:r>
            <a:r>
              <a:rPr>
                <a:solidFill>
                  <a:srgbClr val="1A1D23"/>
                </a:solidFill>
                <a:latin typeface="Consolas"/>
              </a:rPr>
              <a:t>NoTypeInformation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file metadata and hashing</a:t>
            </a:r>
          </a:p>
        </p:txBody>
      </p:sp>
      <p:sp>
        <p:nvSpPr>
          <p:cNvPr id="3" name="Content Placeholder 3"/>
          <p:cNvSpPr>
            <a:spLocks noGrp="1"/>
          </p:cNvSpPr>
          <p:nvPr>
            <p:ph idx="1"/>
          </p:nvPr>
        </p:nvSpPr>
        <p:spPr/>
        <p:txBody>
          <a:bodyPr/>
          <a:lstStyle/>
          <a:p>
            <a:pPr lvl="0" indent="0">
              <a:buNone/>
            </a:pPr>
            <a:r>
              <a:rPr>
                <a:solidFill>
                  <a:srgbClr val="034BAB"/>
                </a:solidFill>
                <a:latin typeface="Consolas"/>
              </a:rPr>
              <a:t>Get-ChildItem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5A6472"/>
                </a:solidFill>
                <a:latin typeface="Consolas"/>
              </a:rPr>
              <a:t>.</a:t>
            </a:r>
            <a:r>
              <a:rPr>
                <a:solidFill>
                  <a:srgbClr val="1A1D23"/>
                </a:solidFill>
                <a:latin typeface="Consolas"/>
              </a:rPr>
              <a:t>\Case </a:t>
            </a:r>
            <a:r>
              <a:rPr>
                <a:solidFill>
                  <a:srgbClr val="5A6472"/>
                </a:solidFill>
                <a:latin typeface="Consolas"/>
              </a:rPr>
              <a:t>-</a:t>
            </a:r>
            <a:r>
              <a:rPr>
                <a:solidFill>
                  <a:srgbClr val="1A1D23"/>
                </a:solidFill>
                <a:latin typeface="Consolas"/>
              </a:rPr>
              <a:t>Recurse </a:t>
            </a:r>
            <a:r>
              <a:rPr>
                <a:solidFill>
                  <a:srgbClr val="5A6472"/>
                </a:solidFill>
                <a:latin typeface="Consolas"/>
              </a:rPr>
              <a:t>-</a:t>
            </a:r>
            <a:r>
              <a:rPr>
                <a:solidFill>
                  <a:srgbClr val="1A1D23"/>
                </a:solidFill>
                <a:latin typeface="Consolas"/>
              </a:rPr>
              <a:t>File </a:t>
            </a:r>
            <a:r>
              <a:rPr>
                <a:solidFill>
                  <a:srgbClr val="5A6472"/>
                </a:solidFill>
                <a:latin typeface="Consolas"/>
              </a:rPr>
              <a:t>|</a:t>
            </a:r>
            <a:br/>
            <a:r>
              <a:rPr>
                <a:solidFill>
                  <a:srgbClr val="1A1D23"/>
                </a:solidFill>
                <a:latin typeface="Consolas"/>
              </a:rPr>
              <a:t>    Get-FileHash </a:t>
            </a:r>
            <a:r>
              <a:rPr>
                <a:solidFill>
                  <a:srgbClr val="5A6472"/>
                </a:solidFill>
                <a:latin typeface="Consolas"/>
              </a:rPr>
              <a:t>-</a:t>
            </a:r>
            <a:r>
              <a:rPr>
                <a:solidFill>
                  <a:srgbClr val="1A1D23"/>
                </a:solidFill>
                <a:latin typeface="Consolas"/>
              </a:rPr>
              <a:t>Algorithm SHA256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Hash</a:t>
            </a:r>
            <a:r>
              <a:rPr>
                <a:solidFill>
                  <a:srgbClr val="5A6472"/>
                </a:solidFill>
                <a:latin typeface="Consolas"/>
              </a:rPr>
              <a:t>,</a:t>
            </a:r>
            <a:r>
              <a:rPr>
                <a:solidFill>
                  <a:srgbClr val="1A1D23"/>
                </a:solidFill>
                <a:latin typeface="Consolas"/>
              </a:rPr>
              <a:t> Path </a:t>
            </a:r>
            <a:r>
              <a:rPr>
                <a:solidFill>
                  <a:srgbClr val="5A6472"/>
                </a:solidFill>
                <a:latin typeface="Consolas"/>
              </a:rPr>
              <a:t>|</a:t>
            </a:r>
            <a:br/>
            <a:r>
              <a:rPr>
                <a:solidFill>
                  <a:srgbClr val="1A1D23"/>
                </a:solidFill>
                <a:latin typeface="Consolas"/>
              </a:rPr>
              <a:t>    </a:t>
            </a:r>
            <a:r>
              <a:rPr>
                <a:solidFill>
                  <a:srgbClr val="034BAB"/>
                </a:solidFill>
                <a:latin typeface="Consolas"/>
              </a:rPr>
              <a:t>Export-Csv</a:t>
            </a:r>
            <a:r>
              <a:rPr>
                <a:solidFill>
                  <a:srgbClr val="1A1D23"/>
                </a:solidFill>
                <a:latin typeface="Consolas"/>
              </a:rPr>
              <a:t> </a:t>
            </a:r>
            <a:r>
              <a:rPr>
                <a:solidFill>
                  <a:srgbClr val="5A6472"/>
                </a:solidFill>
                <a:latin typeface="Consolas"/>
              </a:rPr>
              <a:t>.</a:t>
            </a:r>
            <a:r>
              <a:rPr>
                <a:solidFill>
                  <a:srgbClr val="1A1D23"/>
                </a:solidFill>
                <a:latin typeface="Consolas"/>
              </a:rPr>
              <a:t>\Hashes</a:t>
            </a:r>
            <a:r>
              <a:rPr>
                <a:solidFill>
                  <a:srgbClr val="5A6472"/>
                </a:solidFill>
                <a:latin typeface="Consolas"/>
              </a:rPr>
              <a:t>.</a:t>
            </a:r>
            <a:r>
              <a:rPr>
                <a:solidFill>
                  <a:srgbClr val="034BAB"/>
                </a:solidFill>
                <a:latin typeface="Consolas"/>
              </a:rPr>
              <a:t>csv</a:t>
            </a:r>
            <a:r>
              <a:rPr>
                <a:solidFill>
                  <a:srgbClr val="1A1D23"/>
                </a:solidFill>
                <a:latin typeface="Consolas"/>
              </a:rPr>
              <a:t> </a:t>
            </a:r>
            <a:r>
              <a:rPr>
                <a:solidFill>
                  <a:srgbClr val="5A6472"/>
                </a:solidFill>
                <a:latin typeface="Consolas"/>
              </a:rPr>
              <a:t>-</a:t>
            </a:r>
            <a:r>
              <a:rPr>
                <a:solidFill>
                  <a:srgbClr val="1A1D23"/>
                </a:solidFill>
                <a:latin typeface="Consolas"/>
              </a:rPr>
              <a:t>NoTypeInformation</a:t>
            </a:r>
            <a:br/>
            <a:br/>
            <a:r>
              <a:rPr>
                <a:solidFill>
                  <a:srgbClr val="034BAB"/>
                </a:solidFill>
                <a:latin typeface="Consolas"/>
              </a:rPr>
              <a:t>Get-ChildItem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5A6472"/>
                </a:solidFill>
                <a:latin typeface="Consolas"/>
              </a:rPr>
              <a:t>.</a:t>
            </a:r>
            <a:r>
              <a:rPr>
                <a:solidFill>
                  <a:srgbClr val="1A1D23"/>
                </a:solidFill>
                <a:latin typeface="Consolas"/>
              </a:rPr>
              <a:t>\Case </a:t>
            </a:r>
            <a:r>
              <a:rPr>
                <a:solidFill>
                  <a:srgbClr val="5A6472"/>
                </a:solidFill>
                <a:latin typeface="Consolas"/>
              </a:rPr>
              <a:t>-</a:t>
            </a:r>
            <a:r>
              <a:rPr>
                <a:solidFill>
                  <a:srgbClr val="1A1D23"/>
                </a:solidFill>
                <a:latin typeface="Consolas"/>
              </a:rPr>
              <a:t>Recurse </a:t>
            </a:r>
            <a:r>
              <a:rPr>
                <a:solidFill>
                  <a:srgbClr val="5A6472"/>
                </a:solidFill>
                <a:latin typeface="Consolas"/>
              </a:rPr>
              <a:t>-</a:t>
            </a:r>
            <a:r>
              <a:rPr>
                <a:solidFill>
                  <a:srgbClr val="1A1D23"/>
                </a:solidFill>
                <a:latin typeface="Consolas"/>
              </a:rPr>
              <a:t>File </a:t>
            </a:r>
            <a:r>
              <a:rPr>
                <a:solidFill>
                  <a:srgbClr val="5A6472"/>
                </a:solidFill>
                <a:latin typeface="Consolas"/>
              </a:rPr>
              <a:t>|</a:t>
            </a:r>
            <a:br/>
            <a:r>
              <a:rPr>
                <a:solidFill>
                  <a:srgbClr val="1A1D23"/>
                </a:solidFill>
                <a:latin typeface="Consolas"/>
              </a:rPr>
              <a:t>    </a:t>
            </a:r>
            <a:r>
              <a:rPr>
                <a:solidFill>
                  <a:srgbClr val="034BAB"/>
                </a:solidFill>
                <a:latin typeface="Consolas"/>
              </a:rPr>
              <a:t>Group-Object</a:t>
            </a:r>
            <a:r>
              <a:rPr>
                <a:solidFill>
                  <a:srgbClr val="1A1D23"/>
                </a:solidFill>
                <a:latin typeface="Consolas"/>
              </a:rPr>
              <a:t> Extension </a:t>
            </a:r>
            <a:r>
              <a:rPr>
                <a:solidFill>
                  <a:srgbClr val="5A6472"/>
                </a:solidFill>
                <a:latin typeface="Consolas"/>
              </a:rPr>
              <a:t>|</a:t>
            </a:r>
            <a:br/>
            <a:r>
              <a:rPr>
                <a:solidFill>
                  <a:srgbClr val="1A1D23"/>
                </a:solidFill>
                <a:latin typeface="Consolas"/>
              </a:rPr>
              <a:t>    </a:t>
            </a:r>
            <a:r>
              <a:rPr>
                <a:solidFill>
                  <a:srgbClr val="034BAB"/>
                </a:solidFill>
                <a:latin typeface="Consolas"/>
              </a:rPr>
              <a:t>Sort-Object</a:t>
            </a:r>
            <a:r>
              <a:rPr>
                <a:solidFill>
                  <a:srgbClr val="1A1D23"/>
                </a:solidFill>
                <a:latin typeface="Consolas"/>
              </a:rPr>
              <a:t> Count </a:t>
            </a:r>
            <a:r>
              <a:rPr>
                <a:solidFill>
                  <a:srgbClr val="5A6472"/>
                </a:solidFill>
                <a:latin typeface="Consolas"/>
              </a:rPr>
              <a:t>-</a:t>
            </a:r>
            <a:r>
              <a:rPr>
                <a:solidFill>
                  <a:srgbClr val="1A1D23"/>
                </a:solidFill>
                <a:latin typeface="Consolas"/>
              </a:rPr>
              <a:t>Descending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Count</a:t>
            </a:r>
            <a:r>
              <a:rPr>
                <a:solidFill>
                  <a:srgbClr val="5A6472"/>
                </a:solidFill>
                <a:latin typeface="Consolas"/>
              </a:rPr>
              <a:t>,</a:t>
            </a:r>
            <a:r>
              <a:rPr>
                <a:solidFill>
                  <a:srgbClr val="1A1D23"/>
                </a:solidFill>
                <a:latin typeface="Consolas"/>
              </a:rPr>
              <a:t> Name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Example: collected event logs</a:t>
            </a:r>
          </a:p>
        </p:txBody>
      </p:sp>
      <p:sp>
        <p:nvSpPr>
          <p:cNvPr id="3" name="Content Placeholder 3"/>
          <p:cNvSpPr>
            <a:spLocks noGrp="1"/>
          </p:cNvSpPr>
          <p:nvPr>
            <p:ph idx="1"/>
          </p:nvPr>
        </p:nvSpPr>
        <p:spPr/>
        <p:txBody>
          <a:bodyPr/>
          <a:lstStyle/>
          <a:p>
            <a:pPr lvl="0" indent="0">
              <a:buNone/>
            </a:pPr>
            <a:r>
              <a:rPr>
                <a:solidFill>
                  <a:srgbClr val="034BAB"/>
                </a:solidFill>
                <a:latin typeface="Consolas"/>
              </a:rPr>
              <a:t>Get-WinEvent</a:t>
            </a:r>
            <a:r>
              <a:rPr>
                <a:solidFill>
                  <a:srgbClr val="1A1D23"/>
                </a:solidFill>
                <a:latin typeface="Consolas"/>
              </a:rPr>
              <a:t> </a:t>
            </a:r>
            <a:r>
              <a:rPr>
                <a:solidFill>
                  <a:srgbClr val="5A6472"/>
                </a:solidFill>
                <a:latin typeface="Consolas"/>
              </a:rPr>
              <a:t>-</a:t>
            </a:r>
            <a:r>
              <a:rPr>
                <a:solidFill>
                  <a:srgbClr val="1A1D23"/>
                </a:solidFill>
                <a:latin typeface="Consolas"/>
              </a:rPr>
              <a:t>FilterHashtable @</a:t>
            </a:r>
            <a:r>
              <a:rPr>
                <a:solidFill>
                  <a:srgbClr val="5A6472"/>
                </a:solidFill>
                <a:latin typeface="Consolas"/>
              </a:rPr>
              <a:t>{</a:t>
            </a:r>
            <a:br/>
            <a:r>
              <a:rPr>
                <a:solidFill>
                  <a:srgbClr val="1A1D23"/>
                </a:solidFill>
                <a:latin typeface="Consolas"/>
              </a:rPr>
              <a:t>    Path </a:t>
            </a:r>
            <a:r>
              <a:rPr>
                <a:solidFill>
                  <a:srgbClr val="5A6472"/>
                </a:solidFill>
                <a:latin typeface="Consolas"/>
              </a:rPr>
              <a:t>=</a:t>
            </a:r>
            <a:r>
              <a:rPr>
                <a:solidFill>
                  <a:srgbClr val="1A1D23"/>
                </a:solidFill>
                <a:latin typeface="Consolas"/>
              </a:rPr>
              <a:t> </a:t>
            </a:r>
            <a:r>
              <a:rPr>
                <a:solidFill>
                  <a:srgbClr val="B3352F"/>
                </a:solidFill>
                <a:latin typeface="Consolas"/>
              </a:rPr>
              <a:t>'.\Case\Security.evtx'</a:t>
            </a:r>
            <a:br/>
            <a:r>
              <a:rPr>
                <a:solidFill>
                  <a:srgbClr val="1A1D23"/>
                </a:solidFill>
                <a:latin typeface="Consolas"/>
              </a:rPr>
              <a:t>    Id </a:t>
            </a:r>
            <a:r>
              <a:rPr>
                <a:solidFill>
                  <a:srgbClr val="5A6472"/>
                </a:solidFill>
                <a:latin typeface="Consolas"/>
              </a:rPr>
              <a:t>=</a:t>
            </a:r>
            <a:r>
              <a:rPr>
                <a:solidFill>
                  <a:srgbClr val="1A1D23"/>
                </a:solidFill>
                <a:latin typeface="Consolas"/>
              </a:rPr>
              <a:t> </a:t>
            </a:r>
            <a:r>
              <a:rPr>
                <a:solidFill>
                  <a:srgbClr val="8A5A00"/>
                </a:solidFill>
                <a:latin typeface="Consolas"/>
              </a:rPr>
              <a:t>4624</a:t>
            </a:r>
            <a:r>
              <a:rPr>
                <a:solidFill>
                  <a:srgbClr val="5A6472"/>
                </a:solidFill>
                <a:latin typeface="Consolas"/>
              </a:rPr>
              <a:t>,</a:t>
            </a:r>
            <a:r>
              <a:rPr>
                <a:solidFill>
                  <a:srgbClr val="1A1D23"/>
                </a:solidFill>
                <a:latin typeface="Consolas"/>
              </a:rPr>
              <a:t> </a:t>
            </a:r>
            <a:r>
              <a:rPr>
                <a:solidFill>
                  <a:srgbClr val="8A5A00"/>
                </a:solidFill>
                <a:latin typeface="Consolas"/>
              </a:rPr>
              <a:t>4625</a:t>
            </a:r>
            <a:br/>
            <a:r>
              <a:rPr>
                <a:solidFill>
                  <a:srgbClr val="5A6472"/>
                </a:solidFill>
                <a:latin typeface="Consolas"/>
              </a:rPr>
              <a:t>}</a:t>
            </a:r>
            <a:r>
              <a:rPr>
                <a:solidFill>
                  <a:srgbClr val="1A1D23"/>
                </a:solidFill>
                <a:latin typeface="Consolas"/>
              </a:rPr>
              <a:t> </a:t>
            </a:r>
            <a:r>
              <a:rPr>
                <a:solidFill>
                  <a:srgbClr val="5A6472"/>
                </a:solidFill>
                <a:latin typeface="Consolas"/>
              </a:rPr>
              <a:t>|</a:t>
            </a:r>
            <a:br/>
            <a:r>
              <a:rPr>
                <a:solidFill>
                  <a:srgbClr val="1A1D23"/>
                </a:solidFill>
                <a:latin typeface="Consolas"/>
              </a:rPr>
              <a:t>    </a:t>
            </a:r>
            <a:r>
              <a:rPr>
                <a:solidFill>
                  <a:srgbClr val="034BAB"/>
                </a:solidFill>
                <a:latin typeface="Consolas"/>
              </a:rPr>
              <a:t>Group-Object</a:t>
            </a:r>
            <a:r>
              <a:rPr>
                <a:solidFill>
                  <a:srgbClr val="1A1D23"/>
                </a:solidFill>
                <a:latin typeface="Consolas"/>
              </a:rPr>
              <a:t> Id </a:t>
            </a:r>
            <a:r>
              <a:rPr>
                <a:solidFill>
                  <a:srgbClr val="5A6472"/>
                </a:solidFill>
                <a:latin typeface="Consolas"/>
              </a:rPr>
              <a:t>|</a:t>
            </a:r>
            <a:br/>
            <a:r>
              <a:rPr>
                <a:solidFill>
                  <a:srgbClr val="1A1D23"/>
                </a:solidFill>
                <a:latin typeface="Consolas"/>
              </a:rPr>
              <a:t>    </a:t>
            </a:r>
            <a:r>
              <a:rPr>
                <a:solidFill>
                  <a:srgbClr val="034BAB"/>
                </a:solidFill>
                <a:latin typeface="Consolas"/>
              </a:rPr>
              <a:t>Select-Object</a:t>
            </a:r>
            <a:r>
              <a:rPr>
                <a:solidFill>
                  <a:srgbClr val="1A1D23"/>
                </a:solidFill>
                <a:latin typeface="Consolas"/>
              </a:rPr>
              <a:t> Count</a:t>
            </a:r>
            <a:r>
              <a:rPr>
                <a:solidFill>
                  <a:srgbClr val="5A6472"/>
                </a:solidFill>
                <a:latin typeface="Consolas"/>
              </a:rPr>
              <a:t>,</a:t>
            </a:r>
            <a:r>
              <a:rPr>
                <a:solidFill>
                  <a:srgbClr val="1A1D23"/>
                </a:solidFill>
                <a:latin typeface="Consolas"/>
              </a:rPr>
              <a:t> Name</a:t>
            </a:r>
          </a:p>
          <a:p>
            <a:pPr lvl="0"/>
            <a:r>
              <a:rPr/>
              <a:t>Query a copied </a:t>
            </a:r>
            <a:r>
              <a:rPr>
                <a:latin typeface="Consolas"/>
              </a:rPr>
              <a:t>.evtx</a:t>
            </a:r>
            <a:r>
              <a:rPr/>
              <a:t>, not the live log</a:t>
            </a:r>
          </a:p>
          <a:p>
            <a:pPr lvl="0"/>
            <a:r>
              <a:rPr>
                <a:latin typeface="Consolas"/>
              </a:rPr>
              <a:t>-FilterHashtable</a:t>
            </a:r>
            <a:r>
              <a:rPr/>
              <a:t> filters before objects reach the pipeline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Making a script reusable</a:t>
            </a:r>
          </a:p>
        </p:txBody>
      </p:sp>
      <p:sp>
        <p:nvSpPr>
          <p:cNvPr id="3" name="Content Placeholder 3"/>
          <p:cNvSpPr>
            <a:spLocks noGrp="1"/>
          </p:cNvSpPr>
          <p:nvPr>
            <p:ph idx="1"/>
          </p:nvPr>
        </p:nvSpPr>
        <p:spPr/>
        <p:txBody>
          <a:bodyPr/>
          <a:lstStyle/>
          <a:p>
            <a:pPr lvl="0"/>
            <a:r>
              <a:rPr/>
              <a:t>Parameters instead of hard-coded values</a:t>
            </a:r>
          </a:p>
          <a:p>
            <a:pPr lvl="0"/>
            <a:r>
              <a:rPr/>
              <a:t>Functions, </a:t>
            </a:r>
            <a:r>
              <a:rPr>
                <a:latin typeface="Consolas"/>
              </a:rPr>
              <a:t>-Verbose</a:t>
            </a:r>
            <a:r>
              <a:rPr/>
              <a:t>, </a:t>
            </a:r>
            <a:r>
              <a:rPr>
                <a:latin typeface="Consolas"/>
              </a:rPr>
              <a:t>-WhatIf</a:t>
            </a:r>
            <a:r>
              <a:rPr/>
              <a:t> where applicable</a:t>
            </a:r>
          </a:p>
          <a:p>
            <a:pPr lvl="0"/>
            <a:r>
              <a:rPr/>
              <a:t>An example of automating part of the DFIR box build</a:t>
            </a:r>
          </a:p>
          <a:p>
            <a:pPr lvl="0" indent="0">
              <a:buNone/>
            </a:pPr>
            <a:r>
              <a:rPr b="1">
                <a:solidFill>
                  <a:srgbClr val="0C2454"/>
                </a:solidFill>
                <a:latin typeface="Consolas"/>
              </a:rPr>
              <a:t>function</a:t>
            </a:r>
            <a:r>
              <a:rPr>
                <a:solidFill>
                  <a:srgbClr val="1A1D23"/>
                </a:solidFill>
                <a:latin typeface="Consolas"/>
              </a:rPr>
              <a:t> New-CaseFolder </a:t>
            </a:r>
            <a:r>
              <a:rPr>
                <a:solidFill>
                  <a:srgbClr val="5A6472"/>
                </a:solidFill>
                <a:latin typeface="Consolas"/>
              </a:rPr>
              <a:t>{</a:t>
            </a:r>
            <a:br/>
            <a:r>
              <a:rPr>
                <a:solidFill>
                  <a:srgbClr val="1A1D23"/>
                </a:solidFill>
                <a:latin typeface="Consolas"/>
              </a:rPr>
              <a:t>    </a:t>
            </a:r>
            <a:r>
              <a:rPr>
                <a:solidFill>
                  <a:srgbClr val="5A6472"/>
                </a:solidFill>
                <a:latin typeface="Consolas"/>
              </a:rPr>
              <a:t>[</a:t>
            </a:r>
            <a:r>
              <a:rPr>
                <a:solidFill>
                  <a:srgbClr val="1A1D23"/>
                </a:solidFill>
                <a:latin typeface="Consolas"/>
              </a:rPr>
              <a:t>CmdletBinding</a:t>
            </a:r>
            <a:r>
              <a:rPr>
                <a:solidFill>
                  <a:srgbClr val="5A6472"/>
                </a:solidFill>
                <a:latin typeface="Consolas"/>
              </a:rPr>
              <a:t>(</a:t>
            </a:r>
            <a:r>
              <a:rPr>
                <a:solidFill>
                  <a:srgbClr val="1A1D23"/>
                </a:solidFill>
                <a:latin typeface="Consolas"/>
              </a:rPr>
              <a:t>SupportsShouldProcess</a:t>
            </a:r>
            <a:r>
              <a:rPr>
                <a:solidFill>
                  <a:srgbClr val="5A6472"/>
                </a:solidFill>
                <a:latin typeface="Consolas"/>
              </a:rPr>
              <a:t>)]</a:t>
            </a:r>
            <a:br/>
            <a:r>
              <a:rPr>
                <a:solidFill>
                  <a:srgbClr val="1A1D23"/>
                </a:solidFill>
                <a:latin typeface="Consolas"/>
              </a:rPr>
              <a:t>    </a:t>
            </a:r>
            <a:r>
              <a:rPr b="1">
                <a:solidFill>
                  <a:srgbClr val="0C2454"/>
                </a:solidFill>
                <a:latin typeface="Consolas"/>
              </a:rPr>
              <a:t>param</a:t>
            </a:r>
            <a:r>
              <a:rPr>
                <a:solidFill>
                  <a:srgbClr val="5A6472"/>
                </a:solidFill>
                <a:latin typeface="Consolas"/>
              </a:rPr>
              <a:t>(</a:t>
            </a:r>
            <a:br/>
            <a:r>
              <a:rPr>
                <a:solidFill>
                  <a:srgbClr val="1A1D23"/>
                </a:solidFill>
                <a:latin typeface="Consolas"/>
              </a:rPr>
              <a:t>        </a:t>
            </a:r>
            <a:r>
              <a:rPr>
                <a:solidFill>
                  <a:srgbClr val="5A6472"/>
                </a:solidFill>
                <a:latin typeface="Consolas"/>
              </a:rPr>
              <a:t>[</a:t>
            </a:r>
            <a:r>
              <a:rPr>
                <a:solidFill>
                  <a:srgbClr val="1A1D23"/>
                </a:solidFill>
                <a:latin typeface="Consolas"/>
              </a:rPr>
              <a:t>Parameter</a:t>
            </a:r>
            <a:r>
              <a:rPr>
                <a:solidFill>
                  <a:srgbClr val="5A6472"/>
                </a:solidFill>
                <a:latin typeface="Consolas"/>
              </a:rPr>
              <a:t>(</a:t>
            </a:r>
            <a:r>
              <a:rPr>
                <a:solidFill>
                  <a:srgbClr val="1A1D23"/>
                </a:solidFill>
                <a:latin typeface="Consolas"/>
              </a:rPr>
              <a:t>Mandatory</a:t>
            </a:r>
            <a:r>
              <a:rPr>
                <a:solidFill>
                  <a:srgbClr val="5A6472"/>
                </a:solidFill>
                <a:latin typeface="Consolas"/>
              </a:rPr>
              <a:t>)]</a:t>
            </a:r>
            <a:br/>
            <a:r>
              <a:rPr>
                <a:solidFill>
                  <a:srgbClr val="1A1D23"/>
                </a:solidFill>
                <a:latin typeface="Consolas"/>
              </a:rPr>
              <a:t>        </a:t>
            </a:r>
            <a:r>
              <a:rPr>
                <a:solidFill>
                  <a:srgbClr val="5A6472"/>
                </a:solidFill>
                <a:latin typeface="Consolas"/>
              </a:rPr>
              <a:t>[</a:t>
            </a:r>
            <a:r>
              <a:rPr>
                <a:solidFill>
                  <a:srgbClr val="034BAB"/>
                </a:solidFill>
                <a:latin typeface="Consolas"/>
              </a:rPr>
              <a:t>string</a:t>
            </a:r>
            <a:r>
              <a:rPr>
                <a:solidFill>
                  <a:srgbClr val="5A6472"/>
                </a:solidFill>
                <a:latin typeface="Consolas"/>
              </a:rPr>
              <a:t>]</a:t>
            </a:r>
            <a:r>
              <a:rPr>
                <a:solidFill>
                  <a:srgbClr val="0C2454"/>
                </a:solidFill>
                <a:latin typeface="Consolas"/>
              </a:rPr>
              <a:t>$Path</a:t>
            </a:r>
            <a:br/>
            <a:r>
              <a:rPr>
                <a:solidFill>
                  <a:srgbClr val="1A1D23"/>
                </a:solidFill>
                <a:latin typeface="Consolas"/>
              </a:rPr>
              <a:t>    </a:t>
            </a:r>
            <a:r>
              <a:rPr>
                <a:solidFill>
                  <a:srgbClr val="5A6472"/>
                </a:solidFill>
                <a:latin typeface="Consolas"/>
              </a:rPr>
              <a:t>)</a:t>
            </a:r>
            <a:br/>
            <a:r>
              <a:rPr>
                <a:solidFill>
                  <a:srgbClr val="1A1D23"/>
                </a:solidFill>
                <a:latin typeface="Consolas"/>
              </a:rPr>
              <a:t>    </a:t>
            </a:r>
            <a:r>
              <a:rPr b="1">
                <a:solidFill>
                  <a:srgbClr val="0C2454"/>
                </a:solidFill>
                <a:latin typeface="Consolas"/>
              </a:rPr>
              <a:t>if</a:t>
            </a:r>
            <a:r>
              <a:rPr>
                <a:solidFill>
                  <a:srgbClr val="1A1D23"/>
                </a:solidFill>
                <a:latin typeface="Consolas"/>
              </a:rPr>
              <a:t> </a:t>
            </a:r>
            <a:r>
              <a:rPr>
                <a:solidFill>
                  <a:srgbClr val="5A6472"/>
                </a:solidFill>
                <a:latin typeface="Consolas"/>
              </a:rPr>
              <a:t>(</a:t>
            </a:r>
            <a:r>
              <a:rPr>
                <a:solidFill>
                  <a:srgbClr val="0C2454"/>
                </a:solidFill>
                <a:latin typeface="Consolas"/>
              </a:rPr>
              <a:t>$PSCmdlet</a:t>
            </a:r>
            <a:r>
              <a:rPr>
                <a:solidFill>
                  <a:srgbClr val="5A6472"/>
                </a:solidFill>
                <a:latin typeface="Consolas"/>
              </a:rPr>
              <a:t>.</a:t>
            </a:r>
            <a:r>
              <a:rPr>
                <a:solidFill>
                  <a:srgbClr val="034BAB"/>
                </a:solidFill>
                <a:latin typeface="Consolas"/>
              </a:rPr>
              <a:t>ShouldProcess</a:t>
            </a:r>
            <a:r>
              <a:rPr>
                <a:solidFill>
                  <a:srgbClr val="5A6472"/>
                </a:solidFill>
                <a:latin typeface="Consolas"/>
              </a:rPr>
              <a:t>(</a:t>
            </a:r>
            <a:r>
              <a:rPr>
                <a:solidFill>
                  <a:srgbClr val="0C2454"/>
                </a:solidFill>
                <a:latin typeface="Consolas"/>
              </a:rPr>
              <a:t>$Path</a:t>
            </a:r>
            <a:r>
              <a:rPr>
                <a:solidFill>
                  <a:srgbClr val="5A6472"/>
                </a:solidFill>
                <a:latin typeface="Consolas"/>
              </a:rPr>
              <a:t>,</a:t>
            </a:r>
            <a:r>
              <a:rPr>
                <a:solidFill>
                  <a:srgbClr val="1A1D23"/>
                </a:solidFill>
                <a:latin typeface="Consolas"/>
              </a:rPr>
              <a:t> </a:t>
            </a:r>
            <a:r>
              <a:rPr>
                <a:solidFill>
                  <a:srgbClr val="B3352F"/>
                </a:solidFill>
                <a:latin typeface="Consolas"/>
              </a:rPr>
              <a:t>'Create case folder'</a:t>
            </a:r>
            <a:r>
              <a:rPr>
                <a:solidFill>
                  <a:srgbClr val="5A6472"/>
                </a:solidFill>
                <a:latin typeface="Consolas"/>
              </a:rPr>
              <a:t>))</a:t>
            </a:r>
            <a:r>
              <a:rPr>
                <a:solidFill>
                  <a:srgbClr val="1A1D23"/>
                </a:solidFill>
                <a:latin typeface="Consolas"/>
              </a:rPr>
              <a:t> </a:t>
            </a:r>
            <a:r>
              <a:rPr>
                <a:solidFill>
                  <a:srgbClr val="5A6472"/>
                </a:solidFill>
                <a:latin typeface="Consolas"/>
              </a:rPr>
              <a:t>{</a:t>
            </a:r>
            <a:br/>
            <a:r>
              <a:rPr>
                <a:solidFill>
                  <a:srgbClr val="1A1D23"/>
                </a:solidFill>
                <a:latin typeface="Consolas"/>
              </a:rPr>
              <a:t>        </a:t>
            </a:r>
            <a:r>
              <a:rPr>
                <a:solidFill>
                  <a:srgbClr val="034BAB"/>
                </a:solidFill>
                <a:latin typeface="Consolas"/>
              </a:rPr>
              <a:t>New-Item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0C2454"/>
                </a:solidFill>
                <a:latin typeface="Consolas"/>
              </a:rPr>
              <a:t>$Path</a:t>
            </a:r>
            <a:r>
              <a:rPr>
                <a:solidFill>
                  <a:srgbClr val="1A1D23"/>
                </a:solidFill>
                <a:latin typeface="Consolas"/>
              </a:rPr>
              <a:t> </a:t>
            </a:r>
            <a:r>
              <a:rPr>
                <a:solidFill>
                  <a:srgbClr val="5A6472"/>
                </a:solidFill>
                <a:latin typeface="Consolas"/>
              </a:rPr>
              <a:t>-</a:t>
            </a:r>
            <a:r>
              <a:rPr>
                <a:solidFill>
                  <a:srgbClr val="1A1D23"/>
                </a:solidFill>
                <a:latin typeface="Consolas"/>
              </a:rPr>
              <a:t>ItemType Directory </a:t>
            </a:r>
            <a:r>
              <a:rPr>
                <a:solidFill>
                  <a:srgbClr val="5A6472"/>
                </a:solidFill>
                <a:latin typeface="Consolas"/>
              </a:rPr>
              <a:t>|</a:t>
            </a:r>
            <a:r>
              <a:rPr>
                <a:solidFill>
                  <a:srgbClr val="1A1D23"/>
                </a:solidFill>
                <a:latin typeface="Consolas"/>
              </a:rPr>
              <a:t> </a:t>
            </a:r>
            <a:r>
              <a:rPr>
                <a:solidFill>
                  <a:srgbClr val="034BAB"/>
                </a:solidFill>
                <a:latin typeface="Consolas"/>
              </a:rPr>
              <a:t>Out-Null</a:t>
            </a:r>
            <a:br/>
            <a:r>
              <a:rPr>
                <a:solidFill>
                  <a:srgbClr val="1A1D23"/>
                </a:solidFill>
                <a:latin typeface="Consolas"/>
              </a:rPr>
              <a:t>    </a:t>
            </a:r>
            <a:r>
              <a:rPr>
                <a:solidFill>
                  <a:srgbClr val="5A6472"/>
                </a:solidFill>
                <a:latin typeface="Consolas"/>
              </a:rPr>
              <a:t>}</a:t>
            </a:r>
            <a:br/>
            <a:r>
              <a:rPr>
                <a:solidFill>
                  <a:srgbClr val="5A6472"/>
                </a:solidFill>
                <a:latin typeface="Consolas"/>
              </a:rPr>
              <a:t>}</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Your own module</a:t>
            </a:r>
          </a:p>
        </p:txBody>
      </p:sp>
      <p:sp>
        <p:nvSpPr>
          <p:cNvPr id="3" name="Content Placeholder 3"/>
          <p:cNvSpPr>
            <a:spLocks noGrp="1"/>
          </p:cNvSpPr>
          <p:nvPr>
            <p:ph idx="1"/>
          </p:nvPr>
        </p:nvSpPr>
        <p:spPr/>
        <p:txBody>
          <a:bodyPr/>
          <a:lstStyle/>
          <a:p>
            <a:pPr lvl="0"/>
            <a:r>
              <a:rPr/>
              <a:t>A </a:t>
            </a:r>
            <a:r>
              <a:rPr>
                <a:latin typeface="Consolas"/>
              </a:rPr>
              <a:t>.psm1</a:t>
            </a:r>
            <a:r>
              <a:rPr/>
              <a:t> file of functions, in a folder of the same name</a:t>
            </a:r>
          </a:p>
          <a:p>
            <a:pPr lvl="0"/>
            <a:r>
              <a:rPr/>
              <a:t>In your </a:t>
            </a:r>
            <a:r>
              <a:rPr>
                <a:latin typeface="Consolas"/>
              </a:rPr>
              <a:t>Documents\PowerShell\Modules</a:t>
            </a:r>
            <a:r>
              <a:rPr/>
              <a:t> folder, PowerShell loads it for you</a:t>
            </a:r>
          </a:p>
          <a:p>
            <a:pPr lvl="0" indent="0">
              <a:buNone/>
            </a:pPr>
            <a:r>
              <a:rPr>
                <a:solidFill>
                  <a:srgbClr val="0C2454"/>
                </a:solidFill>
                <a:latin typeface="Consolas"/>
              </a:rPr>
              <a:t>$Docs</a:t>
            </a:r>
            <a:r>
              <a:rPr>
                <a:solidFill>
                  <a:srgbClr val="1A1D23"/>
                </a:solidFill>
                <a:latin typeface="Consolas"/>
              </a:rPr>
              <a:t> </a:t>
            </a:r>
            <a:r>
              <a:rPr>
                <a:solidFill>
                  <a:srgbClr val="5A6472"/>
                </a:solidFill>
                <a:latin typeface="Consolas"/>
              </a:rPr>
              <a:t>=</a:t>
            </a:r>
            <a:r>
              <a:rPr>
                <a:solidFill>
                  <a:srgbClr val="1A1D23"/>
                </a:solidFill>
                <a:latin typeface="Consolas"/>
              </a:rPr>
              <a:t> </a:t>
            </a:r>
            <a:r>
              <a:rPr>
                <a:solidFill>
                  <a:srgbClr val="5A6472"/>
                </a:solidFill>
                <a:latin typeface="Consolas"/>
              </a:rPr>
              <a:t>[</a:t>
            </a:r>
            <a:r>
              <a:rPr>
                <a:solidFill>
                  <a:srgbClr val="1A1D23"/>
                </a:solidFill>
                <a:latin typeface="Consolas"/>
              </a:rPr>
              <a:t>Environment</a:t>
            </a:r>
            <a:r>
              <a:rPr>
                <a:solidFill>
                  <a:srgbClr val="5A6472"/>
                </a:solidFill>
                <a:latin typeface="Consolas"/>
              </a:rPr>
              <a:t>]::</a:t>
            </a:r>
            <a:r>
              <a:rPr>
                <a:solidFill>
                  <a:srgbClr val="1A1D23"/>
                </a:solidFill>
                <a:latin typeface="Consolas"/>
              </a:rPr>
              <a:t>GetFolderPath</a:t>
            </a:r>
            <a:r>
              <a:rPr>
                <a:solidFill>
                  <a:srgbClr val="5A6472"/>
                </a:solidFill>
                <a:latin typeface="Consolas"/>
              </a:rPr>
              <a:t>(</a:t>
            </a:r>
            <a:r>
              <a:rPr>
                <a:solidFill>
                  <a:srgbClr val="B3352F"/>
                </a:solidFill>
                <a:latin typeface="Consolas"/>
              </a:rPr>
              <a:t>'MyDocuments'</a:t>
            </a:r>
            <a:r>
              <a:rPr>
                <a:solidFill>
                  <a:srgbClr val="5A6472"/>
                </a:solidFill>
                <a:latin typeface="Consolas"/>
              </a:rPr>
              <a:t>)</a:t>
            </a:r>
            <a:br/>
            <a:r>
              <a:rPr>
                <a:solidFill>
                  <a:srgbClr val="0C2454"/>
                </a:solidFill>
                <a:latin typeface="Consolas"/>
              </a:rPr>
              <a:t>$Folder</a:t>
            </a:r>
            <a:r>
              <a:rPr>
                <a:solidFill>
                  <a:srgbClr val="1A1D23"/>
                </a:solidFill>
                <a:latin typeface="Consolas"/>
              </a:rPr>
              <a:t> </a:t>
            </a:r>
            <a:r>
              <a:rPr>
                <a:solidFill>
                  <a:srgbClr val="5A6472"/>
                </a:solidFill>
                <a:latin typeface="Consolas"/>
              </a:rPr>
              <a:t>=</a:t>
            </a:r>
            <a:r>
              <a:rPr>
                <a:solidFill>
                  <a:srgbClr val="1A1D23"/>
                </a:solidFill>
                <a:latin typeface="Consolas"/>
              </a:rPr>
              <a:t> </a:t>
            </a:r>
            <a:r>
              <a:rPr>
                <a:solidFill>
                  <a:srgbClr val="B3352F"/>
                </a:solidFill>
                <a:latin typeface="Consolas"/>
              </a:rPr>
              <a:t>"</a:t>
            </a:r>
            <a:r>
              <a:rPr>
                <a:solidFill>
                  <a:srgbClr val="0C2454"/>
                </a:solidFill>
                <a:latin typeface="Consolas"/>
              </a:rPr>
              <a:t>$Docs</a:t>
            </a:r>
            <a:r>
              <a:rPr>
                <a:solidFill>
                  <a:srgbClr val="B3352F"/>
                </a:solidFill>
                <a:latin typeface="Consolas"/>
              </a:rPr>
              <a:t>\PowerShell\Modules\MyTools"</a:t>
            </a:r>
            <a:br/>
            <a:r>
              <a:rPr>
                <a:solidFill>
                  <a:srgbClr val="034BAB"/>
                </a:solidFill>
                <a:latin typeface="Consolas"/>
              </a:rPr>
              <a:t>New-Item</a:t>
            </a:r>
            <a:r>
              <a:rPr>
                <a:solidFill>
                  <a:srgbClr val="1A1D23"/>
                </a:solidFill>
                <a:latin typeface="Consolas"/>
              </a:rPr>
              <a:t> </a:t>
            </a:r>
            <a:r>
              <a:rPr>
                <a:solidFill>
                  <a:srgbClr val="5A6472"/>
                </a:solidFill>
                <a:latin typeface="Consolas"/>
              </a:rPr>
              <a:t>-</a:t>
            </a:r>
            <a:r>
              <a:rPr>
                <a:solidFill>
                  <a:srgbClr val="1A1D23"/>
                </a:solidFill>
                <a:latin typeface="Consolas"/>
              </a:rPr>
              <a:t>Path </a:t>
            </a:r>
            <a:r>
              <a:rPr>
                <a:solidFill>
                  <a:srgbClr val="0C2454"/>
                </a:solidFill>
                <a:latin typeface="Consolas"/>
              </a:rPr>
              <a:t>$Folder</a:t>
            </a:r>
            <a:r>
              <a:rPr>
                <a:solidFill>
                  <a:srgbClr val="1A1D23"/>
                </a:solidFill>
                <a:latin typeface="Consolas"/>
              </a:rPr>
              <a:t> </a:t>
            </a:r>
            <a:r>
              <a:rPr>
                <a:solidFill>
                  <a:srgbClr val="5A6472"/>
                </a:solidFill>
                <a:latin typeface="Consolas"/>
              </a:rPr>
              <a:t>-</a:t>
            </a:r>
            <a:r>
              <a:rPr>
                <a:solidFill>
                  <a:srgbClr val="1A1D23"/>
                </a:solidFill>
                <a:latin typeface="Consolas"/>
              </a:rPr>
              <a:t>ItemType Directory </a:t>
            </a:r>
            <a:r>
              <a:rPr>
                <a:solidFill>
                  <a:srgbClr val="5A6472"/>
                </a:solidFill>
                <a:latin typeface="Consolas"/>
              </a:rPr>
              <a:t>-</a:t>
            </a:r>
            <a:r>
              <a:rPr>
                <a:solidFill>
                  <a:srgbClr val="1A1D23"/>
                </a:solidFill>
                <a:latin typeface="Consolas"/>
              </a:rPr>
              <a:t>Force</a:t>
            </a:r>
            <a:br/>
            <a:r>
              <a:rPr>
                <a:solidFill>
                  <a:srgbClr val="1A1D23"/>
                </a:solidFill>
                <a:latin typeface="Consolas"/>
              </a:rPr>
              <a:t>notepad </a:t>
            </a:r>
            <a:r>
              <a:rPr>
                <a:solidFill>
                  <a:srgbClr val="B3352F"/>
                </a:solidFill>
                <a:latin typeface="Consolas"/>
              </a:rPr>
              <a:t>"</a:t>
            </a:r>
            <a:r>
              <a:rPr>
                <a:solidFill>
                  <a:srgbClr val="0C2454"/>
                </a:solidFill>
                <a:latin typeface="Consolas"/>
              </a:rPr>
              <a:t>$Folder</a:t>
            </a:r>
            <a:r>
              <a:rPr>
                <a:solidFill>
                  <a:srgbClr val="B3352F"/>
                </a:solidFill>
                <a:latin typeface="Consolas"/>
              </a:rPr>
              <a:t>\MyTools.psm1"</a:t>
            </a:r>
            <a:r>
              <a:rPr>
                <a:solidFill>
                  <a:srgbClr val="1A1D23"/>
                </a:solidFill>
                <a:latin typeface="Consolas"/>
              </a:rPr>
              <a:t>     </a:t>
            </a:r>
            <a:r>
              <a:rPr i="1">
                <a:solidFill>
                  <a:srgbClr val="6B7480"/>
                </a:solidFill>
                <a:latin typeface="Consolas"/>
              </a:rPr>
              <a:t># paste functions, save</a:t>
            </a:r>
            <a:br/>
            <a:r>
              <a:rPr>
                <a:solidFill>
                  <a:srgbClr val="034BAB"/>
                </a:solidFill>
                <a:latin typeface="Consolas"/>
              </a:rPr>
              <a:t>Get-Command</a:t>
            </a:r>
            <a:r>
              <a:rPr>
                <a:solidFill>
                  <a:srgbClr val="1A1D23"/>
                </a:solidFill>
                <a:latin typeface="Consolas"/>
              </a:rPr>
              <a:t> </a:t>
            </a:r>
            <a:r>
              <a:rPr>
                <a:solidFill>
                  <a:srgbClr val="5A6472"/>
                </a:solidFill>
                <a:latin typeface="Consolas"/>
              </a:rPr>
              <a:t>-</a:t>
            </a:r>
            <a:r>
              <a:rPr>
                <a:solidFill>
                  <a:srgbClr val="1A1D23"/>
                </a:solidFill>
                <a:latin typeface="Consolas"/>
              </a:rPr>
              <a:t>Module MyTools</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Building a Windows DFIR box</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What we’re building</a:t>
            </a:r>
          </a:p>
        </p:txBody>
      </p:sp>
      <p:sp>
        <p:nvSpPr>
          <p:cNvPr id="3" name="Content Placeholder 3"/>
          <p:cNvSpPr>
            <a:spLocks noGrp="1"/>
          </p:cNvSpPr>
          <p:nvPr>
            <p:ph idx="1"/>
          </p:nvPr>
        </p:nvSpPr>
        <p:spPr/>
        <p:txBody>
          <a:bodyPr/>
          <a:lstStyle/>
          <a:p>
            <a:pPr lvl="0"/>
            <a:r>
              <a:rPr/>
              <a:t>A Windows analysis machine, not an evidence acquisition machine</a:t>
            </a:r>
          </a:p>
          <a:p>
            <a:pPr lvl="0"/>
            <a:r>
              <a:rPr/>
              <a:t>Evidence is already collected</a:t>
            </a:r>
          </a:p>
          <a:p>
            <a:pPr lvl="0"/>
            <a:r>
              <a:rPr/>
              <a:t>Memory acquisition is handled separately (Magnet in our workflow)</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Disposable/nonpersistent virtual machine</a:t>
            </a:r>
          </a:p>
        </p:txBody>
      </p:sp>
      <p:sp>
        <p:nvSpPr>
          <p:cNvPr id="3" name="Content Placeholder 3"/>
          <p:cNvSpPr>
            <a:spLocks noGrp="1"/>
          </p:cNvSpPr>
          <p:nvPr>
            <p:ph idx="1" sz="half"/>
          </p:nvPr>
        </p:nvSpPr>
        <p:spPr/>
        <p:txBody>
          <a:bodyPr/>
          <a:lstStyle/>
          <a:p>
            <a:pPr lvl="0" indent="0" marL="0">
              <a:buNone/>
            </a:pPr>
            <a:r>
              <a:rPr b="1"/>
              <a:t>Return the machine to a known state</a:t>
            </a:r>
          </a:p>
          <a:p>
            <a:pPr lvl="0"/>
            <a:r>
              <a:rPr/>
              <a:t>VMware Workstation Pro</a:t>
            </a:r>
          </a:p>
          <a:p>
            <a:pPr lvl="0"/>
            <a:r>
              <a:rPr/>
              <a:t>System disk: independent, non-persistent</a:t>
            </a:r>
          </a:p>
          <a:p>
            <a:pPr lvl="0"/>
            <a:r>
              <a:rPr/>
              <a:t>Power off, and every change is gone</a:t>
            </a:r>
          </a:p>
        </p:txBody>
      </p:sp>
      <p:sp>
        <p:nvSpPr>
          <p:cNvPr id="4" name="Content Placeholder 4"/>
          <p:cNvSpPr>
            <a:spLocks noGrp="1"/>
          </p:cNvSpPr>
          <p:nvPr>
            <p:ph idx="2" sz="half"/>
          </p:nvPr>
        </p:nvSpPr>
        <p:spPr/>
        <p:txBody>
          <a:bodyPr/>
          <a:lstStyle/>
          <a:p>
            <a:pPr lvl="0" indent="0" marL="0">
              <a:buNone/>
            </a:pPr>
            <a:r>
              <a:rPr b="1"/>
              <a:t>Keep case data and analysis output separate from what gets reset</a:t>
            </a:r>
          </a:p>
          <a:p>
            <a:pPr lvl="0"/>
            <a:r>
              <a:rPr/>
              <a:t>Shared Folders on the host</a:t>
            </a:r>
          </a:p>
          <a:p>
            <a:pPr lvl="0"/>
            <a:r>
              <a:rPr/>
              <a:t>Evidence: read-only</a:t>
            </a:r>
          </a:p>
          <a:p>
            <a:pPr lvl="0"/>
            <a:r>
              <a:rPr/>
              <a:t>Cases (output, logs, notes): read-write</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Automating the build</a:t>
            </a:r>
          </a:p>
        </p:txBody>
      </p:sp>
      <p:sp>
        <p:nvSpPr>
          <p:cNvPr id="3" name="Content Placeholder 3"/>
          <p:cNvSpPr>
            <a:spLocks noGrp="1"/>
          </p:cNvSpPr>
          <p:nvPr>
            <p:ph idx="1"/>
          </p:nvPr>
        </p:nvSpPr>
        <p:spPr/>
        <p:txBody>
          <a:bodyPr/>
          <a:lstStyle/>
          <a:p>
            <a:pPr lvl="0"/>
            <a:r>
              <a:rPr/>
              <a:t>Decide on the Windows image and tool list</a:t>
            </a:r>
          </a:p>
          <a:p>
            <a:pPr lvl="1"/>
            <a:r>
              <a:rPr/>
              <a:t>Windows Server 2025: stable, Defender is a removable feature, no TPM needed</a:t>
            </a:r>
          </a:p>
          <a:p>
            <a:pPr lvl="0"/>
            <a:r>
              <a:rPr/>
              <a:t>Make setup repeatable rather than configuring it by hand each time</a:t>
            </a:r>
          </a:p>
          <a:p>
            <a:pPr lvl="1"/>
            <a:r>
              <a:rPr/>
              <a:t>An unattend file: schneegans.de/windows/unattend-generator</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Configuring Windows for analysis</a:t>
            </a:r>
          </a:p>
        </p:txBody>
      </p:sp>
      <p:sp>
        <p:nvSpPr>
          <p:cNvPr id="3" name="Content Placeholder 3"/>
          <p:cNvSpPr>
            <a:spLocks noGrp="1"/>
          </p:cNvSpPr>
          <p:nvPr>
            <p:ph idx="1"/>
          </p:nvPr>
        </p:nvSpPr>
        <p:spPr/>
        <p:txBody>
          <a:bodyPr/>
          <a:lstStyle/>
          <a:p>
            <a:pPr lvl="0"/>
            <a:r>
              <a:rPr/>
              <a:t>Tools that need to run as administrator</a:t>
            </a:r>
          </a:p>
          <a:p>
            <a:pPr lvl="0"/>
            <a:r>
              <a:rPr/>
              <a:t>UAC: normally I don’t disable security features, but this is a disposable VM and reducing friction matters</a:t>
            </a:r>
          </a:p>
          <a:p>
            <a:pPr lvl="0"/>
            <a:r>
              <a:rPr/>
              <a:t>Other Windows security settings as decisions specific to this machine, not general recommendations</a:t>
            </a:r>
          </a:p>
          <a:p>
            <a:pPr lvl="1"/>
            <a:r>
              <a:rPr/>
              <a:t>Defender removed, long paths on</a:t>
            </a:r>
          </a:p>
          <a:p>
            <a:pPr lvl="1"/>
            <a:r>
              <a:rPr/>
              <a:t>File extensions and hidden files shown</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Tools for analysis</a:t>
            </a:r>
          </a:p>
        </p:txBody>
      </p:sp>
      <p:sp>
        <p:nvSpPr>
          <p:cNvPr id="3" name="Content Placeholder 3"/>
          <p:cNvSpPr>
            <a:spLocks noGrp="1"/>
          </p:cNvSpPr>
          <p:nvPr>
            <p:ph idx="1"/>
          </p:nvPr>
        </p:nvSpPr>
        <p:spPr/>
        <p:txBody>
          <a:bodyPr/>
          <a:lstStyle/>
          <a:p>
            <a:pPr lvl="0"/>
            <a:r>
              <a:rPr/>
              <a:t>Select the tools and versions</a:t>
            </a:r>
          </a:p>
          <a:p>
            <a:pPr lvl="1"/>
            <a:r>
              <a:rPr/>
              <a:t>Eric Zimmerman’s tools, KAPE, FTK Imager, Volatility 3, plaso</a:t>
            </a:r>
          </a:p>
          <a:p>
            <a:pPr lvl="1"/>
            <a:r>
              <a:rPr/>
              <a:t>Chainsaw, Hayabusa, Autopsy, Office if licensed</a:t>
            </a:r>
          </a:p>
          <a:p>
            <a:pPr lvl="0"/>
            <a:r>
              <a:rPr/>
              <a:t>Chocolatey installs most of them in one line</a:t>
            </a:r>
          </a:p>
          <a:p>
            <a:pPr lvl="0"/>
            <a:r>
              <a:rPr/>
              <a:t>KAPE modules for processing already-collected artifacts</a:t>
            </a:r>
          </a:p>
          <a:p>
            <a:pPr lvl="1"/>
            <a:r>
              <a:rPr/>
              <a:t>Targets collect; modules process what was collected</a:t>
            </a:r>
          </a:p>
          <a:p>
            <a:pPr lvl="0" indent="0">
              <a:buNone/>
            </a:pPr>
            <a:r>
              <a:rPr>
                <a:solidFill>
                  <a:srgbClr val="1A1D23"/>
                </a:solidFill>
                <a:latin typeface="Consolas"/>
              </a:rPr>
              <a:t>choco install </a:t>
            </a:r>
            <a:r>
              <a:rPr>
                <a:solidFill>
                  <a:srgbClr val="5A6472"/>
                </a:solidFill>
                <a:latin typeface="Consolas"/>
              </a:rPr>
              <a:t>-</a:t>
            </a:r>
            <a:r>
              <a:rPr>
                <a:solidFill>
                  <a:srgbClr val="1A1D23"/>
                </a:solidFill>
                <a:latin typeface="Consolas"/>
              </a:rPr>
              <a:t>y ericzimmermantools volatility3 autopsy</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Using and resetting the box</a:t>
            </a:r>
          </a:p>
        </p:txBody>
      </p:sp>
      <p:sp>
        <p:nvSpPr>
          <p:cNvPr id="3" name="Content Placeholder 3"/>
          <p:cNvSpPr>
            <a:spLocks noGrp="1"/>
          </p:cNvSpPr>
          <p:nvPr>
            <p:ph idx="1"/>
          </p:nvPr>
        </p:nvSpPr>
        <p:spPr/>
        <p:txBody>
          <a:bodyPr/>
          <a:lstStyle/>
          <a:p>
            <a:pPr lvl="0"/>
            <a:r>
              <a:rPr/>
              <a:t>Run tools against existing artifacts</a:t>
            </a:r>
          </a:p>
          <a:p>
            <a:pPr lvl="0"/>
            <a:r>
              <a:rPr/>
              <a:t>Retain the results and relevant logs</a:t>
            </a:r>
          </a:p>
          <a:p>
            <a:pPr lvl="0"/>
            <a:r>
              <a:rPr/>
              <a:t>Verify the environment and reset it for the next case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Wrap-Up</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Key takeaways</a:t>
            </a:r>
          </a:p>
        </p:txBody>
      </p:sp>
      <p:sp>
        <p:nvSpPr>
          <p:cNvPr id="3" name="Content Placeholder 3"/>
          <p:cNvSpPr>
            <a:spLocks noGrp="1"/>
          </p:cNvSpPr>
          <p:nvPr>
            <p:ph idx="1"/>
          </p:nvPr>
        </p:nvSpPr>
        <p:spPr/>
        <p:txBody>
          <a:bodyPr/>
          <a:lstStyle/>
          <a:p>
            <a:pPr lvl="0"/>
            <a:r>
              <a:rPr b="1"/>
              <a:t>Passwords:</a:t>
            </a:r>
            <a:r>
              <a:rPr/>
              <a:t> unique, long, checked against breaches, with MFA</a:t>
            </a:r>
          </a:p>
          <a:p>
            <a:pPr lvl="0"/>
            <a:r>
              <a:rPr b="1"/>
              <a:t>PKI:</a:t>
            </a:r>
            <a:r>
              <a:rPr/>
              <a:t> a certificate binds a key to a name; validation checks name, dates, chain, trust and usage</a:t>
            </a:r>
          </a:p>
          <a:p>
            <a:pPr lvl="0"/>
            <a:r>
              <a:rPr b="1"/>
              <a:t>Email:</a:t>
            </a:r>
            <a:r>
              <a:rPr/>
              <a:t> DMARC starts with the </a:t>
            </a:r>
            <a:r>
              <a:rPr>
                <a:latin typeface="Consolas"/>
              </a:rPr>
              <a:t>From</a:t>
            </a:r>
            <a:r>
              <a:rPr/>
              <a:t> domain and needs an aligned pass</a:t>
            </a:r>
          </a:p>
          <a:p>
            <a:pPr lvl="0"/>
            <a:r>
              <a:rPr b="1"/>
              <a:t>PowerShell:</a:t>
            </a:r>
            <a:r>
              <a:rPr/>
              <a:t> objects in a pipeline turn a task into something repeatable</a:t>
            </a:r>
          </a:p>
          <a:p>
            <a:pPr lvl="0"/>
            <a:r>
              <a:rPr b="1"/>
              <a:t>DFIR box:</a:t>
            </a:r>
            <a:r>
              <a:rPr/>
              <a:t> a disposable analysis VM with case data kept elsewhere</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94720" cy="841248"/>
          </a:xfrm>
          <a:prstGeom prst="rect">
            <a:avLst/>
          </a:prstGeom>
        </p:spPr>
        <p:txBody>
          <a:bodyPr/>
          <a:lstStyle/>
          <a:p>
            <a:pPr lvl="0" indent="0" marL="0">
              <a:buNone/>
            </a:pPr>
            <a:r>
              <a:rPr/>
              <a:t>References</a:t>
            </a:r>
          </a:p>
        </p:txBody>
      </p:sp>
      <p:sp>
        <p:nvSpPr>
          <p:cNvPr id="3" name="Content Placeholder 3"/>
          <p:cNvSpPr>
            <a:spLocks noGrp="1"/>
          </p:cNvSpPr>
          <p:nvPr>
            <p:ph idx="1"/>
          </p:nvPr>
        </p:nvSpPr>
        <p:spPr/>
        <p:txBody>
          <a:bodyPr/>
          <a:lstStyle/>
          <a:p>
            <a:pPr lvl="0"/>
            <a:r>
              <a:rPr/>
              <a:t>NIST SP 800-63B-4: pages.nist.gov/800-63-4/sp800-63b.html</a:t>
            </a:r>
          </a:p>
          <a:p>
            <a:pPr lvl="0"/>
            <a:r>
              <a:rPr/>
              <a:t>RFC 5280, RFC 9525, RFC 2986, RFC 8555 (PKI)</a:t>
            </a:r>
          </a:p>
          <a:p>
            <a:pPr lvl="0"/>
            <a:r>
              <a:rPr/>
              <a:t>RFC 5321, RFC 6409, RFC 5322, RFC 7208, RFC 6376, RFC 9989, RFC 9990, RFC 9991 (email)</a:t>
            </a:r>
          </a:p>
          <a:p>
            <a:pPr lvl="0"/>
            <a:r>
              <a:rPr/>
              <a:t>Microsoft Learn: about_Pipelines, about_Modules, Get-WinEvent, Export-Csv</a:t>
            </a:r>
          </a:p>
          <a:p>
            <a:pPr lvl="0"/>
            <a:r>
              <a:rPr/>
              <a:t>Full list with links on the companion site</a:t>
            </a:r>
          </a:p>
          <a:p>
            <a:pPr lvl="0" indent="0" marL="0">
              <a:buNone/>
            </a:pPr>
            <a:r>
              <a:rPr b="1"/>
              <a:t>dzampino.github.io/crt-essentials-2026</a:t>
            </a:r>
          </a:p>
        </p:txBody>
      </p:sp>
      <p:sp>
        <p:nvSpPr>
          <p:cNvPr id="4"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5A6472"/>
                </a:solidFill>
                <a:latin typeface="+mn-lt"/>
              </a:defRPr>
            </a:lvl1pPr>
          </a:lstStyle>
          <a:p>
            <a:r>
              <a:rPr lang="en-US"/>
              <a:t>CRT Annual Training Conference 2026</a:t>
            </a:r>
          </a:p>
        </p:txBody>
      </p:sp>
      <p:sp>
        <p:nvSpPr>
          <p:cNvPr id="5"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5A6472"/>
                </a:solidFill>
                <a:latin typeface="+mn-lt"/>
              </a:defRPr>
            </a:lvl1pPr>
          </a:lstStyle>
          <a:p>
            <a:fld id="{8A1C2F2E-3D4B-4C6E-9F10-2B7A5C9E1D01}" type="slidenum">
              <a:rPr lang="en-US"/>
              <a:t>‹#›</a:t>
            </a:fld>
            <a:endParaRPr lang="en-US"/>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28800"/>
            <a:ext cx="6766560" cy="2377440"/>
          </a:xfrm>
          <a:prstGeom prst="rect">
            <a:avLst/>
          </a:prstGeom>
        </p:spPr>
        <p:txBody>
          <a:bodyPr/>
          <a:lstStyle/>
          <a:p>
            <a:pPr lvl="0" indent="0" marL="0">
              <a:buNone/>
            </a:pPr>
            <a:r>
              <a:rPr/>
              <a:t>Questions</a:t>
            </a:r>
          </a:p>
        </p:txBody>
      </p:sp>
      <p:sp>
        <p:nvSpPr>
          <p:cNvPr id="5" name="Footer Placeholder"/>
          <p:cNvSpPr>
            <a:spLocks noGrp="1"/>
          </p:cNvSpPr>
          <p:nvPr>
            <p:ph idx="11" sz="quarter" type="ftr"/>
          </p:nvPr>
        </p:nvSpPr>
        <p:spPr>
          <a:xfrm>
            <a:off x="1005840" y="6345936"/>
            <a:ext cx="6949440" cy="274320"/>
          </a:xfrm>
          <a:prstGeom prst="rect">
            <a:avLst/>
          </a:prstGeom>
        </p:spPr>
        <p:txBody>
          <a:bodyPr anchor="ctr" bIns="0" lIns="0" rIns="0" rtlCol="0" tIns="0" vert="horz" wrap="square">
            <a:noAutofit/>
          </a:bodyPr>
          <a:lstStyle>
            <a:lvl1pPr algn="l" indent="0" marL="0">
              <a:buNone/>
              <a:defRPr spc="10" sz="1000">
                <a:solidFill>
                  <a:srgbClr val="8DA2BE"/>
                </a:solidFill>
                <a:latin typeface="+mn-lt"/>
              </a:defRPr>
            </a:lvl1pPr>
          </a:lstStyle>
          <a:p>
            <a:r>
              <a:rPr lang="en-US"/>
              <a:t>CRT Annual Training Conference 2026</a:t>
            </a:r>
          </a:p>
        </p:txBody>
      </p:sp>
      <p:sp>
        <p:nvSpPr>
          <p:cNvPr id="6" name="Slide Number Placeholder"/>
          <p:cNvSpPr>
            <a:spLocks noGrp="1"/>
          </p:cNvSpPr>
          <p:nvPr>
            <p:ph idx="12" sz="quarter" type="sldNum"/>
          </p:nvPr>
        </p:nvSpPr>
        <p:spPr>
          <a:xfrm>
            <a:off x="11186160" y="6345936"/>
            <a:ext cx="457200" cy="274320"/>
          </a:xfrm>
          <a:prstGeom prst="rect">
            <a:avLst/>
          </a:prstGeom>
        </p:spPr>
        <p:txBody>
          <a:bodyPr anchor="ctr" bIns="0" lIns="0" rIns="0" rtlCol="0" tIns="0" vert="horz" wrap="square">
            <a:noAutofit/>
          </a:bodyPr>
          <a:lstStyle>
            <a:lvl1pPr algn="r" indent="0" marL="0">
              <a:buNone/>
              <a:defRPr spc="10" sz="1000">
                <a:solidFill>
                  <a:srgbClr val="8DA2BE"/>
                </a:solidFill>
                <a:latin typeface="+mn-lt"/>
              </a:defRPr>
            </a:lvl1pPr>
          </a:lstStyle>
          <a:p>
            <a:fld id="{8A1C2F2E-3D4B-4C6E-9F10-2B7A5C9E1D01}" type="slidenum">
              <a:rPr lang="en-US"/>
              <a:t>‹#›</a:t>
            </a:fld>
            <a:endParaRPr lang="en-US"/>
          </a:p>
        </p:txBody>
      </p:sp>
    </p:spTree>
  </p:cSld>
</p:sld>
</file>

<file path=ppt/theme/theme1.xml><?xml version="1.0" encoding="utf-8"?>
<a:theme xmlns:a="http://schemas.openxmlformats.org/drawingml/2006/main" name="WICRT Training">
  <a:themeElements>
    <a:clrScheme name="WICRT">
      <a:dk1>
        <a:srgbClr val="1A1D23"/>
      </a:dk1>
      <a:lt1>
        <a:srgbClr val="FFFFFF"/>
      </a:lt1>
      <a:dk2>
        <a:srgbClr val="0C2454"/>
      </a:dk2>
      <a:lt2>
        <a:srgbClr val="E8EDF3"/>
      </a:lt2>
      <a:accent1>
        <a:srgbClr val="0C2454"/>
      </a:accent1>
      <a:accent2>
        <a:srgbClr val="034BAB"/>
      </a:accent2>
      <a:accent3>
        <a:srgbClr val="E03E3B"/>
      </a:accent3>
      <a:accent4>
        <a:srgbClr val="5A6472"/>
      </a:accent4>
      <a:accent5>
        <a:srgbClr val="8DA2BE"/>
      </a:accent5>
      <a:accent6>
        <a:srgbClr val="C9861A"/>
      </a:accent6>
      <a:hlink>
        <a:srgbClr val="034BAB"/>
      </a:hlink>
      <a:folHlink>
        <a:srgbClr val="5B4A8B"/>
      </a:folHlink>
    </a:clrScheme>
    <a:fontScheme name="WICR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WICRT Training Notes">
  <a:themeElements>
    <a:clrScheme name="WICRT">
      <a:dk1>
        <a:srgbClr val="1A1D23"/>
      </a:dk1>
      <a:lt1>
        <a:srgbClr val="FFFFFF"/>
      </a:lt1>
      <a:dk2>
        <a:srgbClr val="0C2454"/>
      </a:dk2>
      <a:lt2>
        <a:srgbClr val="E8EDF3"/>
      </a:lt2>
      <a:accent1>
        <a:srgbClr val="0C2454"/>
      </a:accent1>
      <a:accent2>
        <a:srgbClr val="034BAB"/>
      </a:accent2>
      <a:accent3>
        <a:srgbClr val="E03E3B"/>
      </a:accent3>
      <a:accent4>
        <a:srgbClr val="5A6472"/>
      </a:accent4>
      <a:accent5>
        <a:srgbClr val="8DA2BE"/>
      </a:accent5>
      <a:accent6>
        <a:srgbClr val="C9861A"/>
      </a:accent6>
      <a:hlink>
        <a:srgbClr val="034BAB"/>
      </a:hlink>
      <a:folHlink>
        <a:srgbClr val="5B4A8B"/>
      </a:folHlink>
    </a:clrScheme>
    <a:fontScheme name="WICR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CRT Essentials</dc:title>
  <dc:creator>David Zampino</dc:creator>
  <cp:keywords/>
  <dcterms:created xsi:type="dcterms:W3CDTF">2026-10-18T12:32:16Z</dcterms:created>
  <dcterms:modified xsi:type="dcterms:W3CDTF">2026-10-18T12:32:16Z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October 18, 2026</vt:lpwstr>
  </property>
  <property fmtid="{D5CDD505-2E9C-101B-9397-08002B2CF9AE}" pid="6" name="date-format">
    <vt:lpwstr>MMMM D, YYYY</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monofont">
    <vt:lpwstr>Consolas</vt:lpwstr>
  </property>
  <property fmtid="{D5CDD505-2E9C-101B-9397-08002B2CF9AE}" pid="12" name="revealjs-plugins">
    <vt:lpwstr/>
  </property>
  <property fmtid="{D5CDD505-2E9C-101B-9397-08002B2CF9AE}" pid="13" name="subtitle">
    <vt:lpwstr>or The Dave Zampino Power Hour</vt:lpwstr>
  </property>
  <property fmtid="{D5CDD505-2E9C-101B-9397-08002B2CF9AE}" pid="14" name="toc-title">
    <vt:lpwstr>Table of contents</vt:lpwstr>
  </property>
</Properties>
</file>
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Fictional training certificates for the fictional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D1:B7:D4:59:…:C0:E5.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about_Functions_CmdletBindingAttribute and ShouldProcess: https://learn.microsoft.com/en-us/powershell/module/microsoft.powershell.core/about/about_functions_cmdletbindingattribute New-CaseFolder -Path E:\2026-0142 -WhatIf shows what would happen without doing it. The full version on the companion site creates Collected, Output and Notes.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Windows PowerShell 5.1 uses Documentsinstead. Every function on the companion site is in its own copyable block, and all of them are packaged as the CrtEssentials module.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test its output on Server 2025.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on Windows through Docker. KAPE and the community KapeFiles repository: https://github.com/EricZimmerman/KapeFiles Kroll’s KAPE terms distinguish free and enterprise use: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xkcd.com/936/" TargetMode="External" /><Relationship Id="rId4"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7.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Companion site</a:t>
            </a:r>
          </a:p>
        </p:txBody>
      </p:sp>
      <p:sp>
        <p:nvSpPr>
          <p:cNvPr id="4" name="Text Placeholder 4"/>
          <p:cNvSpPr>
            <a:spLocks noGrp="1"/>
          </p:cNvSpPr>
          <p:nvPr>
            <p:ph idx="2" sz="half" type="body"/>
          </p:nvPr>
        </p:nvSpPr>
        <p:spPr/>
        <p:txBody>
          <a:bodyPr/>
          <a:lstStyle/>
          <a:p>
            <a:pPr lvl="0" indent="0" marL="0">
              <a:buNone/>
            </a:pPr>
            <a:r>
              <a:rPr b="1"/>
              <a:t>dzampino.github.io/crt-essentials-2026</a:t>
            </a:r>
          </a:p>
          <a:p>
            <a:pPr lvl="0" indent="0" marL="0">
              <a:buNone/>
            </a:pPr>
            <a:r>
              <a:rPr/>
              <a:t>Calculators, sample files, commands, a PowerShell module and references for everything in this session</a:t>
            </a:r>
          </a:p>
        </p:txBody>
      </p:sp>
      <p:pic>
        <p:nvPicPr>
          <p:cNvPr descr="../assets/site-qr.png" id="0" name="Picture 1"/>
          <p:cNvPicPr>
            <a:picLocks noGrp="1" noChangeAspect="1"/>
          </p:cNvPicPr>
          <p:nvPr/>
        </p:nvPicPr>
        <p:blipFill>
          <a:blip r:embed="rId3"/>
          <a:stretch>
            <a:fillRect/>
          </a:stretch>
        </p:blipFill>
        <p:spPr bwMode="auto">
          <a:xfrm>
            <a:off x="5753100" y="1435100"/>
            <a:ext cx="45974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assets/xkcd-936.png"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3e:23:6d:a6:5a:1d:83:f6:...:8e:0c
Issuer:  O=Fictional 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assets/diagrams/certificate-chain.png"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assets/diagrams/email-flow.png"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Microsoft’s Message Header Analyzer lays it all out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 (briefly, for historical context)</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r>
              <a:rPr>
                <a:solidFill>
                  <a:srgbClr val="1A1D23"/>
                </a:solidFill>
                <a:latin typeface="Consolas"/>
              </a:rPr>
              <a:t>SupportsShouldProcess</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br/>
            <a:r>
              <a:rPr>
                <a:solidFill>
                  <a:srgbClr val="1A1D23"/>
                </a:solidFill>
                <a:latin typeface="Consolas"/>
              </a:rPr>
              <a:t>    </a:t>
            </a:r>
            <a:r>
              <a:rPr>
                <a:solidFill>
                  <a:srgbClr val="5A6472"/>
                </a:solidFill>
                <a:latin typeface="Consolas"/>
              </a:rPr>
              <a:t>)</a:t>
            </a:r>
            <a:br/>
            <a:r>
              <a:rPr>
                <a:solidFill>
                  <a:srgbClr val="1A1D23"/>
                </a:solidFill>
                <a:latin typeface="Consolas"/>
              </a:rPr>
              <a:t>    </a:t>
            </a:r>
            <a:r>
              <a:rPr b="1">
                <a:solidFill>
                  <a:srgbClr val="0C2454"/>
                </a:solidFill>
                <a:latin typeface="Consolas"/>
              </a:rPr>
              <a:t>if</a:t>
            </a:r>
            <a:r>
              <a:rPr>
                <a:solidFill>
                  <a:srgbClr val="1A1D23"/>
                </a:solidFill>
                <a:latin typeface="Consolas"/>
              </a:rPr>
              <a:t> </a:t>
            </a:r>
            <a:r>
              <a:rPr>
                <a:solidFill>
                  <a:srgbClr val="5A6472"/>
                </a:solidFill>
                <a:latin typeface="Consolas"/>
              </a:rPr>
              <a:t>(</a:t>
            </a:r>
            <a:r>
              <a:rPr>
                <a:solidFill>
                  <a:srgbClr val="0C2454"/>
                </a:solidFill>
                <a:latin typeface="Consolas"/>
              </a:rPr>
              <a:t>$PSCmdlet</a:t>
            </a:r>
            <a:r>
              <a:rPr>
                <a:solidFill>
                  <a:srgbClr val="5A6472"/>
                </a:solidFill>
                <a:latin typeface="Consolas"/>
              </a:rPr>
              <a:t>.</a:t>
            </a:r>
            <a:r>
              <a:rPr>
                <a:solidFill>
                  <a:srgbClr val="034BAB"/>
                </a:solidFill>
                <a:latin typeface="Consolas"/>
              </a:rPr>
              <a:t>ShouldProcess</a:t>
            </a:r>
            <a:r>
              <a:rPr>
                <a:solidFill>
                  <a:srgbClr val="5A6472"/>
                </a:solidFill>
                <a:latin typeface="Consolas"/>
              </a:rPr>
              <a:t>(</a:t>
            </a:r>
            <a:r>
              <a:rPr>
                <a:solidFill>
                  <a:srgbClr val="0C2454"/>
                </a:solidFill>
                <a:latin typeface="Consolas"/>
              </a:rPr>
              <a:t>$Path</a:t>
            </a:r>
            <a:r>
              <a:rPr>
                <a:solidFill>
                  <a:srgbClr val="5A6472"/>
                </a:solidFill>
                <a:latin typeface="Consolas"/>
              </a:rPr>
              <a:t>,</a:t>
            </a:r>
            <a:r>
              <a:rPr>
                <a:solidFill>
                  <a:srgbClr val="1A1D23"/>
                </a:solidFill>
                <a:latin typeface="Consolas"/>
              </a:rPr>
              <a:t> </a:t>
            </a:r>
            <a:r>
              <a:rPr>
                <a:solidFill>
                  <a:srgbClr val="B3352F"/>
                </a:solidFill>
                <a:latin typeface="Consolas"/>
              </a:rPr>
              <a:t>'Create case folder'</a:t>
            </a: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$Path</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 </a:t>
            </a:r>
            <a:r>
              <a:rPr>
                <a:solidFill>
                  <a:srgbClr val="034BAB"/>
                </a:solidFill>
                <a:latin typeface="Consolas"/>
              </a:rPr>
              <a:t>Out-Null</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In your </a:t>
            </a:r>
            <a:r>
              <a:rPr>
                <a:latin typeface="Consolas"/>
              </a:rPr>
              <a:t>Documents\PowerShell\Modules</a:t>
            </a:r>
            <a:r>
              <a:rPr/>
              <a:t> folder, PowerShell loads it for you</a:t>
            </a:r>
          </a:p>
          <a:p>
            <a:pPr lvl="0" indent="0">
              <a:buNone/>
            </a:pPr>
            <a:r>
              <a:rPr>
                <a:solidFill>
                  <a:srgbClr val="0C2454"/>
                </a:solidFill>
                <a:latin typeface="Consolas"/>
              </a:rPr>
              <a:t>$Docs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Environment</a:t>
            </a:r>
            <a:r>
              <a:rPr>
                <a:solidFill>
                  <a:srgbClr val="5A6472"/>
                </a:solidFill>
                <a:latin typeface="Consolas"/>
              </a:rPr>
              <a:t>]::</a:t>
            </a:r>
            <a:r>
              <a:rPr>
                <a:solidFill>
                  <a:srgbClr val="1A1D23"/>
                </a:solidFill>
                <a:latin typeface="Consolas"/>
              </a:rPr>
              <a:t>GetFolderPath</a:t>
            </a:r>
            <a:r>
              <a:rPr>
                <a:solidFill>
                  <a:srgbClr val="5A6472"/>
                </a:solidFill>
                <a:latin typeface="Consolas"/>
              </a:rPr>
              <a:t>(</a:t>
            </a:r>
            <a:r>
              <a:rPr>
                <a:solidFill>
                  <a:srgbClr val="B3352F"/>
                </a:solidFill>
                <a:latin typeface="Consolas"/>
              </a:rPr>
              <a:t>'MyDocuments'</a:t>
            </a:r>
            <a:r>
              <a:rPr>
                <a:solidFill>
                  <a:srgbClr val="5A6472"/>
                </a:solidFill>
                <a:latin typeface="Consolas"/>
              </a:rPr>
              <a:t>)</a:t>
            </a:r>
            <a:b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B3352F"/>
                </a:solidFill>
                <a:latin typeface="Consolas"/>
              </a:rPr>
              <a:t>"</a:t>
            </a:r>
            <a:r>
              <a:rPr>
                <a:solidFill>
                  <a:srgbClr val="0C2454"/>
                </a:solidFill>
                <a:latin typeface="Consolas"/>
              </a:rPr>
              <a:t>$Docs</a:t>
            </a:r>
            <a:r>
              <a:rPr>
                <a:solidFill>
                  <a:srgbClr val="B3352F"/>
                </a:solidFill>
                <a:latin typeface="Consolas"/>
              </a:rPr>
              <a:t>\PowerShell\Modules\MyTools"</a:t>
            </a:r>
            <a:b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notepad </a:t>
            </a:r>
            <a:r>
              <a:rPr>
                <a:solidFill>
                  <a:srgbClr val="B3352F"/>
                </a:solidFill>
                <a:latin typeface="Consolas"/>
              </a:rPr>
              <a:t>"</a:t>
            </a:r>
            <a:r>
              <a:rPr>
                <a:solidFill>
                  <a:srgbClr val="0C2454"/>
                </a:solidFill>
                <a:latin typeface="Consolas"/>
              </a:rPr>
              <a:t>$Folder</a:t>
            </a:r>
            <a:r>
              <a:rPr>
                <a:solidFill>
                  <a:srgbClr val="B3352F"/>
                </a:solidFill>
                <a:latin typeface="Consolas"/>
              </a:rPr>
              <a:t>\MyTools.psm1"</a:t>
            </a:r>
            <a:r>
              <a:rPr>
                <a:solidFill>
                  <a:srgbClr val="1A1D23"/>
                </a:solidFill>
                <a:latin typeface="Consolas"/>
              </a:rPr>
              <a:t>     </a:t>
            </a:r>
            <a:r>
              <a:rPr i="1">
                <a:solidFill>
                  <a:srgbClr val="6B7480"/>
                </a:solidFill>
                <a:latin typeface="Consolas"/>
              </a:rPr>
              <a:t># paste functions, save</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Module MyTools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Memory acquisition is handled separately (Magnet in our workflow)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UAC: normally I don’t disable security features, but this is a disposable VM and reducing friction matters</a:t>
            </a:r>
          </a:p>
          <a:p>
            <a:pPr lvl="0"/>
            <a:r>
              <a:rPr/>
              <a:t>Other Windows security settings as decisions specific to this machine, not general recommendations</a:t>
            </a:r>
          </a:p>
          <a:p>
            <a:pPr lvl="1"/>
            <a:r>
              <a:rPr/>
              <a:t>Defender removed, long paths on</a:t>
            </a:r>
          </a:p>
          <a:p>
            <a:pPr lvl="1"/>
            <a:r>
              <a:rPr/>
              <a:t>File extensions and hidden files shown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Wrap-Up</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Key takeaways</a:t>
            </a:r>
          </a:p>
        </p:txBody>
      </p:sp>
      <p:sp>
        <p:nvSpPr>
          <p:cNvPr id="3" name="Content Placeholder 3"/>
          <p:cNvSpPr>
            <a:spLocks noGrp="1"/>
          </p:cNvSpPr>
          <p:nvPr>
            <p:ph idx="1"/>
          </p:nvPr>
        </p:nvSpPr>
        <p:spPr/>
        <p:txBody>
          <a:bodyPr/>
          <a:lstStyle/>
          <a:p>
            <a:pPr lvl="0"/>
            <a:r>
              <a:rPr b="1"/>
              <a:t>Passwords:</a:t>
            </a:r>
            <a:r>
              <a:rPr/>
              <a:t> unique, long, checked against breaches, with MFA</a:t>
            </a:r>
          </a:p>
          <a:p>
            <a:pPr lvl="0"/>
            <a:r>
              <a:rPr b="1"/>
              <a:t>PKI:</a:t>
            </a:r>
            <a:r>
              <a:rPr/>
              <a:t> a certificate binds a key to a name; validation checks name, dates, chain, trust and usage</a:t>
            </a:r>
          </a:p>
          <a:p>
            <a:pPr lvl="0"/>
            <a:r>
              <a:rPr b="1"/>
              <a:t>Email:</a:t>
            </a:r>
            <a:r>
              <a:rPr/>
              <a:t> DMARC starts with the </a:t>
            </a:r>
            <a:r>
              <a:rPr>
                <a:latin typeface="Consolas"/>
              </a:rPr>
              <a:t>From</a:t>
            </a:r>
            <a:r>
              <a:rPr/>
              <a:t> domain and needs an aligned pass</a:t>
            </a:r>
          </a:p>
          <a:p>
            <a:pPr lvl="0"/>
            <a:r>
              <a:rPr b="1"/>
              <a:t>PowerShell:</a:t>
            </a:r>
            <a:r>
              <a:rPr/>
              <a:t> objects in a pipeline turn a task into something repeatable</a:t>
            </a:r>
          </a:p>
          <a:p>
            <a:pPr lvl="0"/>
            <a:r>
              <a:rPr b="1"/>
              <a:t>DFIR box:</a:t>
            </a:r>
            <a:r>
              <a:rPr/>
              <a:t> a disposable analysis VM with case data kept elsewhere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References</a:t>
            </a:r>
          </a:p>
        </p:txBody>
      </p:sp>
      <p:sp>
        <p:nvSpPr>
          <p:cNvPr id="3" name="Content Placeholder 3"/>
          <p:cNvSpPr>
            <a:spLocks noGrp="1"/>
          </p:cNvSpPr>
          <p:nvPr>
            <p:ph idx="1"/>
          </p:nvPr>
        </p:nvSpPr>
        <p:spPr/>
        <p:txBody>
          <a:bodyPr/>
          <a:lstStyle/>
          <a:p>
            <a:pPr lvl="0"/>
            <a:r>
              <a:rPr/>
              <a:t>NIST SP 800-63B-4: pages.nist.gov/800-63-4/sp800-63b.html</a:t>
            </a:r>
          </a:p>
          <a:p>
            <a:pPr lvl="0"/>
            <a:r>
              <a:rPr/>
              <a:t>RFC 5280, RFC 9525, RFC 2986, RFC 8555 (PKI)</a:t>
            </a:r>
          </a:p>
          <a:p>
            <a:pPr lvl="0"/>
            <a:r>
              <a:rPr/>
              <a:t>RFC 5321, RFC 6409, RFC 5322, RFC 7208, RFC 6376, RFC 9989, RFC 9990, RFC 9991 (email)</a:t>
            </a:r>
          </a:p>
          <a:p>
            <a:pPr lvl="0"/>
            <a:r>
              <a:rPr/>
              <a:t>Microsoft Learn: about_Pipelines, about_Modules, Get-WinEvent, Export-Csv</a:t>
            </a:r>
          </a:p>
          <a:p>
            <a:pPr lvl="0"/>
            <a:r>
              <a:rPr/>
              <a:t>Full list with links on the companion site</a:t>
            </a:r>
          </a:p>
          <a:p>
            <a:pPr lvl="0" indent="0" marL="0">
              <a:buNone/>
            </a:pPr>
            <a:r>
              <a:rPr b="1"/>
              <a:t>dzampino.github.io/crt-essentials-2026</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2026-10-18T07:33:15Z</dcterms:created>
  <dcterms:modified xsi:type="dcterms:W3CDTF">2026-10-18T07:33:15Z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
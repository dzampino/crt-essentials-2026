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notesMaster" Target="notesMasters/notesMaster1.xml" /><Relationship Id="rId64" Type="http://schemas.openxmlformats.org/officeDocument/2006/relationships/viewProps" Target="viewProps.xml" /><Relationship Id="rId63" Type="http://schemas.openxmlformats.org/officeDocument/2006/relationships/presProps" Target="presProps.xml" /><Relationship Id="rId1" Type="http://schemas.openxmlformats.org/officeDocument/2006/relationships/slideMaster" Target="slideMasters/slideMaster1.xml" /><Relationship Id="rId66" Type="http://schemas.openxmlformats.org/officeDocument/2006/relationships/tableStyles" Target="tableStyles.xml" /><Relationship Id="rId6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is the proposed pacing budget from outline.md section 3. Demonstrations are included within each section’s allocation.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Proposed wording, drawn from outline.md section 1.</a:t>
            </a:r>
          </a:p>
          <a:p>
            <a:pPr lvl="0" indent="0" marL="0">
              <a:buNone/>
            </a:pPr>
          </a:p>
          <a:p>
            <a:pPr lvl="0" indent="0" marL="0">
              <a:buNone/>
            </a:pPr>
            <a:r>
              <a:rPr/>
              <a:t>The companion site holds the calculators, sample files, commands, scripts and references that do not fit in a two-hour session.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[David’s notes to add.]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Review note (outline section 5): 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Review note (outline section 5): the pool/length formula assumes each character, or word, is chosen uniformly at random from the alphabet. Human-chosen passwords do not meet that assumption.</a:t>
            </a:r>
          </a:p>
          <a:p>
            <a:pPr lvl="0" indent="0" marL="0">
              <a:buNone/>
            </a:pPr>
          </a:p>
          <a:p>
            <a:pPr lvl="0" indent="0" marL="0">
              <a:buNone/>
            </a:pPr>
            <a:r>
              <a:rPr/>
              <a:t>Table values computed as log2(alphabet^length). xkcd 936 uses 11 bits per word (2,048 words). The EFF large wordlist has 7,776 words (five dice): https://www.eff.org/dice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SWAP TO SITE for the entropy calculation: dzampino.github.io/crt-essentials-2026/passwords.html</a:t>
            </a:r>
          </a:p>
          <a:p>
            <a:pPr lvl="0" indent="0" marL="0">
              <a:buNone/>
            </a:pPr>
          </a:p>
          <a:p>
            <a:pPr lvl="0" indent="0" marL="0">
              <a:buNone/>
            </a:pPr>
            <a:r>
              <a:rPr/>
              <a:t>Points to show: adding a character multiplies the search space by the alphabet size (adds log2(alphabet)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Companion site: hashing algorithms, threat levels, time and cost to crack.</a:t>
            </a:r>
          </a:p>
          <a:p>
            <a:pPr lvl="0" indent="0" marL="0">
              <a:buNone/>
            </a:pPr>
          </a:p>
          <a:p>
            <a:pPr lvl="0" indent="0" marL="0">
              <a:buNone/>
            </a:pPr>
            <a:r>
              <a:rPr/>
              <a:t>Rates: hashcat v6.2.6 benchmark, RTX 5090 Founders Edition, Chick3nman, February 2025: https://gist.github.com/Chick3nman/09bac0775e6393468c2925c1e1363d5c Average time = (95^8 / 2) / rate, a full brute force with no wordlist. Real attacks start with wordlists and rules, so human-chosen passwords fall much faster.</a:t>
            </a:r>
          </a:p>
          <a:p>
            <a:pPr lvl="0" indent="0" marL="0">
              <a:buNone/>
            </a:pPr>
          </a:p>
          <a:p>
            <a:pPr lvl="0" indent="0" marL="0">
              <a:buNone/>
            </a:pPr>
            <a:r>
              <a:rPr/>
              <a:t>Review note (outline section 5): a stored Windows NT hash and an NTLM protocol exchange (NetNTLMv2, 16.0 G/s on the same card) are different comparison subjects.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[David’s notes to add.]</a:t>
            </a:r>
          </a:p>
          <a:p>
            <a:pPr lvl="0" indent="0" marL="0">
              <a:buNone/>
            </a:pPr>
          </a:p>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Proposed wording for the sub-points.</a:t>
            </a:r>
          </a:p>
          <a:p>
            <a:pPr lvl="0" indent="0" marL="0">
              <a:buNone/>
            </a:pPr>
          </a:p>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a:p>
            <a:pPr lvl="0" indent="0" marL="0">
              <a:buNone/>
            </a:pPr>
          </a:p>
          <a:p>
            <a:pPr lvl="0" indent="0" marL="0">
              <a:buNone/>
            </a:pPr>
            <a:r>
              <a:rPr/>
              <a:t>Companion site: field reference with OIDs.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Output trimmed and condensed from: openssl x509 -in training-leaf.pem -noout -text (OpenSSL 3.5).</a:t>
            </a:r>
          </a:p>
          <a:p>
            <a:pPr lvl="0" indent="0" marL="0">
              <a:buNone/>
            </a:pPr>
          </a:p>
          <a:p>
            <a:pPr lvl="0" indent="0" marL="0">
              <a:buNone/>
            </a:pPr>
            <a:r>
              <a:rPr/>
              <a:t>The sample files are fictional training certificates; no private keys are included. Do not install the training root. Download them from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3B:44:01:67:…:17:E2. certutil -dump reads both.</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a:p>
            <a:pPr lvl="0" indent="0" marL="0">
              <a:buNone/>
            </a:pPr>
          </a:p>
          <a:p>
            <a:pPr lvl="0" indent="0" marL="0">
              <a:buNone/>
            </a:pPr>
            <a:r>
              <a:rPr/>
              <a:t>Companion site: CSR, AD CS and ACME examples.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Proposed wording for the sub-points.</a:t>
            </a:r>
          </a:p>
          <a:p>
            <a:pPr lvl="0" indent="0" marL="0">
              <a:buNone/>
            </a:pPr>
          </a:p>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3.5.7);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Proposed wording for the sub-points.</a:t>
            </a:r>
          </a:p>
          <a:p>
            <a:pPr lvl="0" indent="0" marL="0">
              <a:buNone/>
            </a:pPr>
          </a:p>
          <a:p>
            <a:pPr lvl="0" indent="0" marL="0">
              <a:buNone/>
            </a:pPr>
            <a:r>
              <a:rPr/>
              <a:t>RFC 8601, Authentication-Results: https://datatracker.ietf.org/doc/html/rfc8601 Companion site: annotated sample headers.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samples/email/answers.md (learndmarc-1).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samples/email/answers.md (learndmarc-2).</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samples/email/answers.md (learndmarc-3). The relaxed-alignment sub-point is an added observation: both domains share the organizational domain primary.com.</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[David’s notes to add.] The third point is proposed wording.</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The full Get-FileInventory.ps1 script is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The Get-EvtxSummary.ps1 script on the companion site extends this.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about_Functions_CmdletBindingAttribute and ShouldProcess: https://learn.microsoft.com/en-us/powershell/module/microsoft.powershell.core/about/about_functions_cmdletbindingattribute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[David’s notes to add.]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Proposed split. The reset method (snapshot, differencing disk or other) is an open implementation decision recorded in README.md.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companion site has an example build script and tool manifest. The manifest entries are placeholders until the tool list is selected.</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Defender and networking are listed as open decisions in outline.md section 5.2.</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Outline: “confirm intended tool name”. KAPE and the community KapeFiles repository: https://github.com/EricZimmerman/KapeFiles</a:t>
            </a:r>
          </a:p>
          <a:p>
            <a:pPr lvl="0" indent="0" marL="0">
              <a:buNone/>
            </a:pPr>
          </a:p>
          <a:p>
            <a:pPr lvl="0" indent="0" marL="0">
              <a:buNone/>
            </a:pPr>
            <a:r>
              <a:rPr/>
              <a:t>Licensing: Kroll’s KAPE terms distinguish free and enterprise use; confirm which applies to CRT engagements before selection: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Companion site: checks to confirm output is retained before reset.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Proposed wording, summarizing each section’s takeaways.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5537200"/>
                <a:gridCol w="5537200"/>
              </a:tblGrid>
              <a:tr h="0">
                <a:tc>
                  <a:txBody>
                    <a:bodyPr/>
                    <a:lstStyle/>
                    <a:p>
                      <a:pPr lvl="0" indent="0" marL="0">
                        <a:buNone/>
                      </a:pPr>
                      <a:r>
                        <a:rPr/>
                        <a:t>Segment</a:t>
                      </a:r>
                    </a:p>
                  </a:txBody>
                  <a:tcPr/>
                </a:tc>
                <a:tc>
                  <a:txBody>
                    <a:bodyPr/>
                    <a:lstStyle/>
                    <a:p>
                      <a:pPr lvl="0" indent="0" marL="0" algn="r">
                        <a:buNone/>
                      </a:pPr>
                      <a:r>
                        <a:rPr/>
                        <a:t>Minutes</a:t>
                      </a:r>
                    </a:p>
                  </a:txBody>
                  <a:tcPr/>
                </a:tc>
              </a:tr>
              <a:tr h="0">
                <a:tc>
                  <a:txBody>
                    <a:bodyPr/>
                    <a:lstStyle/>
                    <a:p>
                      <a:pPr lvl="0" indent="0" marL="0">
                        <a:buNone/>
                      </a:pPr>
                      <a:r>
                        <a:rPr/>
                        <a:t>Introduction and purpose</a:t>
                      </a:r>
                    </a:p>
                  </a:txBody>
                </a:tc>
                <a:tc>
                  <a:txBody>
                    <a:bodyPr/>
                    <a:lstStyle/>
                    <a:p>
                      <a:pPr lvl="0" indent="0" marL="0" algn="r">
                        <a:buNone/>
                      </a:pPr>
                      <a:r>
                        <a:rPr/>
                        <a:t>5</a:t>
                      </a:r>
                    </a:p>
                  </a:txBody>
                </a:tc>
              </a:tr>
              <a:tr h="0">
                <a:tc>
                  <a:txBody>
                    <a:bodyPr/>
                    <a:lstStyle/>
                    <a:p>
                      <a:pPr lvl="0" indent="0" marL="0">
                        <a:buNone/>
                      </a:pPr>
                      <a:r>
                        <a:rPr/>
                        <a:t>Passwords</a:t>
                      </a:r>
                    </a:p>
                  </a:txBody>
                </a:tc>
                <a:tc>
                  <a:txBody>
                    <a:bodyPr/>
                    <a:lstStyle/>
                    <a:p>
                      <a:pPr lvl="0" indent="0" marL="0" algn="r">
                        <a:buNone/>
                      </a:pPr>
                      <a:r>
                        <a:rPr/>
                        <a:t>20</a:t>
                      </a:r>
                    </a:p>
                  </a:txBody>
                </a:tc>
              </a:tr>
              <a:tr h="0">
                <a:tc>
                  <a:txBody>
                    <a:bodyPr/>
                    <a:lstStyle/>
                    <a:p>
                      <a:pPr lvl="0" indent="0" marL="0">
                        <a:buNone/>
                      </a:pPr>
                      <a:r>
                        <a:rPr/>
                        <a:t>PKI</a:t>
                      </a:r>
                    </a:p>
                  </a:txBody>
                </a:tc>
                <a:tc>
                  <a:txBody>
                    <a:bodyPr/>
                    <a:lstStyle/>
                    <a:p>
                      <a:pPr lvl="0" indent="0" marL="0" algn="r">
                        <a:buNone/>
                      </a:pPr>
                      <a:r>
                        <a:rPr/>
                        <a:t>25</a:t>
                      </a:r>
                    </a:p>
                  </a:txBody>
                </a:tc>
              </a:tr>
              <a:tr h="0">
                <a:tc>
                  <a:txBody>
                    <a:bodyPr/>
                    <a:lstStyle/>
                    <a:p>
                      <a:pPr lvl="0" indent="0" marL="0">
                        <a:buNone/>
                      </a:pPr>
                      <a:r>
                        <a:rPr/>
                        <a:t>Email security</a:t>
                      </a:r>
                    </a:p>
                  </a:txBody>
                </a:tc>
                <a:tc>
                  <a:txBody>
                    <a:bodyPr/>
                    <a:lstStyle/>
                    <a:p>
                      <a:pPr lvl="0" indent="0" marL="0" algn="r">
                        <a:buNone/>
                      </a:pPr>
                      <a:r>
                        <a:rPr/>
                        <a:t>30</a:t>
                      </a:r>
                    </a:p>
                  </a:txBody>
                </a:tc>
              </a:tr>
              <a:tr h="0">
                <a:tc>
                  <a:txBody>
                    <a:bodyPr/>
                    <a:lstStyle/>
                    <a:p>
                      <a:pPr lvl="0" indent="0" marL="0">
                        <a:buNone/>
                      </a:pPr>
                      <a:r>
                        <a:rPr/>
                        <a:t>PowerShell</a:t>
                      </a:r>
                    </a:p>
                  </a:txBody>
                </a:tc>
                <a:tc>
                  <a:txBody>
                    <a:bodyPr/>
                    <a:lstStyle/>
                    <a:p>
                      <a:pPr lvl="0" indent="0" marL="0" algn="r">
                        <a:buNone/>
                      </a:pPr>
                      <a:r>
                        <a:rPr/>
                        <a:t>20</a:t>
                      </a:r>
                    </a:p>
                  </a:txBody>
                </a:tc>
              </a:tr>
              <a:tr h="0">
                <a:tc>
                  <a:txBody>
                    <a:bodyPr/>
                    <a:lstStyle/>
                    <a:p>
                      <a:pPr lvl="0" indent="0" marL="0">
                        <a:buNone/>
                      </a:pPr>
                      <a:r>
                        <a:rPr/>
                        <a:t>Building a Windows DFIR box</a:t>
                      </a:r>
                    </a:p>
                  </a:txBody>
                </a:tc>
                <a:tc>
                  <a:txBody>
                    <a:bodyPr/>
                    <a:lstStyle/>
                    <a:p>
                      <a:pPr lvl="0" indent="0" marL="0" algn="r">
                        <a:buNone/>
                      </a:pPr>
                      <a:r>
                        <a:rPr/>
                        <a:t>15</a:t>
                      </a:r>
                    </a:p>
                  </a:txBody>
                </a:tc>
              </a:tr>
              <a:tr h="0">
                <a:tc>
                  <a:txBody>
                    <a:bodyPr/>
                    <a:lstStyle/>
                    <a:p>
                      <a:pPr lvl="0" indent="0" marL="0">
                        <a:buNone/>
                      </a:pPr>
                      <a:r>
                        <a:rPr/>
                        <a:t>Questions and wrap-up</a:t>
                      </a:r>
                    </a:p>
                  </a:txBody>
                </a:tc>
                <a:tc>
                  <a:txBody>
                    <a:bodyPr/>
                    <a:lstStyle/>
                    <a:p>
                      <a:pPr lvl="0" indent="0" marL="0" algn="r">
                        <a:buNone/>
                      </a:pPr>
                      <a:r>
                        <a:rPr/>
                        <a:t>5</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these five topics</a:t>
            </a:r>
          </a:p>
        </p:txBody>
      </p:sp>
      <p:sp>
        <p:nvSpPr>
          <p:cNvPr id="3" name="Content Placeholder 3"/>
          <p:cNvSpPr>
            <a:spLocks noGrp="1"/>
          </p:cNvSpPr>
          <p:nvPr>
            <p:ph idx="1"/>
          </p:nvPr>
        </p:nvSpPr>
        <p:spPr/>
        <p:txBody>
          <a:bodyPr/>
          <a:lstStyle/>
          <a:p>
            <a:pPr lvl="0"/>
            <a:r>
              <a:rPr/>
              <a:t>Practical security knowledge CRT responders should understand and be able to explain</a:t>
            </a:r>
          </a:p>
          <a:p>
            <a:pPr lvl="0"/>
            <a:r>
              <a:rPr/>
              <a:t>Including the preventative advice that helps organizations avoid the incidents we respond to</a:t>
            </a:r>
          </a:p>
          <a:p>
            <a:pPr lvl="0"/>
            <a:r>
              <a:rPr/>
              <a:t>No single fictional incident; each topic stands on its own</a:t>
            </a:r>
          </a:p>
          <a:p>
            <a:pPr lvl="0"/>
            <a:r>
              <a:rPr/>
              <a:t>Slides for today, a field guide for afterward</a:t>
            </a:r>
          </a:p>
          <a:p>
            <a:pPr lvl="0" indent="0" marL="0">
              <a:buNone/>
            </a:pPr>
            <a:r>
              <a:rPr b="1"/>
              <a:t>Companion site:</a:t>
            </a:r>
            <a:r>
              <a:rPr/>
              <a:t> dzampino.github.io/crt-essentials-2026</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assets/xkcd-936.png"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 ^ 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05:6d:6d:da:99:ef:6a:99:e4:fe:...:0a:94
Issuer:  CN=CRT Fictional Training Root
Not Before: Oct  1 00:00:00 2026 GMT
Not After : Oct  1 00:00:00 2027 GMT
Subject: CN=training.example
Basic Constraints: critical, CA:FALSE
Subject Alternative Name: DNS:training.example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assets/diagrams/certificate-chain.png"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p:txBody>
      </p:sp>
      <p:pic>
        <p:nvPicPr>
          <p:cNvPr descr="../assets/diagrams/email-flow.png"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a:latin typeface="Consolas"/>
              </a:rPr>
              <a:t>&gt; HELO red.secondary.com
. 250 smtp.learndmarc.com Hello red.secondary.com &lt;153.112.107.49&gt;
&gt; MAIL FROM: &lt;gina@red.secondary.com&gt;
&gt; From: "Gina" &lt;gina@blue.secondary.com&gt;
&gt; DKIM-Signature: v=1; a=rsa-sha256; d=primary.com; s=selector;
  (DKIM Auth Result: PASS)
_dmarc.blue.secondary.com: "v=DMARC1; p=quarantine; t=y;"
red.secondary.com:  "v=spf1 ip4:182.107.92.190 -all"
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a:latin typeface="Consolas"/>
              </a:rPr>
              <a:t>&gt; HELO red.primary.com
. 250 smtp.learndmarc.com Hello red.primary.com &lt;97.196.174.88&gt;
&gt; MAIL FROM: &lt;terry@red.primary.com&gt;
&gt; From: "Terry" &lt;terry@blue.primary.com&gt;
&gt; DKIM-Signature: v=1; a=rsa-sha256; d=secondary.com; s=selector;
  (DKIM Auth Result: FAIL)
_dmarc.blue.primary.com: "v=DMARC1; p=quarantine; adkim=s; aspf=s;"
red.primary.com:  "v=spf1 ip4:95.129.128.101 ~all"
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a:latin typeface="Consolas"/>
              </a:rPr>
              <a:t>&gt; HELO blue.secondary.com
. 250 smtp.learndmarc.com Hello blue.secondary.com &lt;156.157.23.197&gt;
&gt; MAIL FROM: &lt;ray@blue.secondary.com&gt;
&gt; From: "Ray" &lt;ray@red.primary.com&gt;
&gt; DKIM-Signature: v=1; a=rsa-sha256; d=blue.primary.com; s=selector;
  (DKIM Auth Result: PASS)
_dmarc.red.primary.com: "v=DMARC1; p=none; adkim=s; aspf=s;"
blue.secondary.com: "v=spf1 ip4:62.165.120.61 ~all"
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 (briefly, for historical context)</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a:solidFill>
                  <a:srgbClr val="5A6472"/>
                </a:solidFill>
                <a:latin typeface="Consolas"/>
              </a:rPr>
              <a:t>[</a:t>
            </a:r>
            <a:r>
              <a:rPr>
                <a:solidFill>
                  <a:srgbClr val="1A1D23"/>
                </a:solidFill>
                <a:latin typeface="Consolas"/>
              </a:rPr>
              <a:t>CmdletBinding</a:t>
            </a:r>
            <a:r>
              <a:rPr>
                <a:solidFill>
                  <a:srgbClr val="5A6472"/>
                </a:solidFill>
                <a:latin typeface="Consolas"/>
              </a:rPr>
              <a:t>(</a:t>
            </a:r>
            <a:r>
              <a:rPr>
                <a:solidFill>
                  <a:srgbClr val="1A1D23"/>
                </a:solidFill>
                <a:latin typeface="Consolas"/>
              </a:rPr>
              <a:t>SupportsShouldProcess</a:t>
            </a:r>
            <a:r>
              <a:rPr>
                <a:solidFill>
                  <a:srgbClr val="5A6472"/>
                </a:solidFill>
                <a:latin typeface="Consolas"/>
              </a:rPr>
              <a:t>)]</a:t>
            </a:r>
            <a:br/>
            <a:r>
              <a:rPr b="1">
                <a:solidFill>
                  <a:srgbClr val="0C2454"/>
                </a:solidFill>
                <a:latin typeface="Consolas"/>
              </a:rPr>
              <a:t>param</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br/>
            <a:r>
              <a:rPr>
                <a:solidFill>
                  <a:srgbClr val="5A6472"/>
                </a:solidFill>
                <a:latin typeface="Consolas"/>
              </a:rPr>
              <a:t>)</a:t>
            </a:r>
            <a:br/>
            <a:r>
              <a:rPr b="1">
                <a:solidFill>
                  <a:srgbClr val="0C2454"/>
                </a:solidFill>
                <a:latin typeface="Consolas"/>
              </a:rPr>
              <a:t>if</a:t>
            </a:r>
            <a:r>
              <a:rPr>
                <a:solidFill>
                  <a:srgbClr val="1A1D23"/>
                </a:solidFill>
                <a:latin typeface="Consolas"/>
              </a:rPr>
              <a:t> </a:t>
            </a:r>
            <a:r>
              <a:rPr>
                <a:solidFill>
                  <a:srgbClr val="5A6472"/>
                </a:solidFill>
                <a:latin typeface="Consolas"/>
              </a:rPr>
              <a:t>(</a:t>
            </a:r>
            <a:r>
              <a:rPr>
                <a:solidFill>
                  <a:srgbClr val="0C2454"/>
                </a:solidFill>
                <a:latin typeface="Consolas"/>
              </a:rPr>
              <a:t>$PSCmdlet</a:t>
            </a:r>
            <a:r>
              <a:rPr>
                <a:solidFill>
                  <a:srgbClr val="5A6472"/>
                </a:solidFill>
                <a:latin typeface="Consolas"/>
              </a:rPr>
              <a:t>.</a:t>
            </a:r>
            <a:r>
              <a:rPr>
                <a:solidFill>
                  <a:srgbClr val="034BAB"/>
                </a:solidFill>
                <a:latin typeface="Consolas"/>
              </a:rPr>
              <a:t>ShouldProcess</a:t>
            </a:r>
            <a:r>
              <a:rPr>
                <a:solidFill>
                  <a:srgbClr val="5A6472"/>
                </a:solidFill>
                <a:latin typeface="Consolas"/>
              </a:rPr>
              <a:t>(</a:t>
            </a:r>
            <a:r>
              <a:rPr>
                <a:solidFill>
                  <a:srgbClr val="0C2454"/>
                </a:solidFill>
                <a:latin typeface="Consolas"/>
              </a:rPr>
              <a:t>$Path</a:t>
            </a:r>
            <a:r>
              <a:rPr>
                <a:solidFill>
                  <a:srgbClr val="5A6472"/>
                </a:solidFill>
                <a:latin typeface="Consolas"/>
              </a:rPr>
              <a:t>,</a:t>
            </a:r>
            <a:r>
              <a:rPr>
                <a:solidFill>
                  <a:srgbClr val="1A1D23"/>
                </a:solidFill>
                <a:latin typeface="Consolas"/>
              </a:rPr>
              <a:t> </a:t>
            </a:r>
            <a:r>
              <a:rPr>
                <a:solidFill>
                  <a:srgbClr val="B3352F"/>
                </a:solidFill>
                <a:latin typeface="Consolas"/>
              </a:rPr>
              <a:t>'Create case folder'</a:t>
            </a: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0C2454"/>
                </a:solidFill>
                <a:latin typeface="Consolas"/>
              </a:rPr>
              <a:t>$Path</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 </a:t>
            </a:r>
            <a:r>
              <a:rPr>
                <a:solidFill>
                  <a:srgbClr val="034BAB"/>
                </a:solidFill>
                <a:latin typeface="Consolas"/>
              </a:rPr>
              <a:t>Out-Null</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Memory acquisition is handled separately (Magnet in our workflow)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Windows and settings</a:t>
            </a:r>
          </a:p>
          <a:p>
            <a:pPr lvl="0"/>
            <a:r>
              <a:rPr/>
              <a:t>Installed tools</a:t>
            </a:r>
          </a:p>
          <a:p>
            <a:pPr lvl="0"/>
            <a:r>
              <a:rPr/>
              <a:t>Temporary files and caches</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Evidence (read-only)</a:t>
            </a:r>
          </a:p>
          <a:p>
            <a:pPr lvl="0"/>
            <a:r>
              <a:rPr/>
              <a:t>Analysis output</a:t>
            </a:r>
          </a:p>
          <a:p>
            <a:pPr lvl="0"/>
            <a:r>
              <a:rPr/>
              <a:t>Tool logs and notes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0"/>
            <a:r>
              <a:rPr/>
              <a:t>Make setup repeatable rather than configuring it by hand each time</a:t>
            </a:r>
          </a:p>
          <a:p>
            <a:pPr lvl="0"/>
            <a:r>
              <a:rPr/>
              <a:t>Script it with </a:t>
            </a:r>
            <a:r>
              <a:rPr>
                <a:latin typeface="Consolas"/>
              </a:rPr>
              <a:t>-WhatIf</a:t>
            </a:r>
            <a:r>
              <a:rPr/>
              <a:t> and </a:t>
            </a:r>
            <a:r>
              <a:rPr>
                <a:latin typeface="Consolas"/>
              </a:rPr>
              <a:t>-Verbose</a:t>
            </a:r>
            <a:r>
              <a:rPr/>
              <a:t>, keep the tool list in a data file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UAC: normally I don’t disable security features, but this is a disposable VM and reducing friction matters</a:t>
            </a:r>
          </a:p>
          <a:p>
            <a:pPr lvl="0"/>
            <a:r>
              <a:rPr/>
              <a:t>Other Windows security settings as decisions specific to this machine, not general recommendations</a:t>
            </a:r>
          </a:p>
          <a:p>
            <a:pPr lvl="1"/>
            <a:r>
              <a:rPr/>
              <a:t>Defender scanning evidence and tools</a:t>
            </a:r>
          </a:p>
          <a:p>
            <a:pPr lvl="1"/>
            <a:r>
              <a:rPr/>
              <a:t>Network access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0"/>
            <a:r>
              <a:rPr/>
              <a:t>KAPE modules for processing already-collected artifacts</a:t>
            </a:r>
          </a:p>
          <a:p>
            <a:pPr lvl="1"/>
            <a:r>
              <a:rPr/>
              <a:t>Targets collect; modules process what was collected</a:t>
            </a:r>
          </a:p>
          <a:p>
            <a:pPr lvl="0"/>
            <a:r>
              <a:rPr/>
              <a:t>Record the version of every tool used in the case notes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Wrap-Up</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Key takeaways</a:t>
            </a:r>
          </a:p>
        </p:txBody>
      </p:sp>
      <p:sp>
        <p:nvSpPr>
          <p:cNvPr id="3" name="Content Placeholder 3"/>
          <p:cNvSpPr>
            <a:spLocks noGrp="1"/>
          </p:cNvSpPr>
          <p:nvPr>
            <p:ph idx="1"/>
          </p:nvPr>
        </p:nvSpPr>
        <p:spPr/>
        <p:txBody>
          <a:bodyPr/>
          <a:lstStyle/>
          <a:p>
            <a:pPr lvl="0"/>
            <a:r>
              <a:rPr b="1"/>
              <a:t>Passwords:</a:t>
            </a:r>
            <a:r>
              <a:rPr/>
              <a:t> unique, long, checked against breaches, with MFA</a:t>
            </a:r>
          </a:p>
          <a:p>
            <a:pPr lvl="0"/>
            <a:r>
              <a:rPr b="1"/>
              <a:t>PKI:</a:t>
            </a:r>
            <a:r>
              <a:rPr/>
              <a:t> a certificate binds a key to a name; validation checks name, dates, chain, trust and usage</a:t>
            </a:r>
          </a:p>
          <a:p>
            <a:pPr lvl="0"/>
            <a:r>
              <a:rPr b="1"/>
              <a:t>Email:</a:t>
            </a:r>
            <a:r>
              <a:rPr/>
              <a:t> DMARC starts with the </a:t>
            </a:r>
            <a:r>
              <a:rPr>
                <a:latin typeface="Consolas"/>
              </a:rPr>
              <a:t>From</a:t>
            </a:r>
            <a:r>
              <a:rPr/>
              <a:t> domain and needs an aligned pass</a:t>
            </a:r>
          </a:p>
          <a:p>
            <a:pPr lvl="0"/>
            <a:r>
              <a:rPr b="1"/>
              <a:t>PowerShell:</a:t>
            </a:r>
            <a:r>
              <a:rPr/>
              <a:t> objects in a pipeline turn a task into something repeatable</a:t>
            </a:r>
          </a:p>
          <a:p>
            <a:pPr lvl="0"/>
            <a:r>
              <a:rPr b="1"/>
              <a:t>DFIR box:</a:t>
            </a:r>
            <a:r>
              <a:rPr/>
              <a:t> a disposable analysis VM with case data kept elsewhere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References</a:t>
            </a:r>
          </a:p>
        </p:txBody>
      </p:sp>
      <p:sp>
        <p:nvSpPr>
          <p:cNvPr id="3" name="Content Placeholder 3"/>
          <p:cNvSpPr>
            <a:spLocks noGrp="1"/>
          </p:cNvSpPr>
          <p:nvPr>
            <p:ph idx="1"/>
          </p:nvPr>
        </p:nvSpPr>
        <p:spPr/>
        <p:txBody>
          <a:bodyPr/>
          <a:lstStyle/>
          <a:p>
            <a:pPr lvl="0"/>
            <a:r>
              <a:rPr/>
              <a:t>NIST SP 800-63B-4: pages.nist.gov/800-63-4/sp800-63b.html</a:t>
            </a:r>
          </a:p>
          <a:p>
            <a:pPr lvl="0"/>
            <a:r>
              <a:rPr/>
              <a:t>RFC 5280, RFC 9525, RFC 2986, RFC 8555 (PKI)</a:t>
            </a:r>
          </a:p>
          <a:p>
            <a:pPr lvl="0"/>
            <a:r>
              <a:rPr/>
              <a:t>RFC 5321, RFC 5322, RFC 7208, RFC 6376, RFC 9989, RFC 9990, RFC 9991 (email)</a:t>
            </a:r>
          </a:p>
          <a:p>
            <a:pPr lvl="0"/>
            <a:r>
              <a:rPr/>
              <a:t>Microsoft Learn: about_Pipelines, Get-WinEvent, Export-Csv</a:t>
            </a:r>
          </a:p>
          <a:p>
            <a:pPr lvl="0"/>
            <a:r>
              <a:rPr/>
              <a:t>Full list with links on the companion site</a:t>
            </a:r>
          </a:p>
          <a:p>
            <a:pPr lvl="0" indent="0" marL="0">
              <a:buNone/>
            </a:pPr>
            <a:r>
              <a:rPr b="1"/>
              <a:t>dzampino.github.io/crt-essentials-2026</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2026-10-16T20:37:24Z</dcterms:created>
  <dcterms:modified xsi:type="dcterms:W3CDTF">2026-10-16T20:37:24Z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
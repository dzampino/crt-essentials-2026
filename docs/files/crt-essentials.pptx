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notesMaster" Target="notesMasters/notesMaster1.xml" /><Relationship Id="rId67" Type="http://schemas.openxmlformats.org/officeDocument/2006/relationships/viewProps" Target="viewProps.xml" /><Relationship Id="rId66" Type="http://schemas.openxmlformats.org/officeDocument/2006/relationships/presProps" Target="presProps.xml" /><Relationship Id="rId1" Type="http://schemas.openxmlformats.org/officeDocument/2006/relationships/slideMaster" Target="slideMasters/slideMaster1.xml" /><Relationship Id="rId69" Type="http://schemas.openxmlformats.org/officeDocument/2006/relationships/tableStyles" Target="tableStyles.xml" /><Relationship Id="rId6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covers passwords alongside the other authenticator types: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Training certificates for the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56:6D:45:25:…:AE:67.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section 4.7 defines every tag; fo= (failure report options) and psd= (public suffix domain flag) are the others. Unknown tags must be ignored. https://www.rfc-editor.org/rfc/rfc9989.html#section-4.7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Get-Member shows the properties and methods of whatever a command returns.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Approved verbs: https://learn.microsoft.com/en-us/powershell/scripting/developer/cmdlet/approved-verbs-for-windows-powershell-commands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about_Objects: https://learn.microsoft.com/en-us/powershell/module/microsoft.powershell.core/about/about_objects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Differences between Windows PowerShell 5.1 and PowerShell 7.x: https://learn.microsoft.com/en-us/powershell/scripting/whats-new/differences-from-windows-powershell The ones that bite: default file encoding, Export-Csv’s type line in 5.1, and modules folders in different places. The companion site has a table.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New-CaseFolder -Path E:\2026-0142 -Verbose [CmdletBinding()] is what makes -Verbose work. The version on the companion site also supports -WhatIf. about_Functions_CmdletBindingAttribute: https://learn.microsoft.com/en-us/powershell/module/microsoft.powershell.core/about/about_functions_cmdletbindingattribute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Every function on the companion site is in its own copyable block, ready to paste into MyTools.psm1. The companion site walks through creating the folder and file.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Memory acquisition is handled separately (Magnet in our workflow).</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For Server 2025, enter the product key (generic or real) and select the image by name or index. Setup finds Autounattend.xml at the root of removable media: a second small ISO, or the Windows ISO rebuilt with oscdimg. Steps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in WSL (Ubuntu, GIFT PPA). KAPE and the community KapeFiles repository: https://github.com/EricZimmerman/KapeFiles KAPE is free for CRT members; commercial use needs a Kroll enterprise license: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common Windows tools from DFIR distributions such as FLARE-VM and the SIFT Workstation. Install commands are on the companion site. WSL 2 needs nested virtualization, which VMware Workstation cannot provide while the host runs Hyper-V or virtualization-based security (Broadcom KB 389469). WSL 1 does not use virtualization: wsl.exe –install –enable-wsl1 –no-distribution, then wsl.exe –set-default-version 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3.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dzampino.github.io/crt-essentials-2026</a:t>
            </a:r>
          </a:p>
        </p:txBody>
      </p:sp>
      <p:pic>
        <p:nvPicPr>
          <p:cNvPr descr="QR code linking to dzampino.github.io/crt-essentials-2026" id="0" name="Picture 1"/>
          <p:cNvPicPr>
            <a:picLocks noGrp="1" noChangeAspect="1"/>
          </p:cNvPicPr>
          <p:nvPr/>
        </p:nvPicPr>
        <p:blipFill>
          <a:blip r:embed="rId3"/>
          <a:stretch>
            <a:fillRect/>
          </a:stretch>
        </p:blipFill>
        <p:spPr bwMode="auto">
          <a:xfrm>
            <a:off x="3784600" y="1435100"/>
            <a:ext cx="4597400" cy="4597400"/>
          </a:xfrm>
          <a:prstGeom prst="rect">
            <a:avLst/>
          </a:prstGeom>
          <a:noFill/>
          <a:ln w="9525">
            <a:noFill/>
            <a:headEnd/>
            <a:tailEnd/>
          </a:ln>
        </p:spPr>
      </p:pic>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xkcd 936 comic: Tr0ub4dor&amp;3 is hard to remember and has about 28 bits of entropy; correct horse battery staple, four random common words, is easy to remember and has about 44 bits"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 (EKU)</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55:25:8b:df:e8:83:4d:47:...:68:17
Issuer:  O=Cheese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Certificate chain: the self-signed root CA signs the intermediate CA, which signs the leaf. The client supplies the trust anchor from its certificate store; the server presents the leaf and intermediates and proves possession of the leaf private key"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Email flow: the author client (MUA) submits to the MSA, which relays to the sending MTA. The sending MTA finds the receiving MTA through DNS MX records and sends by SMTP; the receiving MTA looks up SPF, DKIM and DMARC policy and delivers to the MDA, which the recipient client reads. Each hop adds a Received header"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My preferred tool: Microsoft’s Message Header Analyzer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 record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2413000"/>
                <a:gridCol w="4343400"/>
                <a:gridCol w="4343400"/>
              </a:tblGrid>
              <a:tr h="0">
                <a:tc>
                  <a:txBody>
                    <a:bodyPr/>
                    <a:lstStyle/>
                    <a:p>
                      <a:pPr lvl="0" indent="0" marL="0">
                        <a:buNone/>
                      </a:pPr>
                      <a:r>
                        <a:rPr/>
                        <a:t>Tag</a:t>
                      </a:r>
                    </a:p>
                  </a:txBody>
                  <a:tcPr/>
                </a:tc>
                <a:tc>
                  <a:txBody>
                    <a:bodyPr/>
                    <a:lstStyle/>
                    <a:p>
                      <a:pPr lvl="0" indent="0" marL="0">
                        <a:buNone/>
                      </a:pPr>
                      <a:r>
                        <a:rPr/>
                        <a:t>Meaning</a:t>
                      </a:r>
                    </a:p>
                  </a:txBody>
                  <a:tcPr/>
                </a:tc>
                <a:tc>
                  <a:txBody>
                    <a:bodyPr/>
                    <a:lstStyle/>
                    <a:p>
                      <a:pPr lvl="0" indent="0" marL="0">
                        <a:buNone/>
                      </a:pPr>
                      <a:r>
                        <a:rPr/>
                        <a:t>Default</a:t>
                      </a:r>
                    </a:p>
                  </a:txBody>
                  <a:tcPr/>
                </a:tc>
              </a:tr>
              <a:tr h="0">
                <a:tc>
                  <a:txBody>
                    <a:bodyPr/>
                    <a:lstStyle/>
                    <a:p>
                      <a:pPr lvl="0" indent="0" marL="0">
                        <a:buNone/>
                      </a:pPr>
                      <a:r>
                        <a:rPr>
                          <a:latin typeface="Consolas"/>
                        </a:rPr>
                        <a:t>v=DMARC1</a:t>
                      </a:r>
                    </a:p>
                  </a:txBody>
                </a:tc>
                <a:tc>
                  <a:txBody>
                    <a:bodyPr/>
                    <a:lstStyle/>
                    <a:p>
                      <a:pPr lvl="0" indent="0" marL="0">
                        <a:buNone/>
                      </a:pPr>
                      <a:r>
                        <a:rPr/>
                        <a:t>Version; must be the first tag</a:t>
                      </a:r>
                    </a:p>
                  </a:txBody>
                </a:tc>
                <a:tc>
                  <a:txBody>
                    <a:bodyPr/>
                    <a:lstStyle/>
                    <a:p>
                      <a:pPr lvl="0" indent="0" marL="0">
                        <a:buNone/>
                      </a:pPr>
                      <a:r>
                        <a:rPr/>
                        <a:t>Required</a:t>
                      </a:r>
                    </a:p>
                  </a:txBody>
                </a:tc>
              </a:tr>
              <a:tr h="0">
                <a:tc>
                  <a:txBody>
                    <a:bodyPr/>
                    <a:lstStyle/>
                    <a:p>
                      <a:pPr lvl="0" indent="0" marL="0">
                        <a:buNone/>
                      </a:pPr>
                      <a:r>
                        <a:rPr>
                          <a:latin typeface="Consolas"/>
                        </a:rPr>
                        <a:t>p=</a:t>
                      </a:r>
                    </a:p>
                  </a:txBody>
                </a:tc>
                <a:tc>
                  <a:txBody>
                    <a:bodyPr/>
                    <a:lstStyle/>
                    <a:p>
                      <a:pPr lvl="0" indent="0" marL="0">
                        <a:buNone/>
                      </a:pPr>
                      <a:r>
                        <a:rPr/>
                        <a:t>Policy for the domain: </a:t>
                      </a:r>
                      <a:r>
                        <a:rPr>
                          <a:latin typeface="Consolas"/>
                        </a:rPr>
                        <a:t>none</a:t>
                      </a:r>
                      <a:r>
                        <a:rPr/>
                        <a:t>, </a:t>
                      </a:r>
                      <a:r>
                        <a:rPr>
                          <a:latin typeface="Consolas"/>
                        </a:rPr>
                        <a:t>quarantine</a:t>
                      </a:r>
                      <a:r>
                        <a:rPr/>
                        <a:t>, </a:t>
                      </a:r>
                      <a:r>
                        <a:rPr>
                          <a:latin typeface="Consolas"/>
                        </a:rPr>
                        <a:t>reject</a:t>
                      </a:r>
                    </a:p>
                  </a:txBody>
                </a:tc>
                <a:tc>
                  <a:txBody>
                    <a:bodyPr/>
                    <a:lstStyle/>
                    <a:p>
                      <a:pPr lvl="0" indent="0" marL="0">
                        <a:buNone/>
                      </a:pPr>
                      <a:r>
                        <a:rPr>
                          <a:latin typeface="Consolas"/>
                        </a:rPr>
                        <a:t>none</a:t>
                      </a:r>
                    </a:p>
                  </a:txBody>
                </a:tc>
              </a:tr>
              <a:tr h="0">
                <a:tc>
                  <a:txBody>
                    <a:bodyPr/>
                    <a:lstStyle/>
                    <a:p>
                      <a:pPr lvl="0" indent="0" marL="0">
                        <a:buNone/>
                      </a:pPr>
                      <a:r>
                        <a:rPr>
                          <a:latin typeface="Consolas"/>
                        </a:rPr>
                        <a:t>sp=</a:t>
                      </a:r>
                    </a:p>
                  </a:txBody>
                </a:tc>
                <a:tc>
                  <a:txBody>
                    <a:bodyPr/>
                    <a:lstStyle/>
                    <a:p>
                      <a:pPr lvl="0" indent="0" marL="0">
                        <a:buNone/>
                      </a:pPr>
                      <a:r>
                        <a:rPr/>
                        <a:t>Policy for existing subdomains</a:t>
                      </a:r>
                    </a:p>
                  </a:txBody>
                </a:tc>
                <a:tc>
                  <a:txBody>
                    <a:bodyPr/>
                    <a:lstStyle/>
                    <a:p>
                      <a:pPr lvl="0" indent="0" marL="0">
                        <a:buNone/>
                      </a:pPr>
                      <a:r>
                        <a:rPr>
                          <a:latin typeface="Consolas"/>
                        </a:rPr>
                        <a:t>p</a:t>
                      </a:r>
                    </a:p>
                  </a:txBody>
                </a:tc>
              </a:tr>
              <a:tr h="0">
                <a:tc>
                  <a:txBody>
                    <a:bodyPr/>
                    <a:lstStyle/>
                    <a:p>
                      <a:pPr lvl="0" indent="0" marL="0">
                        <a:buNone/>
                      </a:pPr>
                      <a:r>
                        <a:rPr>
                          <a:latin typeface="Consolas"/>
                        </a:rPr>
                        <a:t>np=</a:t>
                      </a:r>
                    </a:p>
                  </a:txBody>
                </a:tc>
                <a:tc>
                  <a:txBody>
                    <a:bodyPr/>
                    <a:lstStyle/>
                    <a:p>
                      <a:pPr lvl="0" indent="0" marL="0">
                        <a:buNone/>
                      </a:pPr>
                      <a:r>
                        <a:rPr/>
                        <a:t>Policy for non-existent subdomains</a:t>
                      </a:r>
                    </a:p>
                  </a:txBody>
                </a:tc>
                <a:tc>
                  <a:txBody>
                    <a:bodyPr/>
                    <a:lstStyle/>
                    <a:p>
                      <a:pPr lvl="0" indent="0" marL="0">
                        <a:buNone/>
                      </a:pPr>
                      <a:r>
                        <a:rPr>
                          <a:latin typeface="Consolas"/>
                        </a:rPr>
                        <a:t>sp</a:t>
                      </a:r>
                      <a:r>
                        <a:rPr/>
                        <a:t>, then </a:t>
                      </a:r>
                      <a:r>
                        <a:rPr>
                          <a:latin typeface="Consolas"/>
                        </a:rPr>
                        <a:t>p</a:t>
                      </a:r>
                    </a:p>
                  </a:txBody>
                </a:tc>
              </a:tr>
              <a:tr h="0">
                <a:tc>
                  <a:txBody>
                    <a:bodyPr/>
                    <a:lstStyle/>
                    <a:p>
                      <a:pPr lvl="0" indent="0" marL="0">
                        <a:buNone/>
                      </a:pPr>
                      <a:r>
                        <a:rPr>
                          <a:latin typeface="Consolas"/>
                        </a:rPr>
                        <a:t>adkim=</a:t>
                      </a:r>
                    </a:p>
                  </a:txBody>
                </a:tc>
                <a:tc>
                  <a:txBody>
                    <a:bodyPr/>
                    <a:lstStyle/>
                    <a:p>
                      <a:pPr lvl="0" indent="0" marL="0">
                        <a:buNone/>
                      </a:pPr>
                      <a:r>
                        <a:rPr/>
                        <a:t>DKIM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aspf=</a:t>
                      </a:r>
                    </a:p>
                  </a:txBody>
                </a:tc>
                <a:tc>
                  <a:txBody>
                    <a:bodyPr/>
                    <a:lstStyle/>
                    <a:p>
                      <a:pPr lvl="0" indent="0" marL="0">
                        <a:buNone/>
                      </a:pPr>
                      <a:r>
                        <a:rPr/>
                        <a:t>SPF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t=y</a:t>
                      </a:r>
                    </a:p>
                  </a:txBody>
                </a:tc>
                <a:tc>
                  <a:txBody>
                    <a:bodyPr/>
                    <a:lstStyle/>
                    <a:p>
                      <a:pPr lvl="0" indent="0" marL="0">
                        <a:buNone/>
                      </a:pPr>
                      <a:r>
                        <a:rPr/>
                        <a:t>Test mode: apply one level below </a:t>
                      </a:r>
                      <a:r>
                        <a:rPr>
                          <a:latin typeface="Consolas"/>
                        </a:rPr>
                        <a:t>p</a:t>
                      </a:r>
                      <a:r>
                        <a:rPr/>
                        <a:t> (</a:t>
                      </a:r>
                      <a:r>
                        <a:rPr>
                          <a:latin typeface="Consolas"/>
                        </a:rPr>
                        <a:t>quarantine</a:t>
                      </a:r>
                      <a:r>
                        <a:rPr/>
                        <a:t> becomes </a:t>
                      </a:r>
                      <a:r>
                        <a:rPr>
                          <a:latin typeface="Consolas"/>
                        </a:rPr>
                        <a:t>none</a:t>
                      </a:r>
                      <a:r>
                        <a:rPr/>
                        <a:t>, </a:t>
                      </a:r>
                      <a:r>
                        <a:rPr>
                          <a:latin typeface="Consolas"/>
                        </a:rPr>
                        <a:t>reject</a:t>
                      </a:r>
                      <a:r>
                        <a:rPr/>
                        <a:t> becomes </a:t>
                      </a:r>
                      <a:r>
                        <a:rPr>
                          <a:latin typeface="Consolas"/>
                        </a:rPr>
                        <a:t>quarantine</a:t>
                      </a:r>
                      <a:r>
                        <a:rPr/>
                        <a:t>)</a:t>
                      </a:r>
                    </a:p>
                  </a:txBody>
                </a:tc>
                <a:tc>
                  <a:txBody>
                    <a:bodyPr/>
                    <a:lstStyle/>
                    <a:p>
                      <a:pPr lvl="0" indent="0" marL="0">
                        <a:buNone/>
                      </a:pPr>
                      <a:r>
                        <a:rPr>
                          <a:latin typeface="Consolas"/>
                        </a:rPr>
                        <a:t>n</a:t>
                      </a:r>
                    </a:p>
                  </a:txBody>
                </a:tc>
              </a:tr>
              <a:tr h="0">
                <a:tc>
                  <a:txBody>
                    <a:bodyPr/>
                    <a:lstStyle/>
                    <a:p>
                      <a:pPr lvl="0" indent="0" marL="0">
                        <a:buNone/>
                      </a:pPr>
                      <a:r>
                        <a:rPr>
                          <a:latin typeface="Consolas"/>
                        </a:rPr>
                        <a:t>rua=</a:t>
                      </a:r>
                      <a:r>
                        <a:rPr/>
                        <a:t> / </a:t>
                      </a:r>
                      <a:r>
                        <a:rPr>
                          <a:latin typeface="Consolas"/>
                        </a:rPr>
                        <a:t>ruf=</a:t>
                      </a:r>
                    </a:p>
                  </a:txBody>
                </a:tc>
                <a:tc>
                  <a:txBody>
                    <a:bodyPr/>
                    <a:lstStyle/>
                    <a:p>
                      <a:pPr lvl="0" indent="0" marL="0">
                        <a:buNone/>
                      </a:pPr>
                      <a:r>
                        <a:rPr/>
                        <a:t>Where to send aggregate / failure reports</a:t>
                      </a:r>
                    </a:p>
                  </a:txBody>
                </a:tc>
                <a:tc>
                  <a:txBody>
                    <a:bodyPr/>
                    <a:lstStyle/>
                    <a:p>
                      <a:pPr lvl="0" indent="0" marL="0">
                        <a:buNone/>
                      </a:pPr>
                      <a:r>
                        <a:rPr/>
                        <a:t>No reports</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Verb-Noun</a:t>
            </a:r>
          </a:p>
        </p:txBody>
      </p:sp>
      <p:sp>
        <p:nvSpPr>
          <p:cNvPr id="3" name="Content Placeholder 3"/>
          <p:cNvSpPr>
            <a:spLocks noGrp="1"/>
          </p:cNvSpPr>
          <p:nvPr>
            <p:ph idx="1"/>
          </p:nvPr>
        </p:nvSpPr>
        <p:spPr/>
        <p:txBody>
          <a:bodyPr/>
          <a:lstStyle/>
          <a:p>
            <a:pPr lvl="0"/>
            <a:r>
              <a:rPr/>
              <a:t>Every command is named </a:t>
            </a:r>
            <a:r>
              <a:rPr i="1"/>
              <a:t>Verb-Noun</a:t>
            </a:r>
            <a:r>
              <a:rPr/>
              <a:t>: </a:t>
            </a:r>
            <a:r>
              <a:rPr>
                <a:latin typeface="Consolas"/>
              </a:rPr>
              <a:t>Get-Process</a:t>
            </a:r>
            <a:r>
              <a:rPr/>
              <a:t>, </a:t>
            </a:r>
            <a:r>
              <a:rPr>
                <a:latin typeface="Consolas"/>
              </a:rPr>
              <a:t>Stop-Service</a:t>
            </a:r>
            <a:r>
              <a:rPr/>
              <a:t>, </a:t>
            </a:r>
            <a:r>
              <a:rPr>
                <a:latin typeface="Consolas"/>
              </a:rPr>
              <a:t>Export-Csv</a:t>
            </a:r>
          </a:p>
          <a:p>
            <a:pPr lvl="0"/>
            <a:r>
              <a:rPr/>
              <a:t>A short list of approved verbs: </a:t>
            </a:r>
            <a:r>
              <a:rPr>
                <a:latin typeface="Consolas"/>
              </a:rPr>
              <a:t>Get</a:t>
            </a:r>
            <a:r>
              <a:rPr/>
              <a:t>, </a:t>
            </a:r>
            <a:r>
              <a:rPr>
                <a:latin typeface="Consolas"/>
              </a:rPr>
              <a:t>Set</a:t>
            </a:r>
            <a:r>
              <a:rPr/>
              <a:t>, </a:t>
            </a:r>
            <a:r>
              <a:rPr>
                <a:latin typeface="Consolas"/>
              </a:rPr>
              <a:t>New</a:t>
            </a:r>
            <a:r>
              <a:rPr/>
              <a:t>, </a:t>
            </a:r>
            <a:r>
              <a:rPr>
                <a:latin typeface="Consolas"/>
              </a:rPr>
              <a:t>Remove</a:t>
            </a:r>
            <a:r>
              <a:rPr/>
              <a:t>, </a:t>
            </a:r>
            <a:r>
              <a:rPr>
                <a:latin typeface="Consolas"/>
              </a:rPr>
              <a:t>Start</a:t>
            </a:r>
            <a:r>
              <a:rPr/>
              <a:t>, </a:t>
            </a:r>
            <a:r>
              <a:rPr>
                <a:latin typeface="Consolas"/>
              </a:rPr>
              <a:t>Stop</a:t>
            </a:r>
            <a:r>
              <a:rPr/>
              <a:t>, </a:t>
            </a:r>
            <a:r>
              <a:rPr>
                <a:latin typeface="Consolas"/>
              </a:rPr>
              <a:t>Export</a:t>
            </a:r>
            <a:r>
              <a:rPr/>
              <a:t>…</a:t>
            </a:r>
          </a:p>
          <a:p>
            <a:pPr lvl="0"/>
            <a:r>
              <a:rPr/>
              <a:t>Learn the noun, then guess the verb</a:t>
            </a:r>
          </a:p>
          <a:p>
            <a:pPr lvl="0"/>
            <a:r>
              <a:rPr/>
              <a:t>Parameters follow: </a:t>
            </a:r>
            <a:r>
              <a:rPr>
                <a:latin typeface="Consolas"/>
              </a:rPr>
              <a:t>-Name value</a:t>
            </a:r>
            <a:r>
              <a:rPr/>
              <a:t>; Tab completes both</a:t>
            </a:r>
          </a:p>
          <a:p>
            <a:pPr lvl="0" indent="0">
              <a:buNone/>
            </a:pPr>
            <a:r>
              <a:rPr>
                <a:solidFill>
                  <a:srgbClr val="1A1D23"/>
                </a:solidFill>
                <a:latin typeface="Consolas"/>
              </a:rPr>
              <a:t>Get-Verb                       </a:t>
            </a:r>
            <a:r>
              <a:rPr i="1">
                <a:solidFill>
                  <a:srgbClr val="6B7480"/>
                </a:solidFill>
                <a:latin typeface="Consolas"/>
              </a:rPr>
              <a:t># the approved verbs</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Service      </a:t>
            </a:r>
            <a:r>
              <a:rPr i="1">
                <a:solidFill>
                  <a:srgbClr val="6B7480"/>
                </a:solidFill>
                <a:latin typeface="Consolas"/>
              </a:rPr>
              <a:t># every verb that works on services</a:t>
            </a:r>
            <a:br/>
            <a:r>
              <a:rPr>
                <a:solidFill>
                  <a:srgbClr val="034BAB"/>
                </a:solidFill>
                <a:latin typeface="Consolas"/>
              </a:rPr>
              <a:t>Get-Service</a:t>
            </a:r>
            <a:r>
              <a:rPr>
                <a:solidFill>
                  <a:srgbClr val="1A1D23"/>
                </a:solidFill>
                <a:latin typeface="Consolas"/>
              </a:rPr>
              <a:t> </a:t>
            </a:r>
            <a:r>
              <a:rPr>
                <a:solidFill>
                  <a:srgbClr val="5A6472"/>
                </a:solidFill>
                <a:latin typeface="Consolas"/>
              </a:rPr>
              <a:t>-</a:t>
            </a:r>
            <a:r>
              <a:rPr>
                <a:solidFill>
                  <a:srgbClr val="1A1D23"/>
                </a:solidFill>
                <a:latin typeface="Consolas"/>
              </a:rPr>
              <a:t>Name Spooler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a:t>
            </a:r>
          </a:p>
        </p:txBody>
      </p:sp>
      <p:sp>
        <p:nvSpPr>
          <p:cNvPr id="3" name="Content Placeholder 3"/>
          <p:cNvSpPr>
            <a:spLocks noGrp="1"/>
          </p:cNvSpPr>
          <p:nvPr>
            <p:ph idx="1"/>
          </p:nvPr>
        </p:nvSpPr>
        <p:spPr/>
        <p:txBody>
          <a:bodyPr/>
          <a:lstStyle/>
          <a:p>
            <a:pPr lvl="0"/>
            <a:r>
              <a:rPr/>
              <a:t>An object is a thing with </a:t>
            </a:r>
            <a:r>
              <a:rPr b="1"/>
              <a:t>properties</a:t>
            </a:r>
            <a:r>
              <a:rPr/>
              <a:t> (data) and </a:t>
            </a:r>
            <a:r>
              <a:rPr b="1"/>
              <a:t>methods</a:t>
            </a:r>
            <a:r>
              <a:rPr/>
              <a:t> (actions)</a:t>
            </a:r>
          </a:p>
          <a:p>
            <a:pPr lvl="1"/>
            <a:r>
              <a:rPr/>
              <a:t>A file: </a:t>
            </a:r>
            <a:r>
              <a:rPr>
                <a:latin typeface="Consolas"/>
              </a:rPr>
              <a:t>Name</a:t>
            </a:r>
            <a:r>
              <a:rPr/>
              <a:t>, </a:t>
            </a:r>
            <a:r>
              <a:rPr>
                <a:latin typeface="Consolas"/>
              </a:rPr>
              <a:t>Length</a:t>
            </a:r>
            <a:r>
              <a:rPr/>
              <a:t>, </a:t>
            </a:r>
            <a:r>
              <a:rPr>
                <a:latin typeface="Consolas"/>
              </a:rPr>
              <a:t>LastWriteTime</a:t>
            </a:r>
            <a:r>
              <a:rPr/>
              <a:t>; </a:t>
            </a:r>
            <a:r>
              <a:rPr>
                <a:latin typeface="Consolas"/>
              </a:rPr>
              <a:t>CopyTo()</a:t>
            </a:r>
            <a:r>
              <a:rPr/>
              <a:t>, </a:t>
            </a:r>
            <a:r>
              <a:rPr>
                <a:latin typeface="Consolas"/>
              </a:rPr>
              <a:t>Delete()</a:t>
            </a:r>
          </a:p>
          <a:p>
            <a:pPr lvl="0"/>
            <a:r>
              <a:rPr/>
              <a:t>Commands return objects, not text; the table on screen is only a view</a:t>
            </a:r>
          </a:p>
          <a:p>
            <a:pPr lvl="0"/>
            <a:r>
              <a:rPr/>
              <a:t>Ask for a property by name instead of cutting columns out of text</a:t>
            </a:r>
          </a:p>
          <a:p>
            <a:pPr lvl="0" indent="0">
              <a:buNone/>
            </a:pP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br/>
            <a:r>
              <a:rPr>
                <a:solidFill>
                  <a:srgbClr val="0C2454"/>
                </a:solidFill>
                <a:latin typeface="Consolas"/>
              </a:rPr>
              <a:t>$File</a:t>
            </a:r>
            <a:r>
              <a:rPr>
                <a:solidFill>
                  <a:srgbClr val="5A6472"/>
                </a:solidFill>
                <a:latin typeface="Consolas"/>
              </a:rPr>
              <a:t>.</a:t>
            </a:r>
            <a:r>
              <a:rPr>
                <a:solidFill>
                  <a:srgbClr val="034BAB"/>
                </a:solidFill>
                <a:latin typeface="Consolas"/>
              </a:rPr>
              <a:t>Length</a:t>
            </a:r>
            <a:r>
              <a:rPr>
                <a:solidFill>
                  <a:srgbClr val="1A1D23"/>
                </a:solidFill>
                <a:latin typeface="Consolas"/>
              </a:rPr>
              <a:t>                  </a:t>
            </a:r>
            <a:r>
              <a:rPr i="1">
                <a:solidFill>
                  <a:srgbClr val="6B7480"/>
                </a:solidFill>
                <a:latin typeface="Consolas"/>
              </a:rPr>
              <a:t># a property: size in bytes</a:t>
            </a:r>
            <a:br/>
            <a:r>
              <a:rPr>
                <a:solidFill>
                  <a:srgbClr val="0C2454"/>
                </a:solidFill>
                <a:latin typeface="Consolas"/>
              </a:rPr>
              <a:t>$File</a:t>
            </a:r>
            <a:r>
              <a:rPr>
                <a:solidFill>
                  <a:srgbClr val="5A6472"/>
                </a:solidFill>
                <a:latin typeface="Consolas"/>
              </a:rPr>
              <a:t>.</a:t>
            </a:r>
            <a:r>
              <a:rPr>
                <a:solidFill>
                  <a:srgbClr val="034BAB"/>
                </a:solidFill>
                <a:latin typeface="Consolas"/>
              </a:rPr>
              <a:t>LastWriteTime</a:t>
            </a:r>
            <a:r>
              <a:rPr>
                <a:solidFill>
                  <a:srgbClr val="5A6472"/>
                </a:solidFill>
                <a:latin typeface="Consolas"/>
              </a:rPr>
              <a:t>.</a:t>
            </a:r>
            <a:r>
              <a:rPr>
                <a:solidFill>
                  <a:srgbClr val="034BAB"/>
                </a:solidFill>
                <a:latin typeface="Consolas"/>
              </a:rPr>
              <a:t>Year</a:t>
            </a:r>
            <a:r>
              <a:rPr>
                <a:solidFill>
                  <a:srgbClr val="1A1D23"/>
                </a:solidFill>
                <a:latin typeface="Consolas"/>
              </a:rPr>
              <a:t>      </a:t>
            </a:r>
            <a:r>
              <a:rPr i="1">
                <a:solidFill>
                  <a:srgbClr val="6B7480"/>
                </a:solidFill>
                <a:latin typeface="Consolas"/>
              </a:rPr>
              <a:t># a property can be an object too</a:t>
            </a:r>
            <a:b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i="1">
                <a:solidFill>
                  <a:srgbClr val="6B7480"/>
                </a:solidFill>
                <a:latin typeface="Consolas"/>
              </a:rPr>
              <a:t># every property and method</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Windows PowerShell 5.1 and PowerShell 7</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695700"/>
                <a:gridCol w="3695700"/>
                <a:gridCol w="3695700"/>
              </a:tblGrid>
              <a:tr h="0">
                <a:tc>
                  <a:txBody>
                    <a:bodyPr/>
                    <a:lstStyle/>
                    <a:p>
                      <a:endParaRPr/>
                    </a:p>
                  </a:txBody>
                  <a:tcPr/>
                </a:tc>
                <a:tc>
                  <a:txBody>
                    <a:bodyPr/>
                    <a:lstStyle/>
                    <a:p>
                      <a:pPr lvl="0" indent="0" marL="0">
                        <a:buNone/>
                      </a:pPr>
                      <a:r>
                        <a:rPr/>
                        <a:t>Windows PowerShell 5.1</a:t>
                      </a:r>
                    </a:p>
                  </a:txBody>
                  <a:tcPr/>
                </a:tc>
                <a:tc>
                  <a:txBody>
                    <a:bodyPr/>
                    <a:lstStyle/>
                    <a:p>
                      <a:pPr lvl="0" indent="0" marL="0">
                        <a:buNone/>
                      </a:pPr>
                      <a:r>
                        <a:rPr/>
                        <a:t>PowerShell 7</a:t>
                      </a:r>
                    </a:p>
                  </a:txBody>
                  <a:tcPr/>
                </a:tc>
              </a:tr>
              <a:tr h="0">
                <a:tc>
                  <a:txBody>
                    <a:bodyPr/>
                    <a:lstStyle/>
                    <a:p>
                      <a:pPr lvl="0" indent="0" marL="0">
                        <a:buNone/>
                      </a:pPr>
                      <a:r>
                        <a:rPr/>
                        <a:t>Comes from</a:t>
                      </a:r>
                    </a:p>
                  </a:txBody>
                </a:tc>
                <a:tc>
                  <a:txBody>
                    <a:bodyPr/>
                    <a:lstStyle/>
                    <a:p>
                      <a:pPr lvl="0" indent="0" marL="0">
                        <a:buNone/>
                      </a:pPr>
                      <a:r>
                        <a:rPr/>
                        <a:t>Built into Windows</a:t>
                      </a:r>
                    </a:p>
                  </a:txBody>
                </a:tc>
                <a:tc>
                  <a:txBody>
                    <a:bodyPr/>
                    <a:lstStyle/>
                    <a:p>
                      <a:pPr lvl="0" indent="0" marL="0">
                        <a:buNone/>
                      </a:pPr>
                      <a:r>
                        <a:rPr/>
                        <a:t>Installed alongside it: </a:t>
                      </a:r>
                      <a:r>
                        <a:rPr>
                          <a:latin typeface="Consolas"/>
                        </a:rPr>
                        <a:t>winget install Microsoft.PowerShell</a:t>
                      </a:r>
                    </a:p>
                  </a:txBody>
                </a:tc>
              </a:tr>
              <a:tr h="0">
                <a:tc>
                  <a:txBody>
                    <a:bodyPr/>
                    <a:lstStyle/>
                    <a:p>
                      <a:pPr lvl="0" indent="0" marL="0">
                        <a:buNone/>
                      </a:pPr>
                      <a:r>
                        <a:rPr/>
                        <a:t>Starts with</a:t>
                      </a:r>
                    </a:p>
                  </a:txBody>
                </a:tc>
                <a:tc>
                  <a:txBody>
                    <a:bodyPr/>
                    <a:lstStyle/>
                    <a:p>
                      <a:pPr lvl="0" indent="0" marL="0">
                        <a:buNone/>
                      </a:pPr>
                      <a:r>
                        <a:rPr>
                          <a:latin typeface="Consolas"/>
                        </a:rPr>
                        <a:t>powershell.exe</a:t>
                      </a:r>
                    </a:p>
                  </a:txBody>
                </a:tc>
                <a:tc>
                  <a:txBody>
                    <a:bodyPr/>
                    <a:lstStyle/>
                    <a:p>
                      <a:pPr lvl="0" indent="0" marL="0">
                        <a:buNone/>
                      </a:pPr>
                      <a:r>
                        <a:rPr>
                          <a:latin typeface="Consolas"/>
                        </a:rPr>
                        <a:t>pwsh.exe</a:t>
                      </a:r>
                    </a:p>
                  </a:txBody>
                </a:tc>
              </a:tr>
              <a:tr h="0">
                <a:tc>
                  <a:txBody>
                    <a:bodyPr/>
                    <a:lstStyle/>
                    <a:p>
                      <a:pPr lvl="0" indent="0" marL="0">
                        <a:buNone/>
                      </a:pPr>
                      <a:r>
                        <a:rPr/>
                        <a:t>Built on</a:t>
                      </a:r>
                    </a:p>
                  </a:txBody>
                </a:tc>
                <a:tc>
                  <a:txBody>
                    <a:bodyPr/>
                    <a:lstStyle/>
                    <a:p>
                      <a:pPr lvl="0" indent="0" marL="0">
                        <a:buNone/>
                      </a:pPr>
                      <a:r>
                        <a:rPr/>
                        <a:t>.NET Framework</a:t>
                      </a:r>
                    </a:p>
                  </a:txBody>
                </a:tc>
                <a:tc>
                  <a:txBody>
                    <a:bodyPr/>
                    <a:lstStyle/>
                    <a:p>
                      <a:pPr lvl="0" indent="0" marL="0">
                        <a:buNone/>
                      </a:pPr>
                      <a:r>
                        <a:rPr/>
                        <a:t>Current .NET; also runs on Linux and macOS</a:t>
                      </a:r>
                    </a:p>
                  </a:txBody>
                </a:tc>
              </a:tr>
              <a:tr h="0">
                <a:tc>
                  <a:txBody>
                    <a:bodyPr/>
                    <a:lstStyle/>
                    <a:p>
                      <a:pPr lvl="0" indent="0" marL="0">
                        <a:buNone/>
                      </a:pPr>
                      <a:r>
                        <a:rPr/>
                        <a:t>Status</a:t>
                      </a:r>
                    </a:p>
                  </a:txBody>
                </a:tc>
                <a:tc>
                  <a:txBody>
                    <a:bodyPr/>
                    <a:lstStyle/>
                    <a:p>
                      <a:pPr lvl="0" indent="0" marL="0">
                        <a:buNone/>
                      </a:pPr>
                      <a:r>
                        <a:rPr/>
                        <a:t>Maintained, not developed further</a:t>
                      </a:r>
                    </a:p>
                  </a:txBody>
                </a:tc>
                <a:tc>
                  <a:txBody>
                    <a:bodyPr/>
                    <a:lstStyle/>
                    <a:p>
                      <a:pPr lvl="0" indent="0" marL="0">
                        <a:buNone/>
                      </a:pPr>
                      <a:r>
                        <a:rPr/>
                        <a:t>Where new features go</a:t>
                      </a:r>
                    </a:p>
                  </a:txBody>
                </a:tc>
              </a:tr>
              <a:tr h="0">
                <a:tc>
                  <a:txBody>
                    <a:bodyPr/>
                    <a:lstStyle/>
                    <a:p>
                      <a:pPr lvl="0" indent="0" marL="0">
                        <a:buNone/>
                      </a:pPr>
                      <a:r>
                        <a:rPr/>
                        <a:t>Which am I in?</a:t>
                      </a:r>
                    </a:p>
                  </a:txBody>
                </a:tc>
                <a:tc>
                  <a:txBody>
                    <a:bodyPr/>
                    <a:lstStyle/>
                    <a:p>
                      <a:pPr lvl="0" indent="0" marL="0">
                        <a:buNone/>
                      </a:pPr>
                      <a:r>
                        <a:rPr>
                          <a:latin typeface="Consolas"/>
                        </a:rPr>
                        <a:t>$PSVersionTable.PSVersion</a:t>
                      </a:r>
                    </a:p>
                  </a:txBody>
                </a:tc>
                <a:tc>
                  <a:txBody>
                    <a:bodyPr/>
                    <a:lstStyle/>
                    <a:p>
                      <a:pPr lvl="0" indent="0" marL="0">
                        <a:buNone/>
                      </a:pPr>
                      <a:r>
                        <a:rPr>
                          <a:latin typeface="Consolas"/>
                        </a:rPr>
                        <a:t>$PSVersionTable.PSVersion</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r>
              <a:rPr>
                <a:solidFill>
                  <a:srgbClr val="5A6472"/>
                </a:solidFill>
                <a:latin typeface="Consolas"/>
              </a:rPr>
              <a:t>)</a:t>
            </a:r>
            <a:br/>
            <a:r>
              <a:rPr>
                <a:solidFill>
                  <a:srgbClr val="1A1D23"/>
                </a:solidFill>
                <a:latin typeface="Consolas"/>
              </a:rPr>
              <a:t>    </a:t>
            </a:r>
            <a:r>
              <a:rPr>
                <a:solidFill>
                  <a:srgbClr val="B3352F"/>
                </a:solidFill>
                <a:latin typeface="Consolas"/>
              </a:rPr>
              <a:t>'Collected'</a:t>
            </a:r>
            <a:r>
              <a:rPr>
                <a:solidFill>
                  <a:srgbClr val="5A6472"/>
                </a:solidFill>
                <a:latin typeface="Consolas"/>
              </a:rPr>
              <a:t>,</a:t>
            </a:r>
            <a:r>
              <a:rPr>
                <a:solidFill>
                  <a:srgbClr val="1A1D23"/>
                </a:solidFill>
                <a:latin typeface="Consolas"/>
              </a:rPr>
              <a:t> </a:t>
            </a:r>
            <a:r>
              <a:rPr>
                <a:solidFill>
                  <a:srgbClr val="B3352F"/>
                </a:solidFill>
                <a:latin typeface="Consolas"/>
              </a:rPr>
              <a:t>'Output'</a:t>
            </a:r>
            <a:r>
              <a:rPr>
                <a:solidFill>
                  <a:srgbClr val="5A6472"/>
                </a:solidFill>
                <a:latin typeface="Consolas"/>
              </a:rPr>
              <a:t>,</a:t>
            </a:r>
            <a:r>
              <a:rPr>
                <a:solidFill>
                  <a:srgbClr val="1A1D23"/>
                </a:solidFill>
                <a:latin typeface="Consolas"/>
              </a:rPr>
              <a:t> </a:t>
            </a:r>
            <a:r>
              <a:rPr>
                <a:solidFill>
                  <a:srgbClr val="B3352F"/>
                </a:solidFill>
                <a:latin typeface="Consolas"/>
              </a:rPr>
              <a:t>'Notes'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ForEach-Object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Write-Verbose</a:t>
            </a:r>
            <a:r>
              <a:rPr>
                <a:solidFill>
                  <a:srgbClr val="1A1D23"/>
                </a:solidFill>
                <a:latin typeface="Consolas"/>
              </a:rPr>
              <a:t> </a:t>
            </a:r>
            <a:r>
              <a:rPr>
                <a:solidFill>
                  <a:srgbClr val="B3352F"/>
                </a:solidFill>
                <a:latin typeface="Consolas"/>
              </a:rPr>
              <a:t>"Creating </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B3352F"/>
                </a:solidFill>
                <a:latin typeface="Consolas"/>
              </a:rPr>
              <a:t>"</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Put it in your personal Modules folder and PowerShell loads it for you</a:t>
            </a:r>
          </a:p>
          <a:p>
            <a:pPr lvl="0"/>
            <a:r>
              <a:rPr>
                <a:latin typeface="Consolas"/>
              </a:rPr>
              <a:t>$env:PSModulePath</a:t>
            </a:r>
            <a:r>
              <a:rPr/>
              <a:t> lists every folder PowerShell searches</a:t>
            </a:r>
          </a:p>
          <a:p>
            <a:pPr lvl="0" indent="0">
              <a:buNone/>
            </a:pPr>
            <a:r>
              <a:rPr>
                <a:latin typeface="Consolas"/>
              </a:rPr>
              <a:t>PowerShell 7
    Documents\PowerShell\Modules\MyTools\MyTools.psm1
Windows PowerShell 5.1
    Documents\WindowsPowerShell\Modules\MyTools\MyTools.psm1
Get-Command -Module MyTools        # in a new window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A disposable VM that returns to a known state after every case</a:t>
            </a:r>
          </a:p>
          <a:p>
            <a:pPr lvl="0"/>
            <a:r>
              <a:rPr/>
              <a:t>Evidence comes in read-only; output, logs and notes go back to the host</a:t>
            </a:r>
          </a:p>
          <a:p>
            <a:pPr lvl="0"/>
            <a:r>
              <a:rPr/>
              <a:t>Windows Server 2025 and the common DFIR tools, built from an unattend file</a:t>
            </a:r>
          </a:p>
          <a:p>
            <a:pPr lvl="0"/>
            <a:r>
              <a:rPr/>
              <a:t>Offline while working a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Windows security settings as decisions specific to this machine, not general recommendations</a:t>
            </a:r>
          </a:p>
          <a:p>
            <a:pPr lvl="1"/>
            <a:r>
              <a:rPr/>
              <a:t>Normally I don’t disable security features, but this is a disposable VM and reducing friction matters</a:t>
            </a:r>
          </a:p>
          <a:p>
            <a:pPr lvl="0"/>
            <a:r>
              <a:rPr/>
              <a:t>The changes</a:t>
            </a:r>
          </a:p>
          <a:p>
            <a:pPr lvl="1"/>
            <a:r>
              <a:rPr/>
              <a:t>UAC off, Defender removed</a:t>
            </a:r>
          </a:p>
          <a:p>
            <a:pPr lvl="1"/>
            <a:r>
              <a:rPr/>
              <a:t>Long paths on, last-access updates off</a:t>
            </a:r>
          </a:p>
          <a:p>
            <a:pPr lvl="1"/>
            <a:r>
              <a:rPr/>
              <a:t>File extensions and hidden files shown</a:t>
            </a:r>
          </a:p>
          <a:p>
            <a:pPr lvl="1"/>
            <a:r>
              <a:rPr/>
              <a:t>Clock: UTC, or a second clock set to UTC</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Suggested tool list</a:t>
            </a:r>
          </a:p>
        </p:txBody>
      </p:sp>
      <p:sp>
        <p:nvSpPr>
          <p:cNvPr id="3" name="Content Placeholder 3"/>
          <p:cNvSpPr>
            <a:spLocks noGrp="1"/>
          </p:cNvSpPr>
          <p:nvPr>
            <p:ph idx="1"/>
          </p:nvPr>
        </p:nvSpPr>
        <p:spPr/>
        <p:txBody>
          <a:bodyPr/>
          <a:lstStyle/>
          <a:p>
            <a:pPr lvl="0"/>
            <a:r>
              <a:rPr/>
              <a:t>Parsing and timelines: Eric Zimmerman’s tools, KAPE, Chainsaw, Hayabusa, Plaso</a:t>
            </a:r>
          </a:p>
          <a:p>
            <a:pPr lvl="0"/>
            <a:r>
              <a:rPr/>
              <a:t>Disk images and memory: FTK Imager, Arsenal Image Mounter, Autopsy, Volatility 3</a:t>
            </a:r>
          </a:p>
          <a:p>
            <a:pPr lvl="0"/>
            <a:r>
              <a:rPr/>
              <a:t>Files, documents and network: CyberChef, ExifTool, pestudio, oletools, Wireshark</a:t>
            </a:r>
          </a:p>
          <a:p>
            <a:pPr lvl="0"/>
            <a:r>
              <a:rPr/>
              <a:t>Basics: 7-Zip, Sysinternals, VS Code, PowerShell 7, Office if licensed</a:t>
            </a:r>
          </a:p>
          <a:p>
            <a:pPr lvl="0"/>
            <a:r>
              <a:rPr/>
              <a:t>Linux tools: WSL 1</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Thank you</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2026-10-18T14:11:50Z</dcterms:created>
  <dcterms:modified xsi:type="dcterms:W3CDTF">2026-10-18T14:11:50Z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
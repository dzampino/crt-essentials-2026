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notesMaster" Target="notesMasters/notesMaster1.xml" /><Relationship Id="rId70" Type="http://schemas.openxmlformats.org/officeDocument/2006/relationships/viewProps" Target="viewProps.xml" /><Relationship Id="rId69" Type="http://schemas.openxmlformats.org/officeDocument/2006/relationships/presProps" Target="presProps.xml" /><Relationship Id="rId1" Type="http://schemas.openxmlformats.org/officeDocument/2006/relationships/slideMaster" Target="slideMasters/slideMaster1.xml" /><Relationship Id="rId72" Type="http://schemas.openxmlformats.org/officeDocument/2006/relationships/tableStyles" Target="tableStyles.xml" /><Relationship Id="rId7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Get-PasswordLengthForEntropy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Training certificates for the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56:6D:45:25:…:AE:67.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 Section 4.1: the IP is “the IP address of the SMTP client that is emitting the mail”. Section 2.3 also recommends checking the HELO identity on its own; section 2.4 covers the empty MAIL FROM of bounces, where the check uses postmaster@ the HELO name.</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sections 4.6.2 (qualifiers), 5 (mechanisms) and 6 (modifiers): https://www.rfc-editor.org/rfc/rfc7208.html Section 4.6.4: include, a, mx, ptr, exists and redirect cause DNS lookups; more than 10 in one evaluation is a permerror. ptr SHOULD NOT be published (section 5.5). exists and exp= are the other terms.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section 3.5 (signature tags) and 3.6.1 (key record): https://www.rfc-editor.org/rfc/rfc6376.html Key record: v=DKIM1; k=rsa (the default); p= is the public key, and an empty p= means the key has been revoked. t= and x= are the signing time and expiry; i= is the identity on whose behalf it was signed. RFC 8301: signers must not use rsa-sha1. RFC 8463 adds ed25519-sha256.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section 4.7 defines every tag; fo= (failure report options) and psd= (public suffix domain flag) are the others. Unknown tags must be ignored. https://www.rfc-editor.org/rfc/rfc9989.html#section-4.7</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Approved verbs: https://learn.microsoft.com/en-us/powershell/scripting/developer/cmdlet/approved-verbs-for-windows-powershell-commands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about_Objects: https://learn.microsoft.com/en-us/powershell/module/microsoft.powershell.core/about/about_objects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Differences between Windows PowerShell 5.1 and PowerShell 7.x: https://learn.microsoft.com/en-us/powershell/scripting/whats-new/differences-from-windows-powershell The ones that bite: default file encoding, Export-Csv’s type line in 5.1, and modules folders in different places. The companion site has a table.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about_Scripts: “As a security feature, PowerShell does not run scripts when you double-click the script icon in File Explorer or when you type the script name without a full path, even when the script is in the current directory.” Right-click, Run with PowerShell, does run it. about_Execution_Policies: if every scope is Undefined, the effective policy is Restricted for Windows clients and RemoteSigned for Windows Server. “The execution policy isn’t a security boundary, it’s defense in depth.” On Linux and macOS it is Unrestricted and cannot be changed. PowerShell 7 sets RemoteSigned in $PSHOME.config.json. https://learn.microsoft.com/en-us/powershell/module/microsoft.powershell.core/about/about_execution_policies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New-CaseFolder -Path E:\2026-0142 -Verbose [CmdletBinding()] is what makes -Verbose work. The version on the companion site also supports -WhatIf. about_Functions_CmdletBindingAttribute: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Every function on the companion site is in its own copyable block, ready to paste into MyTools.psm1. The companion site walks through creating the folder and file.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acquisition is handled separately (Magnet in our workflow).</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 Id="rIdGitHubFooter" Type="http://schemas.openxmlformats.org/officeDocument/2006/relationships/hyperlink" Target="https://github.com/dzampino/crt-essentials-2026"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 Id="rIdGitHubFooter" Target="https://github.com/dzampino/crt-essentials-2026" TargetMode="External" Type="http://schemas.openxmlformats.org/officeDocument/2006/relationships/hyperlink"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GitHubFooter" Type="http://schemas.openxmlformats.org/officeDocument/2006/relationships/hyperlink" Target="https://github.com/dzampino/crt-essentials-2026" TargetMode="Externa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3.png" /><Relationship Id="rIdGitHubFooter" Type="http://schemas.openxmlformats.org/officeDocument/2006/relationships/hyperlink" Target="https://github.com/dzampino/crt-essentials-2026" TargetMode="External"/></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GitHubFooter" Type="http://schemas.openxmlformats.org/officeDocument/2006/relationships/hyperlink" Target="https://github.com/dzampino/crt-essentials-2026" TargetMode="Externa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 Id="rIdGitHubFooter" Type="http://schemas.openxmlformats.org/officeDocument/2006/relationships/hyperlink" Target="https://github.com/dzampino/crt-essentials-2026" TargetMode="Externa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GitHubFooter" Type="http://schemas.openxmlformats.org/officeDocument/2006/relationships/hyperlink" Target="https://github.com/dzampino/crt-essentials-2026" TargetMode="External"/></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GitHubFooter" Type="http://schemas.openxmlformats.org/officeDocument/2006/relationships/hyperlink" Target="https://github.com/dzampino/crt-essentials-2026" TargetMode="Externa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GitHubFooter" Type="http://schemas.openxmlformats.org/officeDocument/2006/relationships/hyperlink" Target="https://github.com/dzampino/crt-essentials-2026" TargetMode="External"/></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GitHubFooter" Type="http://schemas.openxmlformats.org/officeDocument/2006/relationships/hyperlink" Target="https://github.com/dzampino/crt-essentials-2026" TargetMode="Externa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GitHubFooter" Type="http://schemas.openxmlformats.org/officeDocument/2006/relationships/hyperlink" Target="https://github.com/dzampino/crt-essentials-2026" TargetMode="Externa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GitHubFooter" Type="http://schemas.openxmlformats.org/officeDocument/2006/relationships/hyperlink" Target="https://github.com/dzampino/crt-essentials-2026" TargetMode="External"/></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GitHubFooter" Type="http://schemas.openxmlformats.org/officeDocument/2006/relationships/hyperlink" Target="https://github.com/dzampino/crt-essentials-2026" TargetMode="Externa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GitHubFooter" Type="http://schemas.openxmlformats.org/officeDocument/2006/relationships/hyperlink" Target="https://github.com/dzampino/crt-essentials-2026" TargetMode="Externa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GitHubFooter" Type="http://schemas.openxmlformats.org/officeDocument/2006/relationships/hyperlink" Target="https://github.com/dzampino/crt-essentials-2026" TargetMode="External"/></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 Id="rIdGitHubFooter" Type="http://schemas.openxmlformats.org/officeDocument/2006/relationships/hyperlink" Target="https://github.com/dzampino/crt-essentials-2026" TargetMode="External"/></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GitHubFooter" Type="http://schemas.openxmlformats.org/officeDocument/2006/relationships/hyperlink" Target="https://github.com/dzampino/crt-essentials-2026" TargetMode="Externa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GitHubFooter" Type="http://schemas.openxmlformats.org/officeDocument/2006/relationships/hyperlink" Target="https://github.com/dzampino/crt-essentials-2026" TargetMode="Externa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GitHubFooter" Type="http://schemas.openxmlformats.org/officeDocument/2006/relationships/hyperlink" Target="https://github.com/dzampino/crt-essentials-2026" TargetMode="External"/></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GitHubFooter" Type="http://schemas.openxmlformats.org/officeDocument/2006/relationships/hyperlink" Target="https://github.com/dzampino/crt-essentials-2026" TargetMode="External"/></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GitHubFooter" Type="http://schemas.openxmlformats.org/officeDocument/2006/relationships/hyperlink" Target="https://github.com/dzampino/crt-essentials-2026" TargetMode="External"/></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 Id="rIdGitHubFooter" Type="http://schemas.openxmlformats.org/officeDocument/2006/relationships/hyperlink" Target="https://github.com/dzampino/crt-essentials-2026" TargetMode="Externa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GitHubFooter" Type="http://schemas.openxmlformats.org/officeDocument/2006/relationships/hyperlink" Target="https://github.com/dzampino/crt-essentials-2026" TargetMode="Externa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GitHubFooter" Type="http://schemas.openxmlformats.org/officeDocument/2006/relationships/hyperlink" Target="https://github.com/dzampino/crt-essentials-2026" TargetMode="Externa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GitHubFooter" Type="http://schemas.openxmlformats.org/officeDocument/2006/relationships/hyperlink" Target="https://github.com/dzampino/crt-essentials-2026" TargetMode="Externa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GitHubFooter" Type="http://schemas.openxmlformats.org/officeDocument/2006/relationships/hyperlink" Target="https://github.com/dzampino/crt-essentials-2026" TargetMode="Externa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GitHubFooter" Type="http://schemas.openxmlformats.org/officeDocument/2006/relationships/hyperlink" Target="https://github.com/dzampino/crt-essentials-2026" TargetMode="Externa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GitHubFooter" Type="http://schemas.openxmlformats.org/officeDocument/2006/relationships/hyperlink" Target="https://github.com/dzampino/crt-essentials-2026" TargetMode="Externa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GitHubFooter" Type="http://schemas.openxmlformats.org/officeDocument/2006/relationships/hyperlink" Target="https://github.com/dzampino/crt-essentials-2026" TargetMode="Externa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GitHubFooter" Type="http://schemas.openxmlformats.org/officeDocument/2006/relationships/hyperlink" Target="https://github.com/dzampino/crt-essentials-2026" TargetMode="Externa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GitHubFooter" Type="http://schemas.openxmlformats.org/officeDocument/2006/relationships/hyperlink" Target="https://github.com/dzampino/crt-essentials-2026" TargetMode="Externa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GitHubFooter" Type="http://schemas.openxmlformats.org/officeDocument/2006/relationships/hyperlink" Target="https://github.com/dzampino/crt-essentials-2026" TargetMode="Externa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GitHubFooter" Type="http://schemas.openxmlformats.org/officeDocument/2006/relationships/hyperlink" Target="https://github.com/dzampino/crt-essentials-2026" TargetMode="Externa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GitHubFooter" Type="http://schemas.openxmlformats.org/officeDocument/2006/relationships/hyperlink" Target="https://github.com/dzampino/crt-essentials-2026" TargetMode="Externa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GitHubFooter" Type="http://schemas.openxmlformats.org/officeDocument/2006/relationships/hyperlink" Target="https://github.com/dzampino/crt-essentials-2026" TargetMode="External"/></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GitHubFooter" Type="http://schemas.openxmlformats.org/officeDocument/2006/relationships/hyperlink" Target="https://github.com/dzampino/crt-essentials-2026" TargetMode="Externa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GitHubFooter" Type="http://schemas.openxmlformats.org/officeDocument/2006/relationships/hyperlink" Target="https://github.com/dzampino/crt-essentials-2026" TargetMode="External"/></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GitHubFooter" Type="http://schemas.openxmlformats.org/officeDocument/2006/relationships/hyperlink" Target="https://github.com/dzampino/crt-essentials-2026" TargetMode="Externa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GitHubFooter" Type="http://schemas.openxmlformats.org/officeDocument/2006/relationships/hyperlink" Target="https://github.com/dzampino/crt-essentials-2026" TargetMode="Externa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GitHubFooter" Type="http://schemas.openxmlformats.org/officeDocument/2006/relationships/hyperlink" Target="https://github.com/dzampino/crt-essentials-2026" TargetMode="Externa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GitHubFooter" Type="http://schemas.openxmlformats.org/officeDocument/2006/relationships/hyperlink" Target="https://github.com/dzampino/crt-essentials-2026" TargetMode="Externa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GitHubFooter" Type="http://schemas.openxmlformats.org/officeDocument/2006/relationships/hyperlink" Target="https://github.com/dzampino/crt-essentials-2026" TargetMode="Externa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GitHubFooter" Type="http://schemas.openxmlformats.org/officeDocument/2006/relationships/hyperlink" Target="https://github.com/dzampino/crt-essentials-2026" TargetMode="Externa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GitHubFooter" Type="http://schemas.openxmlformats.org/officeDocument/2006/relationships/hyperlink" Target="https://github.com/dzampino/crt-essentials-2026" TargetMode="Externa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GitHubFooter" Type="http://schemas.openxmlformats.org/officeDocument/2006/relationships/hyperlink" Target="https://github.com/dzampino/crt-essentials-2026" TargetMode="Externa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GitHubFooter" Type="http://schemas.openxmlformats.org/officeDocument/2006/relationships/hyperlink" Target="https://github.com/dzampino/crt-essentials-2026" TargetMode="Externa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GitHubFooter" Type="http://schemas.openxmlformats.org/officeDocument/2006/relationships/hyperlink" Target="https://github.com/dzampino/crt-essentials-2026" TargetMode="External"/></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GitHubFooter" Type="http://schemas.openxmlformats.org/officeDocument/2006/relationships/hyperlink" Target="https://github.com/dzampino/crt-essentials-2026" TargetMode="External"/></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GitHubFooter" Type="http://schemas.openxmlformats.org/officeDocument/2006/relationships/hyperlink" Target="https://github.com/dzampino/crt-essentials-2026" TargetMode="External"/></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GitHubFooter" Type="http://schemas.openxmlformats.org/officeDocument/2006/relationships/hyperlink" Target="https://github.com/dzampino/crt-essentials-2026" TargetMode="External"/></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GitHubFooter" Type="http://schemas.openxmlformats.org/officeDocument/2006/relationships/hyperlink" Target="https://github.com/dzampino/crt-essentials-2026" TargetMode="External"/></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GitHubFooter" Type="http://schemas.openxmlformats.org/officeDocument/2006/relationships/hyperlink" Target="https://github.com/dzampino/crt-essentials-2026" TargetMode="External"/></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GitHubFooter" Type="http://schemas.openxmlformats.org/officeDocument/2006/relationships/hyperlink" Target="https://github.com/dzampino/crt-essentials-2026" TargetMode="External"/></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GitHubFooter" Type="http://schemas.openxmlformats.org/officeDocument/2006/relationships/hyperlink" Target="https://github.com/dzampino/crt-essentials-2026" TargetMode="External"/></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 (EKU)</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55:25:8b:df:e8:83:4d:47:...:68:17
Issuer:  O=Cheese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My preferred tool: Microsoft’s Message Header Analyzer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1"/>
            <a:r>
              <a:rPr/>
              <a:t>The IP: the server connecting to the receiver, not anything in the message</a:t>
            </a:r>
          </a:p>
          <a:p>
            <a:pPr lvl="1"/>
            <a:r>
              <a:rPr/>
              <a:t>The domain: </a:t>
            </a:r>
            <a:r>
              <a:rPr>
                <a:latin typeface="Consolas"/>
              </a:rPr>
              <a:t>MAIL FROM</a:t>
            </a:r>
            <a:r>
              <a:rPr/>
              <a:t>, or the </a:t>
            </a:r>
            <a:r>
              <a:rPr>
                <a:latin typeface="Consolas"/>
              </a:rPr>
              <a:t>HELO</a:t>
            </a:r>
            <a:r>
              <a:rPr/>
              <a:t>/</a:t>
            </a:r>
            <a:r>
              <a:rPr>
                <a:latin typeface="Consolas"/>
              </a:rPr>
              <a:t>EHLO</a:t>
            </a:r>
            <a:r>
              <a:rPr/>
              <a:t> name when </a:t>
            </a:r>
            <a:r>
              <a:rPr>
                <a:latin typeface="Consolas"/>
              </a:rPr>
              <a:t>MAIL FROM</a:t>
            </a:r>
            <a:r>
              <a:rPr/>
              <a:t> is empty</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 record terms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4432300"/>
                <a:gridCol w="6654800"/>
              </a:tblGrid>
              <a:tr h="0">
                <a:tc>
                  <a:txBody>
                    <a:bodyPr/>
                    <a:lstStyle/>
                    <a:p>
                      <a:pPr lvl="0" indent="0" marL="0">
                        <a:buNone/>
                      </a:pPr>
                      <a:r>
                        <a:rPr/>
                        <a:t>Term</a:t>
                      </a:r>
                    </a:p>
                  </a:txBody>
                  <a:tcPr/>
                </a:tc>
                <a:tc>
                  <a:txBody>
                    <a:bodyPr/>
                    <a:lstStyle/>
                    <a:p>
                      <a:pPr lvl="0" indent="0" marL="0">
                        <a:buNone/>
                      </a:pPr>
                      <a:r>
                        <a:rPr/>
                        <a:t>Meaning</a:t>
                      </a:r>
                    </a:p>
                  </a:txBody>
                  <a:tcPr/>
                </a:tc>
              </a:tr>
              <a:tr h="0">
                <a:tc>
                  <a:txBody>
                    <a:bodyPr/>
                    <a:lstStyle/>
                    <a:p>
                      <a:pPr lvl="0" indent="0" marL="0">
                        <a:buNone/>
                      </a:pPr>
                      <a:r>
                        <a:rPr>
                          <a:latin typeface="Consolas"/>
                        </a:rPr>
                        <a:t>v=spf1</a:t>
                      </a:r>
                    </a:p>
                  </a:txBody>
                </a:tc>
                <a:tc>
                  <a:txBody>
                    <a:bodyPr/>
                    <a:lstStyle/>
                    <a:p>
                      <a:pPr lvl="0" indent="0" marL="0">
                        <a:buNone/>
                      </a:pPr>
                      <a:r>
                        <a:rPr/>
                        <a:t>Version; must come first</a:t>
                      </a:r>
                    </a:p>
                  </a:txBody>
                </a:tc>
              </a:tr>
              <a:tr h="0">
                <a:tc>
                  <a:txBody>
                    <a:bodyPr/>
                    <a:lstStyle/>
                    <a:p>
                      <a:pPr lvl="0" indent="0" marL="0">
                        <a:buNone/>
                      </a:pPr>
                      <a:r>
                        <a:rPr>
                          <a:latin typeface="Consolas"/>
                        </a:rPr>
                        <a:t>ip4:</a:t>
                      </a:r>
                      <a:r>
                        <a:rPr/>
                        <a:t> / </a:t>
                      </a:r>
                      <a:r>
                        <a:rPr>
                          <a:latin typeface="Consolas"/>
                        </a:rPr>
                        <a:t>ip6:</a:t>
                      </a:r>
                    </a:p>
                  </a:txBody>
                </a:tc>
                <a:tc>
                  <a:txBody>
                    <a:bodyPr/>
                    <a:lstStyle/>
                    <a:p>
                      <a:pPr lvl="0" indent="0" marL="0">
                        <a:buNone/>
                      </a:pPr>
                      <a:r>
                        <a:rPr/>
                        <a:t>This address or range may send</a:t>
                      </a:r>
                    </a:p>
                  </a:txBody>
                </a:tc>
              </a:tr>
              <a:tr h="0">
                <a:tc>
                  <a:txBody>
                    <a:bodyPr/>
                    <a:lstStyle/>
                    <a:p>
                      <a:pPr lvl="0" indent="0" marL="0">
                        <a:buNone/>
                      </a:pPr>
                      <a:r>
                        <a:rPr>
                          <a:latin typeface="Consolas"/>
                        </a:rPr>
                        <a:t>a</a:t>
                      </a:r>
                      <a:r>
                        <a:rPr/>
                        <a:t> / </a:t>
                      </a:r>
                      <a:r>
                        <a:rPr>
                          <a:latin typeface="Consolas"/>
                        </a:rPr>
                        <a:t>mx</a:t>
                      </a:r>
                    </a:p>
                  </a:txBody>
                </a:tc>
                <a:tc>
                  <a:txBody>
                    <a:bodyPr/>
                    <a:lstStyle/>
                    <a:p>
                      <a:pPr lvl="0" indent="0" marL="0">
                        <a:buNone/>
                      </a:pPr>
                      <a:r>
                        <a:rPr/>
                        <a:t>The domain’s A/AAAA or MX hosts may send</a:t>
                      </a:r>
                    </a:p>
                  </a:txBody>
                </a:tc>
              </a:tr>
              <a:tr h="0">
                <a:tc>
                  <a:txBody>
                    <a:bodyPr/>
                    <a:lstStyle/>
                    <a:p>
                      <a:pPr lvl="0" indent="0" marL="0">
                        <a:buNone/>
                      </a:pPr>
                      <a:r>
                        <a:rPr>
                          <a:latin typeface="Consolas"/>
                        </a:rPr>
                        <a:t>include:</a:t>
                      </a:r>
                    </a:p>
                  </a:txBody>
                </a:tc>
                <a:tc>
                  <a:txBody>
                    <a:bodyPr/>
                    <a:lstStyle/>
                    <a:p>
                      <a:pPr lvl="0" indent="0" marL="0">
                        <a:buNone/>
                      </a:pPr>
                      <a:r>
                        <a:rPr/>
                        <a:t>Matches if the other domain’s SPF check passes</a:t>
                      </a:r>
                    </a:p>
                  </a:txBody>
                </a:tc>
              </a:tr>
              <a:tr h="0">
                <a:tc>
                  <a:txBody>
                    <a:bodyPr/>
                    <a:lstStyle/>
                    <a:p>
                      <a:pPr lvl="0" indent="0" marL="0">
                        <a:buNone/>
                      </a:pPr>
                      <a:r>
                        <a:rPr>
                          <a:latin typeface="Consolas"/>
                        </a:rPr>
                        <a:t>redirect=</a:t>
                      </a:r>
                    </a:p>
                  </a:txBody>
                </a:tc>
                <a:tc>
                  <a:txBody>
                    <a:bodyPr/>
                    <a:lstStyle/>
                    <a:p>
                      <a:pPr lvl="0" indent="0" marL="0">
                        <a:buNone/>
                      </a:pPr>
                      <a:r>
                        <a:rPr/>
                        <a:t>Use another domain’s record instead of this one</a:t>
                      </a:r>
                    </a:p>
                  </a:txBody>
                </a:tc>
              </a:tr>
              <a:tr h="0">
                <a:tc>
                  <a:txBody>
                    <a:bodyPr/>
                    <a:lstStyle/>
                    <a:p>
                      <a:pPr lvl="0" indent="0" marL="0">
                        <a:buNone/>
                      </a:pPr>
                      <a:r>
                        <a:rPr>
                          <a:latin typeface="Consolas"/>
                        </a:rPr>
                        <a:t>all</a:t>
                      </a:r>
                    </a:p>
                  </a:txBody>
                </a:tc>
                <a:tc>
                  <a:txBody>
                    <a:bodyPr/>
                    <a:lstStyle/>
                    <a:p>
                      <a:pPr lvl="0" indent="0" marL="0">
                        <a:buNone/>
                      </a:pPr>
                      <a:r>
                        <a:rPr/>
                        <a:t>Matches everything; the last term, so the default answer</a:t>
                      </a:r>
                    </a:p>
                  </a:txBody>
                </a:tc>
              </a:tr>
              <a:tr h="0">
                <a:tc>
                  <a:txBody>
                    <a:bodyPr/>
                    <a:lstStyle/>
                    <a:p>
                      <a:pPr lvl="0" indent="0" marL="0">
                        <a:buNone/>
                      </a:pPr>
                      <a:r>
                        <a:rPr>
                          <a:latin typeface="Consolas"/>
                        </a:rPr>
                        <a:t>+</a:t>
                      </a:r>
                      <a:r>
                        <a:rPr/>
                        <a:t> </a:t>
                      </a:r>
                      <a:r>
                        <a:rPr>
                          <a:latin typeface="Consolas"/>
                        </a:rPr>
                        <a:t>-</a:t>
                      </a:r>
                      <a:r>
                        <a:rPr/>
                        <a:t> </a:t>
                      </a:r>
                      <a:r>
                        <a:rPr>
                          <a:latin typeface="Consolas"/>
                        </a:rPr>
                        <a:t>~</a:t>
                      </a:r>
                      <a:r>
                        <a:rPr/>
                        <a:t> </a:t>
                      </a:r>
                      <a:r>
                        <a:rPr>
                          <a:latin typeface="Consolas"/>
                        </a:rPr>
                        <a:t>?</a:t>
                      </a:r>
                    </a:p>
                  </a:txBody>
                </a:tc>
                <a:tc>
                  <a:txBody>
                    <a:bodyPr/>
                    <a:lstStyle/>
                    <a:p>
                      <a:pPr lvl="0" indent="0" marL="0">
                        <a:buNone/>
                      </a:pPr>
                      <a:r>
                        <a:rPr/>
                        <a:t>Qualifier in front of a term: pass (the default), fail, softfail, neutral</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 signature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962400"/>
                <a:gridCol w="7124700"/>
              </a:tblGrid>
              <a:tr h="0">
                <a:tc>
                  <a:txBody>
                    <a:bodyPr/>
                    <a:lstStyle/>
                    <a:p>
                      <a:pPr lvl="0" indent="0" marL="0">
                        <a:buNone/>
                      </a:pPr>
                      <a:r>
                        <a:rPr/>
                        <a:t>Tag</a:t>
                      </a:r>
                    </a:p>
                  </a:txBody>
                  <a:tcPr/>
                </a:tc>
                <a:tc>
                  <a:txBody>
                    <a:bodyPr/>
                    <a:lstStyle/>
                    <a:p>
                      <a:pPr lvl="0" indent="0" marL="0">
                        <a:buNone/>
                      </a:pPr>
                      <a:r>
                        <a:rPr/>
                        <a:t>Meaning</a:t>
                      </a:r>
                    </a:p>
                  </a:txBody>
                  <a:tcPr/>
                </a:tc>
              </a:tr>
              <a:tr h="0">
                <a:tc>
                  <a:txBody>
                    <a:bodyPr/>
                    <a:lstStyle/>
                    <a:p>
                      <a:pPr lvl="0" indent="0" marL="0">
                        <a:buNone/>
                      </a:pPr>
                      <a:r>
                        <a:rPr>
                          <a:latin typeface="Consolas"/>
                        </a:rPr>
                        <a:t>v=1</a:t>
                      </a:r>
                    </a:p>
                  </a:txBody>
                </a:tc>
                <a:tc>
                  <a:txBody>
                    <a:bodyPr/>
                    <a:lstStyle/>
                    <a:p>
                      <a:pPr lvl="0" indent="0" marL="0">
                        <a:buNone/>
                      </a:pPr>
                      <a:r>
                        <a:rPr/>
                        <a:t>Version</a:t>
                      </a:r>
                    </a:p>
                  </a:txBody>
                </a:tc>
              </a:tr>
              <a:tr h="0">
                <a:tc>
                  <a:txBody>
                    <a:bodyPr/>
                    <a:lstStyle/>
                    <a:p>
                      <a:pPr lvl="0" indent="0" marL="0">
                        <a:buNone/>
                      </a:pPr>
                      <a:r>
                        <a:rPr>
                          <a:latin typeface="Consolas"/>
                        </a:rPr>
                        <a:t>a=</a:t>
                      </a:r>
                    </a:p>
                  </a:txBody>
                </a:tc>
                <a:tc>
                  <a:txBody>
                    <a:bodyPr/>
                    <a:lstStyle/>
                    <a:p>
                      <a:pPr lvl="0" indent="0" marL="0">
                        <a:buNone/>
                      </a:pPr>
                      <a:r>
                        <a:rPr/>
                        <a:t>Algorithm: </a:t>
                      </a:r>
                      <a:r>
                        <a:rPr>
                          <a:latin typeface="Consolas"/>
                        </a:rPr>
                        <a:t>rsa-sha256</a:t>
                      </a:r>
                      <a:r>
                        <a:rPr/>
                        <a:t> (or </a:t>
                      </a:r>
                      <a:r>
                        <a:rPr>
                          <a:latin typeface="Consolas"/>
                        </a:rPr>
                        <a:t>ed25519-sha256</a:t>
                      </a:r>
                      <a:r>
                        <a:rPr/>
                        <a:t>)</a:t>
                      </a:r>
                    </a:p>
                  </a:txBody>
                </a:tc>
              </a:tr>
              <a:tr h="0">
                <a:tc>
                  <a:txBody>
                    <a:bodyPr/>
                    <a:lstStyle/>
                    <a:p>
                      <a:pPr lvl="0" indent="0" marL="0">
                        <a:buNone/>
                      </a:pPr>
                      <a:r>
                        <a:rPr>
                          <a:latin typeface="Consolas"/>
                        </a:rPr>
                        <a:t>d=</a:t>
                      </a:r>
                    </a:p>
                  </a:txBody>
                </a:tc>
                <a:tc>
                  <a:txBody>
                    <a:bodyPr/>
                    <a:lstStyle/>
                    <a:p>
                      <a:pPr lvl="0" indent="0" marL="0">
                        <a:buNone/>
                      </a:pPr>
                      <a:r>
                        <a:rPr/>
                        <a:t>Signing domain; DMARC aligns this with </a:t>
                      </a:r>
                      <a:r>
                        <a:rPr>
                          <a:latin typeface="Consolas"/>
                        </a:rPr>
                        <a:t>From</a:t>
                      </a:r>
                    </a:p>
                  </a:txBody>
                </a:tc>
              </a:tr>
              <a:tr h="0">
                <a:tc>
                  <a:txBody>
                    <a:bodyPr/>
                    <a:lstStyle/>
                    <a:p>
                      <a:pPr lvl="0" indent="0" marL="0">
                        <a:buNone/>
                      </a:pPr>
                      <a:r>
                        <a:rPr>
                          <a:latin typeface="Consolas"/>
                        </a:rPr>
                        <a:t>s=</a:t>
                      </a:r>
                    </a:p>
                  </a:txBody>
                </a:tc>
                <a:tc>
                  <a:txBody>
                    <a:bodyPr/>
                    <a:lstStyle/>
                    <a:p>
                      <a:pPr lvl="0" indent="0" marL="0">
                        <a:buNone/>
                      </a:pPr>
                      <a:r>
                        <a:rPr/>
                        <a:t>Selector: the public key is at </a:t>
                      </a:r>
                      <a:r>
                        <a:rPr>
                          <a:latin typeface="Consolas"/>
                        </a:rPr>
                        <a:t>s._domainkey.d</a:t>
                      </a:r>
                    </a:p>
                  </a:txBody>
                </a:tc>
              </a:tr>
              <a:tr h="0">
                <a:tc>
                  <a:txBody>
                    <a:bodyPr/>
                    <a:lstStyle/>
                    <a:p>
                      <a:pPr lvl="0" indent="0" marL="0">
                        <a:buNone/>
                      </a:pPr>
                      <a:r>
                        <a:rPr>
                          <a:latin typeface="Consolas"/>
                        </a:rPr>
                        <a:t>h=</a:t>
                      </a:r>
                    </a:p>
                  </a:txBody>
                </a:tc>
                <a:tc>
                  <a:txBody>
                    <a:bodyPr/>
                    <a:lstStyle/>
                    <a:p>
                      <a:pPr lvl="0" indent="0" marL="0">
                        <a:buNone/>
                      </a:pPr>
                      <a:r>
                        <a:rPr/>
                        <a:t>The header fields that were signed</a:t>
                      </a:r>
                    </a:p>
                  </a:txBody>
                </a:tc>
              </a:tr>
              <a:tr h="0">
                <a:tc>
                  <a:txBody>
                    <a:bodyPr/>
                    <a:lstStyle/>
                    <a:p>
                      <a:pPr lvl="0" indent="0" marL="0">
                        <a:buNone/>
                      </a:pPr>
                      <a:r>
                        <a:rPr>
                          <a:latin typeface="Consolas"/>
                        </a:rPr>
                        <a:t>bh=</a:t>
                      </a:r>
                      <a:r>
                        <a:rPr/>
                        <a:t> / </a:t>
                      </a:r>
                      <a:r>
                        <a:rPr>
                          <a:latin typeface="Consolas"/>
                        </a:rPr>
                        <a:t>b=</a:t>
                      </a:r>
                    </a:p>
                  </a:txBody>
                </a:tc>
                <a:tc>
                  <a:txBody>
                    <a:bodyPr/>
                    <a:lstStyle/>
                    <a:p>
                      <a:pPr lvl="0" indent="0" marL="0">
                        <a:buNone/>
                      </a:pPr>
                      <a:r>
                        <a:rPr/>
                        <a:t>Hash of the body / the signature itself</a:t>
                      </a:r>
                    </a:p>
                  </a:txBody>
                </a:tc>
              </a:tr>
              <a:tr h="0">
                <a:tc>
                  <a:txBody>
                    <a:bodyPr/>
                    <a:lstStyle/>
                    <a:p>
                      <a:pPr lvl="0" indent="0" marL="0">
                        <a:buNone/>
                      </a:pPr>
                      <a:r>
                        <a:rPr>
                          <a:latin typeface="Consolas"/>
                        </a:rPr>
                        <a:t>c=</a:t>
                      </a:r>
                    </a:p>
                  </a:txBody>
                </a:tc>
                <a:tc>
                  <a:txBody>
                    <a:bodyPr/>
                    <a:lstStyle/>
                    <a:p>
                      <a:pPr lvl="0" indent="0" marL="0">
                        <a:buNone/>
                      </a:pPr>
                      <a:r>
                        <a:rPr/>
                        <a:t>Canonicalization, header/body: </a:t>
                      </a:r>
                      <a:r>
                        <a:rPr>
                          <a:latin typeface="Consolas"/>
                        </a:rPr>
                        <a:t>simple</a:t>
                      </a:r>
                      <a:r>
                        <a:rPr/>
                        <a:t> or </a:t>
                      </a:r>
                      <a:r>
                        <a:rPr>
                          <a:latin typeface="Consolas"/>
                        </a:rPr>
                        <a:t>relaxed</a:t>
                      </a:r>
                      <a:r>
                        <a:rPr/>
                        <a:t>; default </a:t>
                      </a:r>
                      <a:r>
                        <a:rPr>
                          <a:latin typeface="Consolas"/>
                        </a:rPr>
                        <a:t>simple/simple</a:t>
                      </a:r>
                    </a:p>
                  </a:txBody>
                </a:tc>
              </a:tr>
              <a:tr h="0">
                <a:tc>
                  <a:txBody>
                    <a:bodyPr/>
                    <a:lstStyle/>
                    <a:p>
                      <a:pPr lvl="0" indent="0" marL="0">
                        <a:buNone/>
                      </a:pPr>
                      <a:r>
                        <a:rPr>
                          <a:latin typeface="Consolas"/>
                        </a:rPr>
                        <a:t>l=</a:t>
                      </a:r>
                    </a:p>
                  </a:txBody>
                </a:tc>
                <a:tc>
                  <a:txBody>
                    <a:bodyPr/>
                    <a:lstStyle/>
                    <a:p>
                      <a:pPr lvl="0" indent="0" marL="0">
                        <a:buNone/>
                      </a:pPr>
                      <a:r>
                        <a:rPr/>
                        <a:t>Only this many body bytes are signed; text can be added after them</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 record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2413000"/>
                <a:gridCol w="4343400"/>
                <a:gridCol w="4343400"/>
              </a:tblGrid>
              <a:tr h="0">
                <a:tc>
                  <a:txBody>
                    <a:bodyPr/>
                    <a:lstStyle/>
                    <a:p>
                      <a:pPr lvl="0" indent="0" marL="0">
                        <a:buNone/>
                      </a:pPr>
                      <a:r>
                        <a:rPr/>
                        <a:t>Tag</a:t>
                      </a:r>
                    </a:p>
                  </a:txBody>
                  <a:tcPr/>
                </a:tc>
                <a:tc>
                  <a:txBody>
                    <a:bodyPr/>
                    <a:lstStyle/>
                    <a:p>
                      <a:pPr lvl="0" indent="0" marL="0">
                        <a:buNone/>
                      </a:pPr>
                      <a:r>
                        <a:rPr/>
                        <a:t>Meaning</a:t>
                      </a:r>
                    </a:p>
                  </a:txBody>
                  <a:tcPr/>
                </a:tc>
                <a:tc>
                  <a:txBody>
                    <a:bodyPr/>
                    <a:lstStyle/>
                    <a:p>
                      <a:pPr lvl="0" indent="0" marL="0">
                        <a:buNone/>
                      </a:pPr>
                      <a:r>
                        <a:rPr/>
                        <a:t>Default</a:t>
                      </a:r>
                    </a:p>
                  </a:txBody>
                  <a:tcPr/>
                </a:tc>
              </a:tr>
              <a:tr h="0">
                <a:tc>
                  <a:txBody>
                    <a:bodyPr/>
                    <a:lstStyle/>
                    <a:p>
                      <a:pPr lvl="0" indent="0" marL="0">
                        <a:buNone/>
                      </a:pPr>
                      <a:r>
                        <a:rPr>
                          <a:latin typeface="Consolas"/>
                        </a:rPr>
                        <a:t>v=DMARC1</a:t>
                      </a:r>
                    </a:p>
                  </a:txBody>
                </a:tc>
                <a:tc>
                  <a:txBody>
                    <a:bodyPr/>
                    <a:lstStyle/>
                    <a:p>
                      <a:pPr lvl="0" indent="0" marL="0">
                        <a:buNone/>
                      </a:pPr>
                      <a:r>
                        <a:rPr/>
                        <a:t>Version; must be the first tag</a:t>
                      </a:r>
                    </a:p>
                  </a:txBody>
                </a:tc>
                <a:tc>
                  <a:txBody>
                    <a:bodyPr/>
                    <a:lstStyle/>
                    <a:p>
                      <a:pPr lvl="0" indent="0" marL="0">
                        <a:buNone/>
                      </a:pPr>
                      <a:r>
                        <a:rPr/>
                        <a:t>Required</a:t>
                      </a:r>
                    </a:p>
                  </a:txBody>
                </a:tc>
              </a:tr>
              <a:tr h="0">
                <a:tc>
                  <a:txBody>
                    <a:bodyPr/>
                    <a:lstStyle/>
                    <a:p>
                      <a:pPr lvl="0" indent="0" marL="0">
                        <a:buNone/>
                      </a:pPr>
                      <a:r>
                        <a:rPr>
                          <a:latin typeface="Consolas"/>
                        </a:rPr>
                        <a:t>p=</a:t>
                      </a:r>
                    </a:p>
                  </a:txBody>
                </a:tc>
                <a:tc>
                  <a:txBody>
                    <a:bodyPr/>
                    <a:lstStyle/>
                    <a:p>
                      <a:pPr lvl="0" indent="0" marL="0">
                        <a:buNone/>
                      </a:pPr>
                      <a:r>
                        <a:rPr/>
                        <a:t>Policy for the domain: </a:t>
                      </a:r>
                      <a:r>
                        <a:rPr>
                          <a:latin typeface="Consolas"/>
                        </a:rPr>
                        <a:t>none</a:t>
                      </a:r>
                      <a:r>
                        <a:rPr/>
                        <a:t>, </a:t>
                      </a:r>
                      <a:r>
                        <a:rPr>
                          <a:latin typeface="Consolas"/>
                        </a:rPr>
                        <a:t>quarantine</a:t>
                      </a:r>
                      <a:r>
                        <a:rPr/>
                        <a:t>, </a:t>
                      </a:r>
                      <a:r>
                        <a:rPr>
                          <a:latin typeface="Consolas"/>
                        </a:rPr>
                        <a:t>reject</a:t>
                      </a:r>
                    </a:p>
                  </a:txBody>
                </a:tc>
                <a:tc>
                  <a:txBody>
                    <a:bodyPr/>
                    <a:lstStyle/>
                    <a:p>
                      <a:pPr lvl="0" indent="0" marL="0">
                        <a:buNone/>
                      </a:pPr>
                      <a:r>
                        <a:rPr>
                          <a:latin typeface="Consolas"/>
                        </a:rPr>
                        <a:t>none</a:t>
                      </a:r>
                    </a:p>
                  </a:txBody>
                </a:tc>
              </a:tr>
              <a:tr h="0">
                <a:tc>
                  <a:txBody>
                    <a:bodyPr/>
                    <a:lstStyle/>
                    <a:p>
                      <a:pPr lvl="0" indent="0" marL="0">
                        <a:buNone/>
                      </a:pPr>
                      <a:r>
                        <a:rPr>
                          <a:latin typeface="Consolas"/>
                        </a:rPr>
                        <a:t>sp=</a:t>
                      </a:r>
                    </a:p>
                  </a:txBody>
                </a:tc>
                <a:tc>
                  <a:txBody>
                    <a:bodyPr/>
                    <a:lstStyle/>
                    <a:p>
                      <a:pPr lvl="0" indent="0" marL="0">
                        <a:buNone/>
                      </a:pPr>
                      <a:r>
                        <a:rPr/>
                        <a:t>Policy for existing subdomains</a:t>
                      </a:r>
                    </a:p>
                  </a:txBody>
                </a:tc>
                <a:tc>
                  <a:txBody>
                    <a:bodyPr/>
                    <a:lstStyle/>
                    <a:p>
                      <a:pPr lvl="0" indent="0" marL="0">
                        <a:buNone/>
                      </a:pPr>
                      <a:r>
                        <a:rPr>
                          <a:latin typeface="Consolas"/>
                        </a:rPr>
                        <a:t>p</a:t>
                      </a:r>
                    </a:p>
                  </a:txBody>
                </a:tc>
              </a:tr>
              <a:tr h="0">
                <a:tc>
                  <a:txBody>
                    <a:bodyPr/>
                    <a:lstStyle/>
                    <a:p>
                      <a:pPr lvl="0" indent="0" marL="0">
                        <a:buNone/>
                      </a:pPr>
                      <a:r>
                        <a:rPr>
                          <a:latin typeface="Consolas"/>
                        </a:rPr>
                        <a:t>np=</a:t>
                      </a:r>
                    </a:p>
                  </a:txBody>
                </a:tc>
                <a:tc>
                  <a:txBody>
                    <a:bodyPr/>
                    <a:lstStyle/>
                    <a:p>
                      <a:pPr lvl="0" indent="0" marL="0">
                        <a:buNone/>
                      </a:pPr>
                      <a:r>
                        <a:rPr/>
                        <a:t>Policy for non-existent subdomains</a:t>
                      </a:r>
                    </a:p>
                  </a:txBody>
                </a:tc>
                <a:tc>
                  <a:txBody>
                    <a:bodyPr/>
                    <a:lstStyle/>
                    <a:p>
                      <a:pPr lvl="0" indent="0" marL="0">
                        <a:buNone/>
                      </a:pPr>
                      <a:r>
                        <a:rPr>
                          <a:latin typeface="Consolas"/>
                        </a:rPr>
                        <a:t>sp</a:t>
                      </a:r>
                      <a:r>
                        <a:rPr/>
                        <a:t>, then </a:t>
                      </a:r>
                      <a:r>
                        <a:rPr>
                          <a:latin typeface="Consolas"/>
                        </a:rPr>
                        <a:t>p</a:t>
                      </a:r>
                    </a:p>
                  </a:txBody>
                </a:tc>
              </a:tr>
              <a:tr h="0">
                <a:tc>
                  <a:txBody>
                    <a:bodyPr/>
                    <a:lstStyle/>
                    <a:p>
                      <a:pPr lvl="0" indent="0" marL="0">
                        <a:buNone/>
                      </a:pPr>
                      <a:r>
                        <a:rPr>
                          <a:latin typeface="Consolas"/>
                        </a:rPr>
                        <a:t>adkim=</a:t>
                      </a:r>
                    </a:p>
                  </a:txBody>
                </a:tc>
                <a:tc>
                  <a:txBody>
                    <a:bodyPr/>
                    <a:lstStyle/>
                    <a:p>
                      <a:pPr lvl="0" indent="0" marL="0">
                        <a:buNone/>
                      </a:pPr>
                      <a:r>
                        <a:rPr/>
                        <a:t>DKIM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aspf=</a:t>
                      </a:r>
                    </a:p>
                  </a:txBody>
                </a:tc>
                <a:tc>
                  <a:txBody>
                    <a:bodyPr/>
                    <a:lstStyle/>
                    <a:p>
                      <a:pPr lvl="0" indent="0" marL="0">
                        <a:buNone/>
                      </a:pPr>
                      <a:r>
                        <a:rPr/>
                        <a:t>SPF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t=y</a:t>
                      </a:r>
                    </a:p>
                  </a:txBody>
                </a:tc>
                <a:tc>
                  <a:txBody>
                    <a:bodyPr/>
                    <a:lstStyle/>
                    <a:p>
                      <a:pPr lvl="0" indent="0" marL="0">
                        <a:buNone/>
                      </a:pPr>
                      <a:r>
                        <a:rPr/>
                        <a:t>Test mode: apply one level below </a:t>
                      </a:r>
                      <a:r>
                        <a:rPr>
                          <a:latin typeface="Consolas"/>
                        </a:rPr>
                        <a:t>p</a:t>
                      </a:r>
                      <a:r>
                        <a:rPr/>
                        <a:t> (</a:t>
                      </a:r>
                      <a:r>
                        <a:rPr>
                          <a:latin typeface="Consolas"/>
                        </a:rPr>
                        <a:t>quarantine</a:t>
                      </a:r>
                      <a:r>
                        <a:rPr/>
                        <a:t> becomes </a:t>
                      </a:r>
                      <a:r>
                        <a:rPr>
                          <a:latin typeface="Consolas"/>
                        </a:rPr>
                        <a:t>none</a:t>
                      </a:r>
                      <a:r>
                        <a:rPr/>
                        <a:t>, </a:t>
                      </a:r>
                      <a:r>
                        <a:rPr>
                          <a:latin typeface="Consolas"/>
                        </a:rPr>
                        <a:t>reject</a:t>
                      </a:r>
                      <a:r>
                        <a:rPr/>
                        <a:t> becomes </a:t>
                      </a:r>
                      <a:r>
                        <a:rPr>
                          <a:latin typeface="Consolas"/>
                        </a:rPr>
                        <a:t>quarantine</a:t>
                      </a:r>
                      <a:r>
                        <a:rPr/>
                        <a:t>)</a:t>
                      </a:r>
                    </a:p>
                  </a:txBody>
                </a:tc>
                <a:tc>
                  <a:txBody>
                    <a:bodyPr/>
                    <a:lstStyle/>
                    <a:p>
                      <a:pPr lvl="0" indent="0" marL="0">
                        <a:buNone/>
                      </a:pPr>
                      <a:r>
                        <a:rPr>
                          <a:latin typeface="Consolas"/>
                        </a:rPr>
                        <a:t>n</a:t>
                      </a:r>
                    </a:p>
                  </a:txBody>
                </a:tc>
              </a:tr>
              <a:tr h="0">
                <a:tc>
                  <a:txBody>
                    <a:bodyPr/>
                    <a:lstStyle/>
                    <a:p>
                      <a:pPr lvl="0" indent="0" marL="0">
                        <a:buNone/>
                      </a:pPr>
                      <a:r>
                        <a:rPr>
                          <a:latin typeface="Consolas"/>
                        </a:rPr>
                        <a:t>rua=</a:t>
                      </a:r>
                      <a:r>
                        <a:rPr/>
                        <a:t> / </a:t>
                      </a:r>
                      <a:r>
                        <a:rPr>
                          <a:latin typeface="Consolas"/>
                        </a:rPr>
                        <a:t>ruf=</a:t>
                      </a:r>
                    </a:p>
                  </a:txBody>
                </a:tc>
                <a:tc>
                  <a:txBody>
                    <a:bodyPr/>
                    <a:lstStyle/>
                    <a:p>
                      <a:pPr lvl="0" indent="0" marL="0">
                        <a:buNone/>
                      </a:pPr>
                      <a:r>
                        <a:rPr/>
                        <a:t>Where to send aggregate / failure reports</a:t>
                      </a:r>
                    </a:p>
                  </a:txBody>
                </a:tc>
                <a:tc>
                  <a:txBody>
                    <a:bodyPr/>
                    <a:lstStyle/>
                    <a:p>
                      <a:pPr lvl="0" indent="0" marL="0">
                        <a:buNone/>
                      </a:pPr>
                      <a:r>
                        <a:rPr/>
                        <a:t>No reports</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Verb-Noun</a:t>
            </a:r>
          </a:p>
        </p:txBody>
      </p:sp>
      <p:sp>
        <p:nvSpPr>
          <p:cNvPr id="3" name="Content Placeholder 3"/>
          <p:cNvSpPr>
            <a:spLocks noGrp="1"/>
          </p:cNvSpPr>
          <p:nvPr>
            <p:ph idx="1"/>
          </p:nvPr>
        </p:nvSpPr>
        <p:spPr/>
        <p:txBody>
          <a:bodyPr/>
          <a:lstStyle/>
          <a:p>
            <a:pPr lvl="0"/>
            <a:r>
              <a:rPr/>
              <a:t>Every command is named </a:t>
            </a:r>
            <a:r>
              <a:rPr i="1"/>
              <a:t>Verb-Noun</a:t>
            </a:r>
            <a:r>
              <a:rPr/>
              <a:t>: </a:t>
            </a:r>
            <a:r>
              <a:rPr>
                <a:latin typeface="Consolas"/>
              </a:rPr>
              <a:t>Get-Process</a:t>
            </a:r>
            <a:r>
              <a:rPr/>
              <a:t>, </a:t>
            </a:r>
            <a:r>
              <a:rPr>
                <a:latin typeface="Consolas"/>
              </a:rPr>
              <a:t>Stop-Service</a:t>
            </a:r>
            <a:r>
              <a:rPr/>
              <a:t>, </a:t>
            </a:r>
            <a:r>
              <a:rPr>
                <a:latin typeface="Consolas"/>
              </a:rPr>
              <a:t>Export-Csv</a:t>
            </a:r>
          </a:p>
          <a:p>
            <a:pPr lvl="0"/>
            <a:r>
              <a:rPr/>
              <a:t>A short list of approved verbs: </a:t>
            </a:r>
            <a:r>
              <a:rPr>
                <a:latin typeface="Consolas"/>
              </a:rPr>
              <a:t>Get</a:t>
            </a:r>
            <a:r>
              <a:rPr/>
              <a:t>, </a:t>
            </a:r>
            <a:r>
              <a:rPr>
                <a:latin typeface="Consolas"/>
              </a:rPr>
              <a:t>Set</a:t>
            </a:r>
            <a:r>
              <a:rPr/>
              <a:t>, </a:t>
            </a:r>
            <a:r>
              <a:rPr>
                <a:latin typeface="Consolas"/>
              </a:rPr>
              <a:t>New</a:t>
            </a:r>
            <a:r>
              <a:rPr/>
              <a:t>, </a:t>
            </a:r>
            <a:r>
              <a:rPr>
                <a:latin typeface="Consolas"/>
              </a:rPr>
              <a:t>Remove</a:t>
            </a:r>
            <a:r>
              <a:rPr/>
              <a:t>, </a:t>
            </a:r>
            <a:r>
              <a:rPr>
                <a:latin typeface="Consolas"/>
              </a:rPr>
              <a:t>Start</a:t>
            </a:r>
            <a:r>
              <a:rPr/>
              <a:t>, </a:t>
            </a:r>
            <a:r>
              <a:rPr>
                <a:latin typeface="Consolas"/>
              </a:rPr>
              <a:t>Stop</a:t>
            </a:r>
            <a:r>
              <a:rPr/>
              <a:t>, </a:t>
            </a:r>
            <a:r>
              <a:rPr>
                <a:latin typeface="Consolas"/>
              </a:rPr>
              <a:t>Export</a:t>
            </a:r>
            <a:r>
              <a:rPr/>
              <a:t>…</a:t>
            </a:r>
          </a:p>
          <a:p>
            <a:pPr lvl="0"/>
            <a:r>
              <a:rPr/>
              <a:t>Learn the noun, then guess the verb</a:t>
            </a:r>
          </a:p>
          <a:p>
            <a:pPr lvl="0"/>
            <a:r>
              <a:rPr/>
              <a:t>Parameters follow: </a:t>
            </a:r>
            <a:r>
              <a:rPr>
                <a:latin typeface="Consolas"/>
              </a:rPr>
              <a:t>-Name value</a:t>
            </a:r>
            <a:r>
              <a:rPr/>
              <a:t>; Tab completes both</a:t>
            </a:r>
          </a:p>
          <a:p>
            <a:pPr lvl="0" indent="0">
              <a:buNone/>
            </a:pPr>
            <a:r>
              <a:rPr>
                <a:solidFill>
                  <a:srgbClr val="1A1D23"/>
                </a:solidFill>
                <a:latin typeface="Consolas"/>
              </a:rPr>
              <a:t>Get-Verb                       </a:t>
            </a:r>
            <a:r>
              <a:rPr i="1">
                <a:solidFill>
                  <a:srgbClr val="6B7480"/>
                </a:solidFill>
                <a:latin typeface="Consolas"/>
              </a:rPr>
              <a:t># the approved verbs</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Service      </a:t>
            </a:r>
            <a:r>
              <a:rPr i="1">
                <a:solidFill>
                  <a:srgbClr val="6B7480"/>
                </a:solidFill>
                <a:latin typeface="Consolas"/>
              </a:rPr>
              <a:t># every verb that works on services</a:t>
            </a:r>
            <a:br/>
            <a:r>
              <a:rPr>
                <a:solidFill>
                  <a:srgbClr val="034BAB"/>
                </a:solidFill>
                <a:latin typeface="Consolas"/>
              </a:rPr>
              <a:t>Get-Command</a:t>
            </a:r>
            <a:r>
              <a:rPr>
                <a:solidFill>
                  <a:srgbClr val="1A1D23"/>
                </a:solidFill>
                <a:latin typeface="Consolas"/>
              </a:rPr>
              <a:t> Get-</a:t>
            </a:r>
            <a:r>
              <a:rPr>
                <a:solidFill>
                  <a:srgbClr val="5A6472"/>
                </a:solidFill>
                <a:latin typeface="Consolas"/>
              </a:rPr>
              <a:t>*</a:t>
            </a:r>
            <a:r>
              <a:rPr>
                <a:solidFill>
                  <a:srgbClr val="1A1D23"/>
                </a:solidFill>
                <a:latin typeface="Consolas"/>
              </a:rPr>
              <a:t>Event         </a:t>
            </a:r>
            <a:r>
              <a:rPr i="1">
                <a:solidFill>
                  <a:srgbClr val="6B7480"/>
                </a:solidFill>
                <a:latin typeface="Consolas"/>
              </a:rPr>
              <a:t># * matches anything: Get-Event, Get-WinEvent</a:t>
            </a:r>
            <a:br/>
            <a:r>
              <a:rPr>
                <a:solidFill>
                  <a:srgbClr val="034BAB"/>
                </a:solidFill>
                <a:latin typeface="Consolas"/>
              </a:rPr>
              <a:t>Get-Service</a:t>
            </a:r>
            <a:r>
              <a:rPr>
                <a:solidFill>
                  <a:srgbClr val="1A1D23"/>
                </a:solidFill>
                <a:latin typeface="Consolas"/>
              </a:rPr>
              <a:t> </a:t>
            </a:r>
            <a:r>
              <a:rPr>
                <a:solidFill>
                  <a:srgbClr val="5A6472"/>
                </a:solidFill>
                <a:latin typeface="Consolas"/>
              </a:rPr>
              <a:t>-</a:t>
            </a:r>
            <a:r>
              <a:rPr>
                <a:solidFill>
                  <a:srgbClr val="1A1D23"/>
                </a:solidFill>
                <a:latin typeface="Consolas"/>
              </a:rPr>
              <a:t>Name Spooler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a:t>
            </a:r>
          </a:p>
        </p:txBody>
      </p:sp>
      <p:sp>
        <p:nvSpPr>
          <p:cNvPr id="3" name="Content Placeholder 3"/>
          <p:cNvSpPr>
            <a:spLocks noGrp="1"/>
          </p:cNvSpPr>
          <p:nvPr>
            <p:ph idx="1"/>
          </p:nvPr>
        </p:nvSpPr>
        <p:spPr/>
        <p:txBody>
          <a:bodyPr/>
          <a:lstStyle/>
          <a:p>
            <a:pPr lvl="0"/>
            <a:r>
              <a:rPr/>
              <a:t>An object is a thing with </a:t>
            </a:r>
            <a:r>
              <a:rPr b="1"/>
              <a:t>properties</a:t>
            </a:r>
            <a:r>
              <a:rPr/>
              <a:t> (data) and </a:t>
            </a:r>
            <a:r>
              <a:rPr b="1"/>
              <a:t>methods</a:t>
            </a:r>
            <a:r>
              <a:rPr/>
              <a:t> (actions)</a:t>
            </a:r>
          </a:p>
          <a:p>
            <a:pPr lvl="1"/>
            <a:r>
              <a:rPr/>
              <a:t>A file: </a:t>
            </a:r>
            <a:r>
              <a:rPr>
                <a:latin typeface="Consolas"/>
              </a:rPr>
              <a:t>Name</a:t>
            </a:r>
            <a:r>
              <a:rPr/>
              <a:t>, </a:t>
            </a:r>
            <a:r>
              <a:rPr>
                <a:latin typeface="Consolas"/>
              </a:rPr>
              <a:t>Length</a:t>
            </a:r>
            <a:r>
              <a:rPr/>
              <a:t>, </a:t>
            </a:r>
            <a:r>
              <a:rPr>
                <a:latin typeface="Consolas"/>
              </a:rPr>
              <a:t>LastWriteTime</a:t>
            </a:r>
            <a:r>
              <a:rPr/>
              <a:t>; </a:t>
            </a:r>
            <a:r>
              <a:rPr>
                <a:latin typeface="Consolas"/>
              </a:rPr>
              <a:t>CopyTo()</a:t>
            </a:r>
            <a:r>
              <a:rPr/>
              <a:t>, </a:t>
            </a:r>
            <a:r>
              <a:rPr>
                <a:latin typeface="Consolas"/>
              </a:rPr>
              <a:t>Delete()</a:t>
            </a:r>
          </a:p>
          <a:p>
            <a:pPr lvl="0"/>
            <a:r>
              <a:rPr/>
              <a:t>Commands return objects, not text; the table on screen is only a view</a:t>
            </a:r>
          </a:p>
          <a:p>
            <a:pPr lvl="0"/>
            <a:r>
              <a:rPr/>
              <a:t>Ask for a property by name instead of cutting columns out of text</a:t>
            </a:r>
          </a:p>
          <a:p>
            <a:pPr lvl="0" indent="0">
              <a:buNone/>
            </a:pP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br/>
            <a:r>
              <a:rPr>
                <a:solidFill>
                  <a:srgbClr val="0C2454"/>
                </a:solidFill>
                <a:latin typeface="Consolas"/>
              </a:rPr>
              <a:t>$File</a:t>
            </a:r>
            <a:r>
              <a:rPr>
                <a:solidFill>
                  <a:srgbClr val="5A6472"/>
                </a:solidFill>
                <a:latin typeface="Consolas"/>
              </a:rPr>
              <a:t>.</a:t>
            </a:r>
            <a:r>
              <a:rPr>
                <a:solidFill>
                  <a:srgbClr val="034BAB"/>
                </a:solidFill>
                <a:latin typeface="Consolas"/>
              </a:rPr>
              <a:t>Length</a:t>
            </a:r>
            <a:r>
              <a:rPr>
                <a:solidFill>
                  <a:srgbClr val="1A1D23"/>
                </a:solidFill>
                <a:latin typeface="Consolas"/>
              </a:rPr>
              <a:t>                  </a:t>
            </a:r>
            <a:r>
              <a:rPr i="1">
                <a:solidFill>
                  <a:srgbClr val="6B7480"/>
                </a:solidFill>
                <a:latin typeface="Consolas"/>
              </a:rPr>
              <a:t># a property: size in bytes</a:t>
            </a:r>
            <a:br/>
            <a:r>
              <a:rPr>
                <a:solidFill>
                  <a:srgbClr val="0C2454"/>
                </a:solidFill>
                <a:latin typeface="Consolas"/>
              </a:rPr>
              <a:t>$File</a:t>
            </a:r>
            <a:r>
              <a:rPr>
                <a:solidFill>
                  <a:srgbClr val="5A6472"/>
                </a:solidFill>
                <a:latin typeface="Consolas"/>
              </a:rPr>
              <a:t>.</a:t>
            </a:r>
            <a:r>
              <a:rPr>
                <a:solidFill>
                  <a:srgbClr val="034BAB"/>
                </a:solidFill>
                <a:latin typeface="Consolas"/>
              </a:rPr>
              <a:t>LastWriteTime</a:t>
            </a:r>
            <a:r>
              <a:rPr>
                <a:solidFill>
                  <a:srgbClr val="5A6472"/>
                </a:solidFill>
                <a:latin typeface="Consolas"/>
              </a:rPr>
              <a:t>.</a:t>
            </a:r>
            <a:r>
              <a:rPr>
                <a:solidFill>
                  <a:srgbClr val="034BAB"/>
                </a:solidFill>
                <a:latin typeface="Consolas"/>
              </a:rPr>
              <a:t>Year</a:t>
            </a:r>
            <a:r>
              <a:rPr>
                <a:solidFill>
                  <a:srgbClr val="1A1D23"/>
                </a:solidFill>
                <a:latin typeface="Consolas"/>
              </a:rPr>
              <a:t>      </a:t>
            </a:r>
            <a:r>
              <a:rPr i="1">
                <a:solidFill>
                  <a:srgbClr val="6B7480"/>
                </a:solidFill>
                <a:latin typeface="Consolas"/>
              </a:rPr>
              <a:t># a property can be an object too</a:t>
            </a:r>
            <a:b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i="1">
                <a:solidFill>
                  <a:srgbClr val="6B7480"/>
                </a:solidFill>
                <a:latin typeface="Consolas"/>
              </a:rPr>
              <a:t># every property and method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Windows PowerShell 5.1 and PowerShell 7</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695700"/>
                <a:gridCol w="3695700"/>
                <a:gridCol w="3695700"/>
              </a:tblGrid>
              <a:tr h="0">
                <a:tc>
                  <a:txBody>
                    <a:bodyPr/>
                    <a:lstStyle/>
                    <a:p>
                      <a:endParaRPr/>
                    </a:p>
                  </a:txBody>
                  <a:tcPr/>
                </a:tc>
                <a:tc>
                  <a:txBody>
                    <a:bodyPr/>
                    <a:lstStyle/>
                    <a:p>
                      <a:pPr lvl="0" indent="0" marL="0">
                        <a:buNone/>
                      </a:pPr>
                      <a:r>
                        <a:rPr/>
                        <a:t>Windows PowerShell 5.1</a:t>
                      </a:r>
                    </a:p>
                  </a:txBody>
                  <a:tcPr/>
                </a:tc>
                <a:tc>
                  <a:txBody>
                    <a:bodyPr/>
                    <a:lstStyle/>
                    <a:p>
                      <a:pPr lvl="0" indent="0" marL="0">
                        <a:buNone/>
                      </a:pPr>
                      <a:r>
                        <a:rPr/>
                        <a:t>PowerShell 7</a:t>
                      </a:r>
                    </a:p>
                  </a:txBody>
                  <a:tcPr/>
                </a:tc>
              </a:tr>
              <a:tr h="0">
                <a:tc>
                  <a:txBody>
                    <a:bodyPr/>
                    <a:lstStyle/>
                    <a:p>
                      <a:pPr lvl="0" indent="0" marL="0">
                        <a:buNone/>
                      </a:pPr>
                      <a:r>
                        <a:rPr/>
                        <a:t>Comes from</a:t>
                      </a:r>
                    </a:p>
                  </a:txBody>
                </a:tc>
                <a:tc>
                  <a:txBody>
                    <a:bodyPr/>
                    <a:lstStyle/>
                    <a:p>
                      <a:pPr lvl="0" indent="0" marL="0">
                        <a:buNone/>
                      </a:pPr>
                      <a:r>
                        <a:rPr/>
                        <a:t>Built into Windows</a:t>
                      </a:r>
                    </a:p>
                  </a:txBody>
                </a:tc>
                <a:tc>
                  <a:txBody>
                    <a:bodyPr/>
                    <a:lstStyle/>
                    <a:p>
                      <a:pPr lvl="0" indent="0" marL="0">
                        <a:buNone/>
                      </a:pPr>
                      <a:r>
                        <a:rPr/>
                        <a:t>Installed alongside it: </a:t>
                      </a:r>
                      <a:r>
                        <a:rPr>
                          <a:latin typeface="Consolas"/>
                        </a:rPr>
                        <a:t>winget install Microsoft.PowerShell</a:t>
                      </a:r>
                    </a:p>
                  </a:txBody>
                </a:tc>
              </a:tr>
              <a:tr h="0">
                <a:tc>
                  <a:txBody>
                    <a:bodyPr/>
                    <a:lstStyle/>
                    <a:p>
                      <a:pPr lvl="0" indent="0" marL="0">
                        <a:buNone/>
                      </a:pPr>
                      <a:r>
                        <a:rPr/>
                        <a:t>Starts with</a:t>
                      </a:r>
                    </a:p>
                  </a:txBody>
                </a:tc>
                <a:tc>
                  <a:txBody>
                    <a:bodyPr/>
                    <a:lstStyle/>
                    <a:p>
                      <a:pPr lvl="0" indent="0" marL="0">
                        <a:buNone/>
                      </a:pPr>
                      <a:r>
                        <a:rPr>
                          <a:latin typeface="Consolas"/>
                        </a:rPr>
                        <a:t>powershell.exe</a:t>
                      </a:r>
                    </a:p>
                  </a:txBody>
                </a:tc>
                <a:tc>
                  <a:txBody>
                    <a:bodyPr/>
                    <a:lstStyle/>
                    <a:p>
                      <a:pPr lvl="0" indent="0" marL="0">
                        <a:buNone/>
                      </a:pPr>
                      <a:r>
                        <a:rPr>
                          <a:latin typeface="Consolas"/>
                        </a:rPr>
                        <a:t>pwsh.exe</a:t>
                      </a:r>
                    </a:p>
                  </a:txBody>
                </a:tc>
              </a:tr>
              <a:tr h="0">
                <a:tc>
                  <a:txBody>
                    <a:bodyPr/>
                    <a:lstStyle/>
                    <a:p>
                      <a:pPr lvl="0" indent="0" marL="0">
                        <a:buNone/>
                      </a:pPr>
                      <a:r>
                        <a:rPr/>
                        <a:t>Built on</a:t>
                      </a:r>
                    </a:p>
                  </a:txBody>
                </a:tc>
                <a:tc>
                  <a:txBody>
                    <a:bodyPr/>
                    <a:lstStyle/>
                    <a:p>
                      <a:pPr lvl="0" indent="0" marL="0">
                        <a:buNone/>
                      </a:pPr>
                      <a:r>
                        <a:rPr/>
                        <a:t>.NET Framework</a:t>
                      </a:r>
                    </a:p>
                  </a:txBody>
                </a:tc>
                <a:tc>
                  <a:txBody>
                    <a:bodyPr/>
                    <a:lstStyle/>
                    <a:p>
                      <a:pPr lvl="0" indent="0" marL="0">
                        <a:buNone/>
                      </a:pPr>
                      <a:r>
                        <a:rPr/>
                        <a:t>Current .NET; also runs on Linux and macOS</a:t>
                      </a:r>
                    </a:p>
                  </a:txBody>
                </a:tc>
              </a:tr>
              <a:tr h="0">
                <a:tc>
                  <a:txBody>
                    <a:bodyPr/>
                    <a:lstStyle/>
                    <a:p>
                      <a:pPr lvl="0" indent="0" marL="0">
                        <a:buNone/>
                      </a:pPr>
                      <a:r>
                        <a:rPr/>
                        <a:t>Status</a:t>
                      </a:r>
                    </a:p>
                  </a:txBody>
                </a:tc>
                <a:tc>
                  <a:txBody>
                    <a:bodyPr/>
                    <a:lstStyle/>
                    <a:p>
                      <a:pPr lvl="0" indent="0" marL="0">
                        <a:buNone/>
                      </a:pPr>
                      <a:r>
                        <a:rPr/>
                        <a:t>Maintained, not developed further</a:t>
                      </a:r>
                    </a:p>
                  </a:txBody>
                </a:tc>
                <a:tc>
                  <a:txBody>
                    <a:bodyPr/>
                    <a:lstStyle/>
                    <a:p>
                      <a:pPr lvl="0" indent="0" marL="0">
                        <a:buNone/>
                      </a:pPr>
                      <a:r>
                        <a:rPr/>
                        <a:t>Where new features go</a:t>
                      </a:r>
                    </a:p>
                  </a:txBody>
                </a:tc>
              </a:tr>
              <a:tr h="0">
                <a:tc>
                  <a:txBody>
                    <a:bodyPr/>
                    <a:lstStyle/>
                    <a:p>
                      <a:pPr lvl="0" indent="0" marL="0">
                        <a:buNone/>
                      </a:pPr>
                      <a:r>
                        <a:rPr/>
                        <a:t>Which am I in?</a:t>
                      </a:r>
                    </a:p>
                  </a:txBody>
                </a:tc>
                <a:tc>
                  <a:txBody>
                    <a:bodyPr/>
                    <a:lstStyle/>
                    <a:p>
                      <a:pPr lvl="0" indent="0" marL="0">
                        <a:buNone/>
                      </a:pPr>
                      <a:r>
                        <a:rPr>
                          <a:latin typeface="Consolas"/>
                        </a:rPr>
                        <a:t>$PSVersionTable.PSVersion</a:t>
                      </a:r>
                    </a:p>
                  </a:txBody>
                </a:tc>
                <a:tc>
                  <a:txBody>
                    <a:bodyPr/>
                    <a:lstStyle/>
                    <a:p>
                      <a:pPr lvl="0" indent="0" marL="0">
                        <a:buNone/>
                      </a:pPr>
                      <a:r>
                        <a:rPr>
                          <a:latin typeface="Consolas"/>
                        </a:rPr>
                        <a:t>$PSVersionTable.PSVersion</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Default security settings</a:t>
            </a:r>
          </a:p>
        </p:txBody>
      </p:sp>
      <p:sp>
        <p:nvSpPr>
          <p:cNvPr id="3" name="Content Placeholder 3"/>
          <p:cNvSpPr>
            <a:spLocks noGrp="1"/>
          </p:cNvSpPr>
          <p:nvPr>
            <p:ph idx="1"/>
          </p:nvPr>
        </p:nvSpPr>
        <p:spPr/>
        <p:txBody>
          <a:bodyPr/>
          <a:lstStyle/>
          <a:p>
            <a:pPr lvl="0"/>
            <a:r>
              <a:rPr/>
              <a:t>Double-clicking a </a:t>
            </a:r>
            <a:r>
              <a:rPr>
                <a:latin typeface="Consolas"/>
              </a:rPr>
              <a:t>.ps1</a:t>
            </a:r>
            <a:r>
              <a:rPr/>
              <a:t> opens it in Notepad; it does not run</a:t>
            </a:r>
          </a:p>
          <a:p>
            <a:pPr lvl="0"/>
            <a:r>
              <a:rPr/>
              <a:t>A script runs only by path: </a:t>
            </a:r>
            <a:r>
              <a:rPr>
                <a:latin typeface="Consolas"/>
              </a:rPr>
              <a:t>.\Get-Report.ps1</a:t>
            </a:r>
            <a:r>
              <a:rPr/>
              <a:t>, not </a:t>
            </a:r>
            <a:r>
              <a:rPr>
                <a:latin typeface="Consolas"/>
              </a:rPr>
              <a:t>Get-Report.ps1</a:t>
            </a:r>
          </a:p>
          <a:p>
            <a:pPr lvl="0"/>
            <a:r>
              <a:rPr/>
              <a:t>Execution policy</a:t>
            </a:r>
          </a:p>
          <a:p>
            <a:pPr lvl="1"/>
            <a:r>
              <a:rPr/>
              <a:t>Windows PowerShell 5.1: </a:t>
            </a:r>
            <a:r>
              <a:rPr>
                <a:latin typeface="Consolas"/>
              </a:rPr>
              <a:t>Restricted</a:t>
            </a:r>
            <a:r>
              <a:rPr/>
              <a:t> on Windows clients, </a:t>
            </a:r>
            <a:r>
              <a:rPr>
                <a:latin typeface="Consolas"/>
              </a:rPr>
              <a:t>RemoteSigned</a:t>
            </a:r>
            <a:r>
              <a:rPr/>
              <a:t> on Windows Server</a:t>
            </a:r>
          </a:p>
          <a:p>
            <a:pPr lvl="1"/>
            <a:r>
              <a:rPr/>
              <a:t>PowerShell 7 on Windows: </a:t>
            </a:r>
            <a:r>
              <a:rPr>
                <a:latin typeface="Consolas"/>
              </a:rPr>
              <a:t>RemoteSigned</a:t>
            </a:r>
          </a:p>
          <a:p>
            <a:pPr lvl="1"/>
            <a:r>
              <a:rPr>
                <a:latin typeface="Consolas"/>
              </a:rPr>
              <a:t>RemoteSigned</a:t>
            </a:r>
            <a:r>
              <a:rPr/>
              <a:t>: scripts downloaded from the internet must be signed, or unblocked with </a:t>
            </a:r>
            <a:r>
              <a:rPr>
                <a:latin typeface="Consolas"/>
              </a:rPr>
              <a:t>Unblock-File</a:t>
            </a:r>
          </a:p>
          <a:p>
            <a:pPr lvl="0"/>
            <a:r>
              <a:rPr/>
              <a:t>Not a security boundary: the commands can always be pasted in</a:t>
            </a:r>
          </a:p>
          <a:p>
            <a:pPr lvl="0" indent="0">
              <a:buNone/>
            </a:pPr>
            <a:r>
              <a:rPr>
                <a:solidFill>
                  <a:srgbClr val="034BAB"/>
                </a:solidFill>
                <a:latin typeface="Consolas"/>
              </a:rPr>
              <a:t>Get-ExecutionPolicy</a:t>
            </a:r>
            <a:r>
              <a:rPr>
                <a:solidFill>
                  <a:srgbClr val="1A1D23"/>
                </a:solidFill>
                <a:latin typeface="Consolas"/>
              </a:rPr>
              <a:t> </a:t>
            </a:r>
            <a:r>
              <a:rPr>
                <a:solidFill>
                  <a:srgbClr val="5A6472"/>
                </a:solidFill>
                <a:latin typeface="Consolas"/>
              </a:rPr>
              <a:t>-</a:t>
            </a:r>
            <a:r>
              <a:rPr>
                <a:solidFill>
                  <a:srgbClr val="1A1D23"/>
                </a:solidFill>
                <a:latin typeface="Consolas"/>
              </a:rPr>
              <a:t>List</a:t>
            </a:r>
            <a:br/>
            <a:r>
              <a:rPr>
                <a:solidFill>
                  <a:srgbClr val="034BAB"/>
                </a:solidFill>
                <a:latin typeface="Consolas"/>
              </a:rPr>
              <a:t>Set-ExecutionPolicy</a:t>
            </a:r>
            <a:r>
              <a:rPr>
                <a:solidFill>
                  <a:srgbClr val="1A1D23"/>
                </a:solidFill>
                <a:latin typeface="Consolas"/>
              </a:rPr>
              <a:t> </a:t>
            </a:r>
            <a:r>
              <a:rPr>
                <a:solidFill>
                  <a:srgbClr val="5A6472"/>
                </a:solidFill>
                <a:latin typeface="Consolas"/>
              </a:rPr>
              <a:t>-</a:t>
            </a:r>
            <a:r>
              <a:rPr>
                <a:solidFill>
                  <a:srgbClr val="1A1D23"/>
                </a:solidFill>
                <a:latin typeface="Consolas"/>
              </a:rPr>
              <a:t>ExecutionPolicy RemoteSigned </a:t>
            </a:r>
            <a:r>
              <a:rPr>
                <a:solidFill>
                  <a:srgbClr val="5A6472"/>
                </a:solidFill>
                <a:latin typeface="Consolas"/>
              </a:rPr>
              <a:t>-</a:t>
            </a:r>
            <a:r>
              <a:rPr>
                <a:solidFill>
                  <a:srgbClr val="1A1D23"/>
                </a:solidFill>
                <a:latin typeface="Consolas"/>
              </a:rPr>
              <a:t>Scope CurrentUser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r>
              <a:rPr>
                <a:solidFill>
                  <a:srgbClr val="5A6472"/>
                </a:solidFill>
                <a:latin typeface="Consolas"/>
              </a:rPr>
              <a:t>)</a:t>
            </a:r>
            <a:br/>
            <a:r>
              <a:rPr>
                <a:solidFill>
                  <a:srgbClr val="1A1D23"/>
                </a:solidFill>
                <a:latin typeface="Consolas"/>
              </a:rPr>
              <a:t>    </a:t>
            </a:r>
            <a:r>
              <a:rPr>
                <a:solidFill>
                  <a:srgbClr val="B3352F"/>
                </a:solidFill>
                <a:latin typeface="Consolas"/>
              </a:rPr>
              <a:t>'Collected'</a:t>
            </a:r>
            <a:r>
              <a:rPr>
                <a:solidFill>
                  <a:srgbClr val="5A6472"/>
                </a:solidFill>
                <a:latin typeface="Consolas"/>
              </a:rPr>
              <a:t>,</a:t>
            </a:r>
            <a:r>
              <a:rPr>
                <a:solidFill>
                  <a:srgbClr val="1A1D23"/>
                </a:solidFill>
                <a:latin typeface="Consolas"/>
              </a:rPr>
              <a:t> </a:t>
            </a:r>
            <a:r>
              <a:rPr>
                <a:solidFill>
                  <a:srgbClr val="B3352F"/>
                </a:solidFill>
                <a:latin typeface="Consolas"/>
              </a:rPr>
              <a:t>'Output'</a:t>
            </a:r>
            <a:r>
              <a:rPr>
                <a:solidFill>
                  <a:srgbClr val="5A6472"/>
                </a:solidFill>
                <a:latin typeface="Consolas"/>
              </a:rPr>
              <a:t>,</a:t>
            </a:r>
            <a:r>
              <a:rPr>
                <a:solidFill>
                  <a:srgbClr val="1A1D23"/>
                </a:solidFill>
                <a:latin typeface="Consolas"/>
              </a:rPr>
              <a:t> </a:t>
            </a:r>
            <a:r>
              <a:rPr>
                <a:solidFill>
                  <a:srgbClr val="B3352F"/>
                </a:solidFill>
                <a:latin typeface="Consolas"/>
              </a:rPr>
              <a:t>'Notes'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ForEach-Object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Write-Verbose</a:t>
            </a:r>
            <a:r>
              <a:rPr>
                <a:solidFill>
                  <a:srgbClr val="1A1D23"/>
                </a:solidFill>
                <a:latin typeface="Consolas"/>
              </a:rPr>
              <a:t> </a:t>
            </a:r>
            <a:r>
              <a:rPr>
                <a:solidFill>
                  <a:srgbClr val="B3352F"/>
                </a:solidFill>
                <a:latin typeface="Consolas"/>
              </a:rPr>
              <a:t>"Creating </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B3352F"/>
                </a:solidFill>
                <a:latin typeface="Consolas"/>
              </a:rPr>
              <a:t>"</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Put it in your personal Modules folder and PowerShell loads it for you</a:t>
            </a:r>
          </a:p>
          <a:p>
            <a:pPr lvl="0"/>
            <a:r>
              <a:rPr>
                <a:latin typeface="Consolas"/>
              </a:rPr>
              <a:t>$env:PSModulePath</a:t>
            </a:r>
            <a:r>
              <a:rPr/>
              <a:t> lists every folder PowerShell searches</a:t>
            </a:r>
          </a:p>
          <a:p>
            <a:pPr lvl="0" indent="0">
              <a:buNone/>
            </a:pPr>
            <a:r>
              <a:rPr>
                <a:latin typeface="Consolas"/>
              </a:rPr>
              <a:t>PowerShell 7
    Documents\PowerShell\Modules\MyTools\MyTools.psm1
Windows PowerShell 5.1
    Documents\WindowsPowerShell\Modules\MyTools\MyTools.psm1
Get-Command -Module MyTools        # in a new window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A disposable VM that returns to a known state after every case</a:t>
            </a:r>
          </a:p>
          <a:p>
            <a:pPr lvl="0"/>
            <a:r>
              <a:rPr/>
              <a:t>Evidence comes in read-only; output, logs and notes go back to the host</a:t>
            </a:r>
          </a:p>
          <a:p>
            <a:pPr lvl="0"/>
            <a:r>
              <a:rPr/>
              <a:t>Windows Server 2025 and the common DFIR tools, built from an unattend file</a:t>
            </a:r>
          </a:p>
          <a:p>
            <a:pPr lvl="0"/>
            <a:r>
              <a:rPr/>
              <a:t>Offline while working a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Windows security settings as decisions specific to this machine, not general recommendations</a:t>
            </a:r>
          </a:p>
          <a:p>
            <a:pPr lvl="1"/>
            <a:r>
              <a:rPr/>
              <a:t>Normally I don’t disable security features, but this is a disposable VM and reducing friction matters</a:t>
            </a:r>
          </a:p>
          <a:p>
            <a:pPr lvl="0"/>
            <a:r>
              <a:rPr/>
              <a:t>The changes</a:t>
            </a:r>
          </a:p>
          <a:p>
            <a:pPr lvl="1"/>
            <a:r>
              <a:rPr/>
              <a:t>UAC off, Defender removed</a:t>
            </a:r>
          </a:p>
          <a:p>
            <a:pPr lvl="1"/>
            <a:r>
              <a:rPr/>
              <a:t>Long paths on, last-access updates off</a:t>
            </a:r>
          </a:p>
          <a:p>
            <a:pPr lvl="1"/>
            <a:r>
              <a:rPr/>
              <a:t>File extensions and hidden files shown</a:t>
            </a:r>
          </a:p>
          <a:p>
            <a:pPr lvl="1"/>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Thank you</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2026-10-18T14:44:27Z</dcterms:created>
  <dcterms:modified xsi:type="dcterms:W3CDTF">2026-10-18T14:44:27Z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